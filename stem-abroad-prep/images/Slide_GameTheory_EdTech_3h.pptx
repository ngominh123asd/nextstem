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46"/>
  </p:notesMasterIdLst>
  <p:sldIdLst>
    <p:sldId id="256" r:id="rId3"/>
    <p:sldId id="257" r:id="rId4"/>
    <p:sldId id="258" r:id="rId5"/>
    <p:sldId id="279" r:id="rId6"/>
    <p:sldId id="278" r:id="rId7"/>
    <p:sldId id="308" r:id="rId8"/>
    <p:sldId id="309" r:id="rId9"/>
    <p:sldId id="310" r:id="rId10"/>
    <p:sldId id="311" r:id="rId11"/>
    <p:sldId id="259" r:id="rId12"/>
    <p:sldId id="260" r:id="rId13"/>
    <p:sldId id="261" r:id="rId14"/>
    <p:sldId id="262" r:id="rId15"/>
    <p:sldId id="312" r:id="rId16"/>
    <p:sldId id="313" r:id="rId17"/>
    <p:sldId id="314" r:id="rId18"/>
    <p:sldId id="315" r:id="rId19"/>
    <p:sldId id="316" r:id="rId20"/>
    <p:sldId id="317" r:id="rId21"/>
    <p:sldId id="318" r:id="rId22"/>
    <p:sldId id="319"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320" r:id="rId38"/>
    <p:sldId id="321" r:id="rId39"/>
    <p:sldId id="322" r:id="rId40"/>
    <p:sldId id="323" r:id="rId41"/>
    <p:sldId id="324" r:id="rId42"/>
    <p:sldId id="325" r:id="rId43"/>
    <p:sldId id="277" r:id="rId44"/>
    <p:sldId id="326"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4" autoAdjust="0"/>
    <p:restoredTop sz="95244" autoAdjust="0"/>
  </p:normalViewPr>
  <p:slideViewPr>
    <p:cSldViewPr snapToGrid="0" snapToObjects="1">
      <p:cViewPr>
        <p:scale>
          <a:sx n="75" d="100"/>
          <a:sy n="75" d="100"/>
        </p:scale>
        <p:origin x="869" y="13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9392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https://commons.wikimedia.org/wiki/File:OLPC_classroom_teaching.JPG (ảnh bìa)
- https://commons.wikimedia.org/wiki/File:Video-Game-Controller-Icon-IDV-green-history.svg (icon)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https://plato.stanford.edu/entries/game-theory/ (định nghĩa tương tác chiến lược)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https://plato.stanford.edu/entries/game-theory/ (khung mô hình N, S, u)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https://ocw.mit.edu/courses/17-810-game-theory-spring-2021/mit17_810s21_lec3.pdf (best response &amp; payoff kỳ vọng)
[/Sources]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https://www.britannica.com/science/Nash-equilibrium (định nghĩa NE)
- https://plato.stanford.edu/entries/game-theory/ (NE và tính ổn định)
[/Sources]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https://ocw.mit.edu/courses/17-810-game-theory-spring-2021/mit17_810s21_lec3.pdf (mixed strategy Nash equilibrium)
- https://ocw.mit.edu/courses/14-12-economic-applications-of-game-theory-fall-2012/067ddd074ea7f4de2e4dd6fd188b168f_MIT14_12F12_chapter6.pdf (MSNE trong ghi chú)
[/Sources]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https://ocw.mit.edu/courses/17-810-game-theory-spring-2021/mit17_810s21_lec3.pdf (cách dùng indifference để tìm MSNE)
[/Sources]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https://ocw.mit.edu/courses/14-12-economic-applications-of-game-theory-fall-2012/4b4412575dc74593c9d9c59e94427b69_MIT14_12F12_chapter9.pdf (backward induction)
- https://ocw.mit.edu/courses/17-810-game-theory-spring-2021/mit17_810s21_lec4.pdf (SPE &amp; extensive form)
[/Sources]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https://ocw.mit.edu/courses/14-12-economic-applications-of-game-theory-fall-2012/4b4412575dc74593c9d9c59e94427b69_MIT14_12F12_chapter9.pdf (backward induction)
[/Sources]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https://ocw.mit.edu/courses/15-067-competitive-decision-making-and-negotiation-spring-2011/4a412d2da3151f20132fefa28d22292f_MIT15_067S11_assgn03dilem.pdf (tit-for-tat)
- https://ocw.mit.edu/courses/14-12-economic-applications-of-game-theory-fall-2012/54f153ef7ed7800f367ce2b4021a18db_MIT14_12F12_chapter12.pdf (repeated games)
[/Sources]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https://plato.stanford.edu/entries/game-theory/
- https://ocw.mit.edu/courses/17-810-game-theory-spring-2021/
- https://ocw.mit.edu/courses/14-12-economic-applications-of-game-theory-fall-2012/
[/Sources]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765AA892-3368-08B6-9D08-C23EF59FD2A3}"/>
              </a:ext>
            </a:extLst>
          </p:cNvPr>
          <p:cNvGrpSpPr>
            <a:grpSpLocks/>
          </p:cNvGrpSpPr>
          <p:nvPr/>
        </p:nvGrpSpPr>
        <p:grpSpPr bwMode="auto">
          <a:xfrm>
            <a:off x="2211917" y="1600200"/>
            <a:ext cx="9116483" cy="3200400"/>
            <a:chOff x="1045" y="1008"/>
            <a:chExt cx="4307" cy="2016"/>
          </a:xfrm>
        </p:grpSpPr>
        <p:sp>
          <p:nvSpPr>
            <p:cNvPr id="3" name="Oval 3">
              <a:extLst>
                <a:ext uri="{FF2B5EF4-FFF2-40B4-BE49-F238E27FC236}">
                  <a16:creationId xmlns:a16="http://schemas.microsoft.com/office/drawing/2014/main" id="{CBAD7151-27BD-6038-1A88-644270EF812A}"/>
                </a:ext>
              </a:extLst>
            </p:cNvPr>
            <p:cNvSpPr>
              <a:spLocks noChangeArrowheads="1"/>
            </p:cNvSpPr>
            <p:nvPr/>
          </p:nvSpPr>
          <p:spPr bwMode="hidden">
            <a:xfrm flipH="1">
              <a:off x="4392" y="1008"/>
              <a:ext cx="960" cy="960"/>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vi-VN" altLang="vi-VN" sz="2400">
                <a:latin typeface="Times New Roman" panose="02020603050405020304" pitchFamily="18" charset="0"/>
              </a:endParaRPr>
            </a:p>
          </p:txBody>
        </p:sp>
        <p:sp>
          <p:nvSpPr>
            <p:cNvPr id="4" name="Oval 4">
              <a:extLst>
                <a:ext uri="{FF2B5EF4-FFF2-40B4-BE49-F238E27FC236}">
                  <a16:creationId xmlns:a16="http://schemas.microsoft.com/office/drawing/2014/main" id="{D51DC2E4-DB5A-1610-CB0F-39DAC8856656}"/>
                </a:ext>
              </a:extLst>
            </p:cNvPr>
            <p:cNvSpPr>
              <a:spLocks noChangeArrowheads="1"/>
            </p:cNvSpPr>
            <p:nvPr/>
          </p:nvSpPr>
          <p:spPr bwMode="hidden">
            <a:xfrm flipH="1">
              <a:off x="3264" y="1008"/>
              <a:ext cx="960" cy="960"/>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vi-VN" altLang="vi-VN" sz="2400">
                <a:latin typeface="Times New Roman" panose="02020603050405020304" pitchFamily="18" charset="0"/>
              </a:endParaRPr>
            </a:p>
          </p:txBody>
        </p:sp>
        <p:sp>
          <p:nvSpPr>
            <p:cNvPr id="5" name="Oval 5">
              <a:extLst>
                <a:ext uri="{FF2B5EF4-FFF2-40B4-BE49-F238E27FC236}">
                  <a16:creationId xmlns:a16="http://schemas.microsoft.com/office/drawing/2014/main" id="{05A97F98-EC76-4EBC-8208-4FE5E77F3457}"/>
                </a:ext>
              </a:extLst>
            </p:cNvPr>
            <p:cNvSpPr>
              <a:spLocks noChangeArrowheads="1"/>
            </p:cNvSpPr>
            <p:nvPr/>
          </p:nvSpPr>
          <p:spPr bwMode="hidden">
            <a:xfrm flipH="1">
              <a:off x="2136" y="1008"/>
              <a:ext cx="960" cy="960"/>
            </a:xfrm>
            <a:prstGeom prst="ellipse">
              <a:avLst/>
            </a:prstGeom>
            <a:noFill/>
            <a:ln w="28575">
              <a:solidFill>
                <a:schemeClr val="accent2"/>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vi-VN" altLang="vi-VN" sz="2400">
                <a:latin typeface="Times New Roman" panose="02020603050405020304" pitchFamily="18" charset="0"/>
              </a:endParaRPr>
            </a:p>
          </p:txBody>
        </p:sp>
        <p:sp>
          <p:nvSpPr>
            <p:cNvPr id="6" name="Oval 6">
              <a:extLst>
                <a:ext uri="{FF2B5EF4-FFF2-40B4-BE49-F238E27FC236}">
                  <a16:creationId xmlns:a16="http://schemas.microsoft.com/office/drawing/2014/main" id="{35461981-FF91-0A09-D1DC-F726404BA92A}"/>
                </a:ext>
              </a:extLst>
            </p:cNvPr>
            <p:cNvSpPr>
              <a:spLocks noChangeArrowheads="1"/>
            </p:cNvSpPr>
            <p:nvPr/>
          </p:nvSpPr>
          <p:spPr bwMode="hidden">
            <a:xfrm flipH="1">
              <a:off x="2136" y="2064"/>
              <a:ext cx="960" cy="960"/>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vi-VN" altLang="vi-VN" sz="2400">
                <a:latin typeface="Times New Roman" panose="02020603050405020304" pitchFamily="18" charset="0"/>
              </a:endParaRPr>
            </a:p>
          </p:txBody>
        </p:sp>
        <p:sp>
          <p:nvSpPr>
            <p:cNvPr id="7" name="Oval 7">
              <a:extLst>
                <a:ext uri="{FF2B5EF4-FFF2-40B4-BE49-F238E27FC236}">
                  <a16:creationId xmlns:a16="http://schemas.microsoft.com/office/drawing/2014/main" id="{5FFD6C31-A5FD-03F7-B91A-759A827FF01C}"/>
                </a:ext>
              </a:extLst>
            </p:cNvPr>
            <p:cNvSpPr>
              <a:spLocks noChangeArrowheads="1"/>
            </p:cNvSpPr>
            <p:nvPr/>
          </p:nvSpPr>
          <p:spPr bwMode="hidden">
            <a:xfrm flipH="1">
              <a:off x="1045" y="2064"/>
              <a:ext cx="960" cy="960"/>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vi-VN" altLang="vi-VN" sz="2400">
                <a:latin typeface="Times New Roman" panose="02020603050405020304" pitchFamily="18" charset="0"/>
              </a:endParaRPr>
            </a:p>
          </p:txBody>
        </p:sp>
        <p:sp>
          <p:nvSpPr>
            <p:cNvPr id="8" name="Oval 8">
              <a:extLst>
                <a:ext uri="{FF2B5EF4-FFF2-40B4-BE49-F238E27FC236}">
                  <a16:creationId xmlns:a16="http://schemas.microsoft.com/office/drawing/2014/main" id="{FC20A72F-3792-DF85-C9A3-0434F8BFC94E}"/>
                </a:ext>
              </a:extLst>
            </p:cNvPr>
            <p:cNvSpPr>
              <a:spLocks noChangeArrowheads="1"/>
            </p:cNvSpPr>
            <p:nvPr/>
          </p:nvSpPr>
          <p:spPr bwMode="hidden">
            <a:xfrm flipH="1">
              <a:off x="4392" y="2064"/>
              <a:ext cx="960" cy="960"/>
            </a:xfrm>
            <a:prstGeom prst="ellipse">
              <a:avLst/>
            </a:prstGeom>
            <a:noFill/>
            <a:ln w="28575">
              <a:solidFill>
                <a:schemeClr val="accent2"/>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vi-VN" altLang="vi-VN" sz="2400">
                <a:latin typeface="Times New Roman" panose="02020603050405020304" pitchFamily="18" charset="0"/>
              </a:endParaRPr>
            </a:p>
          </p:txBody>
        </p:sp>
      </p:grpSp>
      <p:sp>
        <p:nvSpPr>
          <p:cNvPr id="41996" name="Rectangle 12"/>
          <p:cNvSpPr>
            <a:spLocks noGrp="1" noChangeArrowheads="1"/>
          </p:cNvSpPr>
          <p:nvPr>
            <p:ph type="ctrTitle"/>
          </p:nvPr>
        </p:nvSpPr>
        <p:spPr>
          <a:xfrm>
            <a:off x="914400" y="1219201"/>
            <a:ext cx="10363200" cy="1933575"/>
          </a:xfrm>
        </p:spPr>
        <p:txBody>
          <a:bodyPr anchor="b"/>
          <a:lstStyle>
            <a:lvl1pPr algn="r">
              <a:defRPr sz="4400"/>
            </a:lvl1pPr>
          </a:lstStyle>
          <a:p>
            <a:r>
              <a:rPr lang="en-US"/>
              <a:t>Click to edit Master title style</a:t>
            </a:r>
          </a:p>
        </p:txBody>
      </p:sp>
      <p:sp>
        <p:nvSpPr>
          <p:cNvPr id="41997" name="Rectangle 13"/>
          <p:cNvSpPr>
            <a:spLocks noGrp="1" noChangeArrowheads="1"/>
          </p:cNvSpPr>
          <p:nvPr>
            <p:ph type="subTitle" idx="1"/>
          </p:nvPr>
        </p:nvSpPr>
        <p:spPr>
          <a:xfrm>
            <a:off x="2743200" y="3505200"/>
            <a:ext cx="8534400" cy="1752600"/>
          </a:xfrm>
        </p:spPr>
        <p:txBody>
          <a:bodyPr/>
          <a:lstStyle>
            <a:lvl1pPr marL="0" indent="0" algn="r">
              <a:buFont typeface="Wingdings" pitchFamily="2" charset="2"/>
              <a:buNone/>
              <a:defRPr/>
            </a:lvl1pPr>
          </a:lstStyle>
          <a:p>
            <a:r>
              <a:rPr lang="en-US"/>
              <a:t>Click to edit Master subtitle style</a:t>
            </a:r>
          </a:p>
        </p:txBody>
      </p:sp>
      <p:sp>
        <p:nvSpPr>
          <p:cNvPr id="9" name="Rectangle 9">
            <a:extLst>
              <a:ext uri="{FF2B5EF4-FFF2-40B4-BE49-F238E27FC236}">
                <a16:creationId xmlns:a16="http://schemas.microsoft.com/office/drawing/2014/main" id="{8B207B6E-552D-42D6-DF65-468E9CD19B70}"/>
              </a:ext>
            </a:extLst>
          </p:cNvPr>
          <p:cNvSpPr>
            <a:spLocks noGrp="1" noChangeArrowheads="1"/>
          </p:cNvSpPr>
          <p:nvPr>
            <p:ph type="dt" sz="half" idx="10"/>
          </p:nvPr>
        </p:nvSpPr>
        <p:spPr/>
        <p:txBody>
          <a:bodyPr/>
          <a:lstStyle>
            <a:lvl1pPr>
              <a:defRPr/>
            </a:lvl1pPr>
          </a:lstStyle>
          <a:p>
            <a:pPr>
              <a:defRPr/>
            </a:pPr>
            <a:endParaRPr lang="en-US"/>
          </a:p>
        </p:txBody>
      </p:sp>
      <p:sp>
        <p:nvSpPr>
          <p:cNvPr id="10" name="Rectangle 10">
            <a:extLst>
              <a:ext uri="{FF2B5EF4-FFF2-40B4-BE49-F238E27FC236}">
                <a16:creationId xmlns:a16="http://schemas.microsoft.com/office/drawing/2014/main" id="{BFB76210-8A17-2BF4-DAE8-1DB683B1155A}"/>
              </a:ext>
            </a:extLst>
          </p:cNvPr>
          <p:cNvSpPr>
            <a:spLocks noGrp="1" noChangeArrowheads="1"/>
          </p:cNvSpPr>
          <p:nvPr>
            <p:ph type="ftr" sz="quarter" idx="11"/>
          </p:nvPr>
        </p:nvSpPr>
        <p:spPr/>
        <p:txBody>
          <a:bodyPr/>
          <a:lstStyle>
            <a:lvl1pPr>
              <a:defRPr/>
            </a:lvl1pPr>
          </a:lstStyle>
          <a:p>
            <a:pPr>
              <a:defRPr/>
            </a:pPr>
            <a:endParaRPr lang="en-US"/>
          </a:p>
        </p:txBody>
      </p:sp>
      <p:sp>
        <p:nvSpPr>
          <p:cNvPr id="11" name="Rectangle 11">
            <a:extLst>
              <a:ext uri="{FF2B5EF4-FFF2-40B4-BE49-F238E27FC236}">
                <a16:creationId xmlns:a16="http://schemas.microsoft.com/office/drawing/2014/main" id="{20F0410C-3397-E51D-A41A-7CDAFD0FC32E}"/>
              </a:ext>
            </a:extLst>
          </p:cNvPr>
          <p:cNvSpPr>
            <a:spLocks noGrp="1" noChangeArrowheads="1"/>
          </p:cNvSpPr>
          <p:nvPr>
            <p:ph type="sldNum" sz="quarter" idx="12"/>
          </p:nvPr>
        </p:nvSpPr>
        <p:spPr/>
        <p:txBody>
          <a:bodyPr/>
          <a:lstStyle>
            <a:lvl1pPr>
              <a:defRPr/>
            </a:lvl1pPr>
          </a:lstStyle>
          <a:p>
            <a:pPr>
              <a:defRPr/>
            </a:pPr>
            <a:fld id="{2EC00575-9741-40DF-90E3-34B94DDDF101}" type="slidenum">
              <a:rPr lang="en-US" altLang="vi-VN"/>
              <a:pPr>
                <a:defRPr/>
              </a:pPr>
              <a:t>‹#›</a:t>
            </a:fld>
            <a:endParaRPr lang="en-US" altLang="vi-VN"/>
          </a:p>
        </p:txBody>
      </p:sp>
    </p:spTree>
    <p:extLst>
      <p:ext uri="{BB962C8B-B14F-4D97-AF65-F5344CB8AC3E}">
        <p14:creationId xmlns:p14="http://schemas.microsoft.com/office/powerpoint/2010/main" val="1496338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3900FBFE-0F73-3C4F-2D77-3AFC8F4C7E1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
            <a:extLst>
              <a:ext uri="{FF2B5EF4-FFF2-40B4-BE49-F238E27FC236}">
                <a16:creationId xmlns:a16="http://schemas.microsoft.com/office/drawing/2014/main" id="{80846C3A-D178-025A-75AD-9909883CC27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1">
            <a:extLst>
              <a:ext uri="{FF2B5EF4-FFF2-40B4-BE49-F238E27FC236}">
                <a16:creationId xmlns:a16="http://schemas.microsoft.com/office/drawing/2014/main" id="{30D091B2-1EED-F28D-6A09-C41B54BAAE9F}"/>
              </a:ext>
            </a:extLst>
          </p:cNvPr>
          <p:cNvSpPr>
            <a:spLocks noGrp="1" noChangeArrowheads="1"/>
          </p:cNvSpPr>
          <p:nvPr>
            <p:ph type="sldNum" sz="quarter" idx="12"/>
          </p:nvPr>
        </p:nvSpPr>
        <p:spPr>
          <a:ln/>
        </p:spPr>
        <p:txBody>
          <a:bodyPr/>
          <a:lstStyle>
            <a:lvl1pPr>
              <a:defRPr/>
            </a:lvl1pPr>
          </a:lstStyle>
          <a:p>
            <a:pPr>
              <a:defRPr/>
            </a:pPr>
            <a:fld id="{6D973DA1-8816-4DBA-9AE8-9B2BEA26F241}" type="slidenum">
              <a:rPr lang="en-US" altLang="vi-VN"/>
              <a:pPr>
                <a:defRPr/>
              </a:pPr>
              <a:t>‹#›</a:t>
            </a:fld>
            <a:endParaRPr lang="en-US" altLang="vi-VN"/>
          </a:p>
        </p:txBody>
      </p:sp>
    </p:spTree>
    <p:extLst>
      <p:ext uri="{BB962C8B-B14F-4D97-AF65-F5344CB8AC3E}">
        <p14:creationId xmlns:p14="http://schemas.microsoft.com/office/powerpoint/2010/main" val="1285751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9">
            <a:extLst>
              <a:ext uri="{FF2B5EF4-FFF2-40B4-BE49-F238E27FC236}">
                <a16:creationId xmlns:a16="http://schemas.microsoft.com/office/drawing/2014/main" id="{93C8E6CD-E0F6-61BD-A8B3-0F7DEB448B0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
            <a:extLst>
              <a:ext uri="{FF2B5EF4-FFF2-40B4-BE49-F238E27FC236}">
                <a16:creationId xmlns:a16="http://schemas.microsoft.com/office/drawing/2014/main" id="{93210EC6-EAA3-0BD4-E15B-27ED45691F2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1">
            <a:extLst>
              <a:ext uri="{FF2B5EF4-FFF2-40B4-BE49-F238E27FC236}">
                <a16:creationId xmlns:a16="http://schemas.microsoft.com/office/drawing/2014/main" id="{8083168A-A732-CF56-E298-2D78E497D7B3}"/>
              </a:ext>
            </a:extLst>
          </p:cNvPr>
          <p:cNvSpPr>
            <a:spLocks noGrp="1" noChangeArrowheads="1"/>
          </p:cNvSpPr>
          <p:nvPr>
            <p:ph type="sldNum" sz="quarter" idx="12"/>
          </p:nvPr>
        </p:nvSpPr>
        <p:spPr>
          <a:ln/>
        </p:spPr>
        <p:txBody>
          <a:bodyPr/>
          <a:lstStyle>
            <a:lvl1pPr>
              <a:defRPr/>
            </a:lvl1pPr>
          </a:lstStyle>
          <a:p>
            <a:pPr>
              <a:defRPr/>
            </a:pPr>
            <a:fld id="{1C68771F-509A-4E96-9851-D1126C0F991C}" type="slidenum">
              <a:rPr lang="en-US" altLang="vi-VN"/>
              <a:pPr>
                <a:defRPr/>
              </a:pPr>
              <a:t>‹#›</a:t>
            </a:fld>
            <a:endParaRPr lang="en-US" altLang="vi-VN"/>
          </a:p>
        </p:txBody>
      </p:sp>
    </p:spTree>
    <p:extLst>
      <p:ext uri="{BB962C8B-B14F-4D97-AF65-F5344CB8AC3E}">
        <p14:creationId xmlns:p14="http://schemas.microsoft.com/office/powerpoint/2010/main" val="42928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B8288FD1-8B54-E396-9324-905CF7CEDE8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1D1476AE-2BFE-84FD-5079-E0AF9973ACF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1">
            <a:extLst>
              <a:ext uri="{FF2B5EF4-FFF2-40B4-BE49-F238E27FC236}">
                <a16:creationId xmlns:a16="http://schemas.microsoft.com/office/drawing/2014/main" id="{A2B0F493-9D70-97E0-A308-13DEE1F5B865}"/>
              </a:ext>
            </a:extLst>
          </p:cNvPr>
          <p:cNvSpPr>
            <a:spLocks noGrp="1" noChangeArrowheads="1"/>
          </p:cNvSpPr>
          <p:nvPr>
            <p:ph type="sldNum" sz="quarter" idx="12"/>
          </p:nvPr>
        </p:nvSpPr>
        <p:spPr>
          <a:ln/>
        </p:spPr>
        <p:txBody>
          <a:bodyPr/>
          <a:lstStyle>
            <a:lvl1pPr>
              <a:defRPr/>
            </a:lvl1pPr>
          </a:lstStyle>
          <a:p>
            <a:pPr>
              <a:defRPr/>
            </a:pPr>
            <a:fld id="{5AFE25BF-466F-4E3D-8E5D-A3F30B9367B7}" type="slidenum">
              <a:rPr lang="en-US" altLang="vi-VN"/>
              <a:pPr>
                <a:defRPr/>
              </a:pPr>
              <a:t>‹#›</a:t>
            </a:fld>
            <a:endParaRPr lang="en-US" altLang="vi-VN"/>
          </a:p>
        </p:txBody>
      </p:sp>
    </p:spTree>
    <p:extLst>
      <p:ext uri="{BB962C8B-B14F-4D97-AF65-F5344CB8AC3E}">
        <p14:creationId xmlns:p14="http://schemas.microsoft.com/office/powerpoint/2010/main" val="3830588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a16="http://schemas.microsoft.com/office/drawing/2014/main" id="{1D18A8DC-2187-180E-1DCF-295323B6C2A3}"/>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0">
            <a:extLst>
              <a:ext uri="{FF2B5EF4-FFF2-40B4-BE49-F238E27FC236}">
                <a16:creationId xmlns:a16="http://schemas.microsoft.com/office/drawing/2014/main" id="{3A54CA96-0F5A-08E9-84E8-257AE06945F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1">
            <a:extLst>
              <a:ext uri="{FF2B5EF4-FFF2-40B4-BE49-F238E27FC236}">
                <a16:creationId xmlns:a16="http://schemas.microsoft.com/office/drawing/2014/main" id="{BF347D92-AAD2-E495-7305-5ACA37CF4889}"/>
              </a:ext>
            </a:extLst>
          </p:cNvPr>
          <p:cNvSpPr>
            <a:spLocks noGrp="1" noChangeArrowheads="1"/>
          </p:cNvSpPr>
          <p:nvPr>
            <p:ph type="sldNum" sz="quarter" idx="12"/>
          </p:nvPr>
        </p:nvSpPr>
        <p:spPr>
          <a:ln/>
        </p:spPr>
        <p:txBody>
          <a:bodyPr/>
          <a:lstStyle>
            <a:lvl1pPr>
              <a:defRPr/>
            </a:lvl1pPr>
          </a:lstStyle>
          <a:p>
            <a:pPr>
              <a:defRPr/>
            </a:pPr>
            <a:fld id="{FD845511-1C09-4674-8F23-3A1E7B23F740}" type="slidenum">
              <a:rPr lang="en-US" altLang="vi-VN"/>
              <a:pPr>
                <a:defRPr/>
              </a:pPr>
              <a:t>‹#›</a:t>
            </a:fld>
            <a:endParaRPr lang="en-US" altLang="vi-VN"/>
          </a:p>
        </p:txBody>
      </p:sp>
    </p:spTree>
    <p:extLst>
      <p:ext uri="{BB962C8B-B14F-4D97-AF65-F5344CB8AC3E}">
        <p14:creationId xmlns:p14="http://schemas.microsoft.com/office/powerpoint/2010/main" val="2529565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a16="http://schemas.microsoft.com/office/drawing/2014/main" id="{9EDB8753-1D34-E00B-EA9D-0783A31B8F4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0">
            <a:extLst>
              <a:ext uri="{FF2B5EF4-FFF2-40B4-BE49-F238E27FC236}">
                <a16:creationId xmlns:a16="http://schemas.microsoft.com/office/drawing/2014/main" id="{8027DA7B-4DC4-C1C6-1552-C4791778CFC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1">
            <a:extLst>
              <a:ext uri="{FF2B5EF4-FFF2-40B4-BE49-F238E27FC236}">
                <a16:creationId xmlns:a16="http://schemas.microsoft.com/office/drawing/2014/main" id="{4375D7D9-534B-7F9D-1185-5DC6234D1461}"/>
              </a:ext>
            </a:extLst>
          </p:cNvPr>
          <p:cNvSpPr>
            <a:spLocks noGrp="1" noChangeArrowheads="1"/>
          </p:cNvSpPr>
          <p:nvPr>
            <p:ph type="sldNum" sz="quarter" idx="12"/>
          </p:nvPr>
        </p:nvSpPr>
        <p:spPr>
          <a:ln/>
        </p:spPr>
        <p:txBody>
          <a:bodyPr/>
          <a:lstStyle>
            <a:lvl1pPr>
              <a:defRPr/>
            </a:lvl1pPr>
          </a:lstStyle>
          <a:p>
            <a:pPr>
              <a:defRPr/>
            </a:pPr>
            <a:fld id="{E923F668-3F74-4C16-A82B-F13B7456E981}" type="slidenum">
              <a:rPr lang="en-US" altLang="vi-VN"/>
              <a:pPr>
                <a:defRPr/>
              </a:pPr>
              <a:t>‹#›</a:t>
            </a:fld>
            <a:endParaRPr lang="en-US" altLang="vi-VN"/>
          </a:p>
        </p:txBody>
      </p:sp>
    </p:spTree>
    <p:extLst>
      <p:ext uri="{BB962C8B-B14F-4D97-AF65-F5344CB8AC3E}">
        <p14:creationId xmlns:p14="http://schemas.microsoft.com/office/powerpoint/2010/main" val="1209133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2F30B024-8A4D-3DF2-46EA-DB1F39B331B4}"/>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0">
            <a:extLst>
              <a:ext uri="{FF2B5EF4-FFF2-40B4-BE49-F238E27FC236}">
                <a16:creationId xmlns:a16="http://schemas.microsoft.com/office/drawing/2014/main" id="{4508538B-798F-64EE-A8F2-866240AA874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1">
            <a:extLst>
              <a:ext uri="{FF2B5EF4-FFF2-40B4-BE49-F238E27FC236}">
                <a16:creationId xmlns:a16="http://schemas.microsoft.com/office/drawing/2014/main" id="{AEAB3E74-79C4-D8A2-72A4-C17D951DE26D}"/>
              </a:ext>
            </a:extLst>
          </p:cNvPr>
          <p:cNvSpPr>
            <a:spLocks noGrp="1" noChangeArrowheads="1"/>
          </p:cNvSpPr>
          <p:nvPr>
            <p:ph type="sldNum" sz="quarter" idx="12"/>
          </p:nvPr>
        </p:nvSpPr>
        <p:spPr>
          <a:ln/>
        </p:spPr>
        <p:txBody>
          <a:bodyPr/>
          <a:lstStyle>
            <a:lvl1pPr>
              <a:defRPr/>
            </a:lvl1pPr>
          </a:lstStyle>
          <a:p>
            <a:pPr>
              <a:defRPr/>
            </a:pPr>
            <a:fld id="{65240D7E-6F23-4FE3-BFA6-3E1FBBF1E56B}" type="slidenum">
              <a:rPr lang="en-US" altLang="vi-VN"/>
              <a:pPr>
                <a:defRPr/>
              </a:pPr>
              <a:t>‹#›</a:t>
            </a:fld>
            <a:endParaRPr lang="en-US" altLang="vi-VN"/>
          </a:p>
        </p:txBody>
      </p:sp>
    </p:spTree>
    <p:extLst>
      <p:ext uri="{BB962C8B-B14F-4D97-AF65-F5344CB8AC3E}">
        <p14:creationId xmlns:p14="http://schemas.microsoft.com/office/powerpoint/2010/main" val="3211001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a:extLst>
              <a:ext uri="{FF2B5EF4-FFF2-40B4-BE49-F238E27FC236}">
                <a16:creationId xmlns:a16="http://schemas.microsoft.com/office/drawing/2014/main" id="{D263BD9D-1D86-ABC9-FB02-C8C4D69E89B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BC779D70-92F5-3B55-A4A1-421A47513EB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1">
            <a:extLst>
              <a:ext uri="{FF2B5EF4-FFF2-40B4-BE49-F238E27FC236}">
                <a16:creationId xmlns:a16="http://schemas.microsoft.com/office/drawing/2014/main" id="{93568CEC-4EF1-E799-ECAD-E7A2D2CDB88C}"/>
              </a:ext>
            </a:extLst>
          </p:cNvPr>
          <p:cNvSpPr>
            <a:spLocks noGrp="1" noChangeArrowheads="1"/>
          </p:cNvSpPr>
          <p:nvPr>
            <p:ph type="sldNum" sz="quarter" idx="12"/>
          </p:nvPr>
        </p:nvSpPr>
        <p:spPr>
          <a:ln/>
        </p:spPr>
        <p:txBody>
          <a:bodyPr/>
          <a:lstStyle>
            <a:lvl1pPr>
              <a:defRPr/>
            </a:lvl1pPr>
          </a:lstStyle>
          <a:p>
            <a:pPr>
              <a:defRPr/>
            </a:pPr>
            <a:fld id="{8947F4C9-3344-4467-86A0-A1B0C9D9673C}" type="slidenum">
              <a:rPr lang="en-US" altLang="vi-VN"/>
              <a:pPr>
                <a:defRPr/>
              </a:pPr>
              <a:t>‹#›</a:t>
            </a:fld>
            <a:endParaRPr lang="en-US" altLang="vi-VN"/>
          </a:p>
        </p:txBody>
      </p:sp>
    </p:spTree>
    <p:extLst>
      <p:ext uri="{BB962C8B-B14F-4D97-AF65-F5344CB8AC3E}">
        <p14:creationId xmlns:p14="http://schemas.microsoft.com/office/powerpoint/2010/main" val="1284275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a:extLst>
              <a:ext uri="{FF2B5EF4-FFF2-40B4-BE49-F238E27FC236}">
                <a16:creationId xmlns:a16="http://schemas.microsoft.com/office/drawing/2014/main" id="{5848F74F-F524-C7DC-248E-FD91502B6A0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AE357CB1-2055-D07F-05A4-5D2FB6216B2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1">
            <a:extLst>
              <a:ext uri="{FF2B5EF4-FFF2-40B4-BE49-F238E27FC236}">
                <a16:creationId xmlns:a16="http://schemas.microsoft.com/office/drawing/2014/main" id="{823E30FA-7968-0C49-0D8C-9946563456F9}"/>
              </a:ext>
            </a:extLst>
          </p:cNvPr>
          <p:cNvSpPr>
            <a:spLocks noGrp="1" noChangeArrowheads="1"/>
          </p:cNvSpPr>
          <p:nvPr>
            <p:ph type="sldNum" sz="quarter" idx="12"/>
          </p:nvPr>
        </p:nvSpPr>
        <p:spPr>
          <a:ln/>
        </p:spPr>
        <p:txBody>
          <a:bodyPr/>
          <a:lstStyle>
            <a:lvl1pPr>
              <a:defRPr/>
            </a:lvl1pPr>
          </a:lstStyle>
          <a:p>
            <a:pPr>
              <a:defRPr/>
            </a:pPr>
            <a:fld id="{14F6273A-D4CF-4744-9CEF-8E0B96147185}" type="slidenum">
              <a:rPr lang="en-US" altLang="vi-VN"/>
              <a:pPr>
                <a:defRPr/>
              </a:pPr>
              <a:t>‹#›</a:t>
            </a:fld>
            <a:endParaRPr lang="en-US" altLang="vi-VN"/>
          </a:p>
        </p:txBody>
      </p:sp>
    </p:spTree>
    <p:extLst>
      <p:ext uri="{BB962C8B-B14F-4D97-AF65-F5344CB8AC3E}">
        <p14:creationId xmlns:p14="http://schemas.microsoft.com/office/powerpoint/2010/main" val="2882357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8C77036F-2A01-1EE3-9A7D-436CE897C7E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
            <a:extLst>
              <a:ext uri="{FF2B5EF4-FFF2-40B4-BE49-F238E27FC236}">
                <a16:creationId xmlns:a16="http://schemas.microsoft.com/office/drawing/2014/main" id="{3EE83826-CEEF-442C-9EA8-408768F95B5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1">
            <a:extLst>
              <a:ext uri="{FF2B5EF4-FFF2-40B4-BE49-F238E27FC236}">
                <a16:creationId xmlns:a16="http://schemas.microsoft.com/office/drawing/2014/main" id="{03424D8A-1C1B-C96A-BF27-1B6AA2601076}"/>
              </a:ext>
            </a:extLst>
          </p:cNvPr>
          <p:cNvSpPr>
            <a:spLocks noGrp="1" noChangeArrowheads="1"/>
          </p:cNvSpPr>
          <p:nvPr>
            <p:ph type="sldNum" sz="quarter" idx="12"/>
          </p:nvPr>
        </p:nvSpPr>
        <p:spPr>
          <a:ln/>
        </p:spPr>
        <p:txBody>
          <a:bodyPr/>
          <a:lstStyle>
            <a:lvl1pPr>
              <a:defRPr/>
            </a:lvl1pPr>
          </a:lstStyle>
          <a:p>
            <a:pPr>
              <a:defRPr/>
            </a:pPr>
            <a:fld id="{A47FA883-F424-4520-B563-E378CDB4BFF0}" type="slidenum">
              <a:rPr lang="en-US" altLang="vi-VN"/>
              <a:pPr>
                <a:defRPr/>
              </a:pPr>
              <a:t>‹#›</a:t>
            </a:fld>
            <a:endParaRPr lang="en-US" altLang="vi-VN"/>
          </a:p>
        </p:txBody>
      </p:sp>
    </p:spTree>
    <p:extLst>
      <p:ext uri="{BB962C8B-B14F-4D97-AF65-F5344CB8AC3E}">
        <p14:creationId xmlns:p14="http://schemas.microsoft.com/office/powerpoint/2010/main" val="938437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62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62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CBB2439E-215B-8D42-D52B-743417970B8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
            <a:extLst>
              <a:ext uri="{FF2B5EF4-FFF2-40B4-BE49-F238E27FC236}">
                <a16:creationId xmlns:a16="http://schemas.microsoft.com/office/drawing/2014/main" id="{62043E11-3748-5582-EEAE-5C2A27CE36E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1">
            <a:extLst>
              <a:ext uri="{FF2B5EF4-FFF2-40B4-BE49-F238E27FC236}">
                <a16:creationId xmlns:a16="http://schemas.microsoft.com/office/drawing/2014/main" id="{C7245AC1-BE03-C03A-CDA4-C0763C42CEDC}"/>
              </a:ext>
            </a:extLst>
          </p:cNvPr>
          <p:cNvSpPr>
            <a:spLocks noGrp="1" noChangeArrowheads="1"/>
          </p:cNvSpPr>
          <p:nvPr>
            <p:ph type="sldNum" sz="quarter" idx="12"/>
          </p:nvPr>
        </p:nvSpPr>
        <p:spPr>
          <a:ln/>
        </p:spPr>
        <p:txBody>
          <a:bodyPr/>
          <a:lstStyle>
            <a:lvl1pPr>
              <a:defRPr/>
            </a:lvl1pPr>
          </a:lstStyle>
          <a:p>
            <a:pPr>
              <a:defRPr/>
            </a:pPr>
            <a:fld id="{A1C671FE-CAF7-45AD-B437-8A9C545B4609}" type="slidenum">
              <a:rPr lang="en-US" altLang="vi-VN"/>
              <a:pPr>
                <a:defRPr/>
              </a:pPr>
              <a:t>‹#›</a:t>
            </a:fld>
            <a:endParaRPr lang="en-US" altLang="vi-VN"/>
          </a:p>
        </p:txBody>
      </p:sp>
    </p:spTree>
    <p:extLst>
      <p:ext uri="{BB962C8B-B14F-4D97-AF65-F5344CB8AC3E}">
        <p14:creationId xmlns:p14="http://schemas.microsoft.com/office/powerpoint/2010/main" val="150969358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EED51CEB-2358-1DD2-05FF-94C630742644}"/>
              </a:ext>
            </a:extLst>
          </p:cNvPr>
          <p:cNvGrpSpPr>
            <a:grpSpLocks/>
          </p:cNvGrpSpPr>
          <p:nvPr/>
        </p:nvGrpSpPr>
        <p:grpSpPr bwMode="auto">
          <a:xfrm>
            <a:off x="1428752" y="304800"/>
            <a:ext cx="10153649" cy="1106488"/>
            <a:chOff x="675" y="192"/>
            <a:chExt cx="4797" cy="697"/>
          </a:xfrm>
        </p:grpSpPr>
        <p:sp>
          <p:nvSpPr>
            <p:cNvPr id="1032" name="Oval 3">
              <a:extLst>
                <a:ext uri="{FF2B5EF4-FFF2-40B4-BE49-F238E27FC236}">
                  <a16:creationId xmlns:a16="http://schemas.microsoft.com/office/drawing/2014/main" id="{B1913909-B21F-3B2E-8F16-D9057C4EF601}"/>
                </a:ext>
              </a:extLst>
            </p:cNvPr>
            <p:cNvSpPr>
              <a:spLocks noChangeArrowheads="1"/>
            </p:cNvSpPr>
            <p:nvPr/>
          </p:nvSpPr>
          <p:spPr bwMode="hidden">
            <a:xfrm flipH="1">
              <a:off x="3067" y="192"/>
              <a:ext cx="696" cy="696"/>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vi-VN" altLang="vi-VN" sz="2400">
                <a:latin typeface="Times New Roman" panose="02020603050405020304" pitchFamily="18" charset="0"/>
              </a:endParaRPr>
            </a:p>
          </p:txBody>
        </p:sp>
        <p:sp>
          <p:nvSpPr>
            <p:cNvPr id="1033" name="Oval 4">
              <a:extLst>
                <a:ext uri="{FF2B5EF4-FFF2-40B4-BE49-F238E27FC236}">
                  <a16:creationId xmlns:a16="http://schemas.microsoft.com/office/drawing/2014/main" id="{1884ADE2-31E4-D089-3C79-7E4A415B5184}"/>
                </a:ext>
              </a:extLst>
            </p:cNvPr>
            <p:cNvSpPr>
              <a:spLocks noChangeArrowheads="1"/>
            </p:cNvSpPr>
            <p:nvPr/>
          </p:nvSpPr>
          <p:spPr bwMode="hidden">
            <a:xfrm flipH="1">
              <a:off x="4777" y="192"/>
              <a:ext cx="695" cy="696"/>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vi-VN" altLang="vi-VN" sz="2400">
                <a:latin typeface="Times New Roman" panose="02020603050405020304" pitchFamily="18" charset="0"/>
              </a:endParaRPr>
            </a:p>
          </p:txBody>
        </p:sp>
        <p:sp>
          <p:nvSpPr>
            <p:cNvPr id="1034" name="Oval 5">
              <a:extLst>
                <a:ext uri="{FF2B5EF4-FFF2-40B4-BE49-F238E27FC236}">
                  <a16:creationId xmlns:a16="http://schemas.microsoft.com/office/drawing/2014/main" id="{577AD36F-FE3C-4437-4FF2-B70A92D88E1E}"/>
                </a:ext>
              </a:extLst>
            </p:cNvPr>
            <p:cNvSpPr>
              <a:spLocks noChangeArrowheads="1"/>
            </p:cNvSpPr>
            <p:nvPr/>
          </p:nvSpPr>
          <p:spPr bwMode="hidden">
            <a:xfrm flipH="1">
              <a:off x="675" y="193"/>
              <a:ext cx="695" cy="696"/>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vi-VN" altLang="vi-VN" sz="2400">
                <a:latin typeface="Times New Roman" panose="02020603050405020304" pitchFamily="18" charset="0"/>
              </a:endParaRPr>
            </a:p>
          </p:txBody>
        </p:sp>
        <p:sp>
          <p:nvSpPr>
            <p:cNvPr id="1035" name="Oval 6">
              <a:extLst>
                <a:ext uri="{FF2B5EF4-FFF2-40B4-BE49-F238E27FC236}">
                  <a16:creationId xmlns:a16="http://schemas.microsoft.com/office/drawing/2014/main" id="{93FBEB90-0C7B-937E-C244-C6B5201376BD}"/>
                </a:ext>
              </a:extLst>
            </p:cNvPr>
            <p:cNvSpPr>
              <a:spLocks noChangeArrowheads="1"/>
            </p:cNvSpPr>
            <p:nvPr/>
          </p:nvSpPr>
          <p:spPr bwMode="hidden">
            <a:xfrm flipH="1">
              <a:off x="3984" y="192"/>
              <a:ext cx="695" cy="696"/>
            </a:xfrm>
            <a:prstGeom prst="ellipse">
              <a:avLst/>
            </a:prstGeom>
            <a:noFill/>
            <a:ln w="28575">
              <a:solidFill>
                <a:schemeClr val="accent2"/>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vi-VN" altLang="vi-VN" sz="2400">
                <a:latin typeface="Times New Roman" panose="02020603050405020304" pitchFamily="18" charset="0"/>
              </a:endParaRPr>
            </a:p>
          </p:txBody>
        </p:sp>
        <p:sp>
          <p:nvSpPr>
            <p:cNvPr id="1036" name="Oval 7">
              <a:extLst>
                <a:ext uri="{FF2B5EF4-FFF2-40B4-BE49-F238E27FC236}">
                  <a16:creationId xmlns:a16="http://schemas.microsoft.com/office/drawing/2014/main" id="{81D4F5AC-3087-C6BE-C591-5A773C0C2100}"/>
                </a:ext>
              </a:extLst>
            </p:cNvPr>
            <p:cNvSpPr>
              <a:spLocks noChangeArrowheads="1"/>
            </p:cNvSpPr>
            <p:nvPr/>
          </p:nvSpPr>
          <p:spPr bwMode="hidden">
            <a:xfrm flipH="1">
              <a:off x="1486" y="192"/>
              <a:ext cx="695" cy="696"/>
            </a:xfrm>
            <a:prstGeom prst="ellipse">
              <a:avLst/>
            </a:prstGeom>
            <a:noFill/>
            <a:ln w="28575">
              <a:solidFill>
                <a:schemeClr val="accent2"/>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vi-VN" altLang="vi-VN" sz="2400">
                <a:latin typeface="Times New Roman" panose="02020603050405020304" pitchFamily="18" charset="0"/>
              </a:endParaRPr>
            </a:p>
          </p:txBody>
        </p:sp>
      </p:grpSp>
      <p:sp>
        <p:nvSpPr>
          <p:cNvPr id="1027" name="Rectangle 8">
            <a:extLst>
              <a:ext uri="{FF2B5EF4-FFF2-40B4-BE49-F238E27FC236}">
                <a16:creationId xmlns:a16="http://schemas.microsoft.com/office/drawing/2014/main" id="{B9E328A5-780A-CDA5-36A3-F686ECB57DA6}"/>
              </a:ext>
            </a:extLst>
          </p:cNvPr>
          <p:cNvSpPr>
            <a:spLocks noGrp="1" noChangeArrowheads="1"/>
          </p:cNvSpPr>
          <p:nvPr>
            <p:ph type="body" idx="1"/>
          </p:nvPr>
        </p:nvSpPr>
        <p:spPr bwMode="auto">
          <a:xfrm>
            <a:off x="609600" y="1600201"/>
            <a:ext cx="109728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vi-VN"/>
              <a:t>Click to edit Master text styles</a:t>
            </a:r>
          </a:p>
          <a:p>
            <a:pPr lvl="1"/>
            <a:r>
              <a:rPr lang="en-US" altLang="vi-VN"/>
              <a:t>Second level</a:t>
            </a:r>
          </a:p>
          <a:p>
            <a:pPr lvl="2"/>
            <a:r>
              <a:rPr lang="en-US" altLang="vi-VN"/>
              <a:t>Third level</a:t>
            </a:r>
          </a:p>
          <a:p>
            <a:pPr lvl="3"/>
            <a:r>
              <a:rPr lang="en-US" altLang="vi-VN"/>
              <a:t>Fourth level</a:t>
            </a:r>
          </a:p>
          <a:p>
            <a:pPr lvl="4"/>
            <a:r>
              <a:rPr lang="en-US" altLang="vi-VN"/>
              <a:t>Fifth level</a:t>
            </a:r>
          </a:p>
        </p:txBody>
      </p:sp>
      <p:sp>
        <p:nvSpPr>
          <p:cNvPr id="40969" name="Rectangle 9">
            <a:extLst>
              <a:ext uri="{FF2B5EF4-FFF2-40B4-BE49-F238E27FC236}">
                <a16:creationId xmlns:a16="http://schemas.microsoft.com/office/drawing/2014/main" id="{7F8E3204-7370-A47B-015F-6D892749417C}"/>
              </a:ext>
            </a:extLst>
          </p:cNvPr>
          <p:cNvSpPr>
            <a:spLocks noGrp="1" noChangeArrowheads="1"/>
          </p:cNvSpPr>
          <p:nvPr>
            <p:ph type="dt" sz="half" idx="2"/>
          </p:nvPr>
        </p:nvSpPr>
        <p:spPr bwMode="auto">
          <a:xfrm>
            <a:off x="609600" y="6248400"/>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defRPr>
            </a:lvl1pPr>
          </a:lstStyle>
          <a:p>
            <a:pPr>
              <a:defRPr/>
            </a:pPr>
            <a:endParaRPr lang="en-US"/>
          </a:p>
        </p:txBody>
      </p:sp>
      <p:sp>
        <p:nvSpPr>
          <p:cNvPr id="40970" name="Rectangle 10">
            <a:extLst>
              <a:ext uri="{FF2B5EF4-FFF2-40B4-BE49-F238E27FC236}">
                <a16:creationId xmlns:a16="http://schemas.microsoft.com/office/drawing/2014/main" id="{986BA297-2493-F346-5C7B-78FBF0CA3757}"/>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atin typeface="Arial" charset="0"/>
              </a:defRPr>
            </a:lvl1pPr>
          </a:lstStyle>
          <a:p>
            <a:pPr>
              <a:defRPr/>
            </a:pPr>
            <a:endParaRPr lang="en-US"/>
          </a:p>
        </p:txBody>
      </p:sp>
      <p:sp>
        <p:nvSpPr>
          <p:cNvPr id="40971" name="Rectangle 11">
            <a:extLst>
              <a:ext uri="{FF2B5EF4-FFF2-40B4-BE49-F238E27FC236}">
                <a16:creationId xmlns:a16="http://schemas.microsoft.com/office/drawing/2014/main" id="{D9AD7F52-9C01-3328-9C82-F590F1615B6A}"/>
              </a:ext>
            </a:extLst>
          </p:cNvPr>
          <p:cNvSpPr>
            <a:spLocks noGrp="1" noChangeArrowheads="1"/>
          </p:cNvSpPr>
          <p:nvPr>
            <p:ph type="sldNum" sz="quarter" idx="4"/>
          </p:nvPr>
        </p:nvSpPr>
        <p:spPr bwMode="auto">
          <a:xfrm>
            <a:off x="8737600" y="6248400"/>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1E6C4DE2-0BD0-4261-85E0-B004A06D750E}" type="slidenum">
              <a:rPr lang="en-US" altLang="vi-VN"/>
              <a:pPr>
                <a:defRPr/>
              </a:pPr>
              <a:t>‹#›</a:t>
            </a:fld>
            <a:endParaRPr lang="en-US" altLang="vi-VN"/>
          </a:p>
        </p:txBody>
      </p:sp>
      <p:sp>
        <p:nvSpPr>
          <p:cNvPr id="1031" name="Rectangle 12">
            <a:extLst>
              <a:ext uri="{FF2B5EF4-FFF2-40B4-BE49-F238E27FC236}">
                <a16:creationId xmlns:a16="http://schemas.microsoft.com/office/drawing/2014/main" id="{9BD7FC6D-92A2-054A-9AA2-37B5D922F32F}"/>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vi-VN"/>
              <a:t>Click to edit Master title style</a:t>
            </a:r>
          </a:p>
        </p:txBody>
      </p:sp>
    </p:spTree>
    <p:extLst>
      <p:ext uri="{BB962C8B-B14F-4D97-AF65-F5344CB8AC3E}">
        <p14:creationId xmlns:p14="http://schemas.microsoft.com/office/powerpoint/2010/main" val="181251857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Arial" charset="0"/>
        </a:defRPr>
      </a:lvl2pPr>
      <a:lvl3pPr algn="l" rtl="0" eaLnBrk="0" fontAlgn="base" hangingPunct="0">
        <a:spcBef>
          <a:spcPct val="0"/>
        </a:spcBef>
        <a:spcAft>
          <a:spcPct val="0"/>
        </a:spcAft>
        <a:defRPr sz="3800">
          <a:solidFill>
            <a:schemeClr val="tx2"/>
          </a:solidFill>
          <a:latin typeface="Arial" charset="0"/>
        </a:defRPr>
      </a:lvl3pPr>
      <a:lvl4pPr algn="l" rtl="0" eaLnBrk="0" fontAlgn="base" hangingPunct="0">
        <a:spcBef>
          <a:spcPct val="0"/>
        </a:spcBef>
        <a:spcAft>
          <a:spcPct val="0"/>
        </a:spcAft>
        <a:defRPr sz="3800">
          <a:solidFill>
            <a:schemeClr val="tx2"/>
          </a:solidFill>
          <a:latin typeface="Arial" charset="0"/>
        </a:defRPr>
      </a:lvl4pPr>
      <a:lvl5pPr algn="l" rtl="0" eaLnBrk="0" fontAlgn="base" hangingPunct="0">
        <a:spcBef>
          <a:spcPct val="0"/>
        </a:spcBef>
        <a:spcAft>
          <a:spcPct val="0"/>
        </a:spcAft>
        <a:defRPr sz="3800">
          <a:solidFill>
            <a:schemeClr val="tx2"/>
          </a:solidFill>
          <a:latin typeface="Arial" charset="0"/>
        </a:defRPr>
      </a:lvl5pPr>
      <a:lvl6pPr marL="457200" algn="l" rtl="0" fontAlgn="base">
        <a:spcBef>
          <a:spcPct val="0"/>
        </a:spcBef>
        <a:spcAft>
          <a:spcPct val="0"/>
        </a:spcAft>
        <a:defRPr sz="3800">
          <a:solidFill>
            <a:schemeClr val="tx2"/>
          </a:solidFill>
          <a:latin typeface="Arial" charset="0"/>
        </a:defRPr>
      </a:lvl6pPr>
      <a:lvl7pPr marL="914400" algn="l" rtl="0" fontAlgn="base">
        <a:spcBef>
          <a:spcPct val="0"/>
        </a:spcBef>
        <a:spcAft>
          <a:spcPct val="0"/>
        </a:spcAft>
        <a:defRPr sz="3800">
          <a:solidFill>
            <a:schemeClr val="tx2"/>
          </a:solidFill>
          <a:latin typeface="Arial" charset="0"/>
        </a:defRPr>
      </a:lvl7pPr>
      <a:lvl8pPr marL="1371600" algn="l" rtl="0" fontAlgn="base">
        <a:spcBef>
          <a:spcPct val="0"/>
        </a:spcBef>
        <a:spcAft>
          <a:spcPct val="0"/>
        </a:spcAft>
        <a:defRPr sz="3800">
          <a:solidFill>
            <a:schemeClr val="tx2"/>
          </a:solidFill>
          <a:latin typeface="Arial" charset="0"/>
        </a:defRPr>
      </a:lvl8pPr>
      <a:lvl9pPr marL="1828800" algn="l" rtl="0" fontAlgn="base">
        <a:spcBef>
          <a:spcPct val="0"/>
        </a:spcBef>
        <a:spcAft>
          <a:spcPct val="0"/>
        </a:spcAft>
        <a:defRPr sz="3800">
          <a:solidFill>
            <a:schemeClr val="tx2"/>
          </a:solidFill>
          <a:latin typeface="Arial" charset="0"/>
        </a:defRPr>
      </a:lvl9pPr>
    </p:titleStyle>
    <p:bodyStyle>
      <a:lvl1pPr marL="342900" indent="-342900" algn="l" rtl="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20000"/>
        </a:spcBef>
        <a:spcAft>
          <a:spcPct val="0"/>
        </a:spcAft>
        <a:buClr>
          <a:schemeClr val="accent1"/>
        </a:buClr>
        <a:buFont typeface="Wingdings" panose="05000000000000000000" pitchFamily="2" charset="2"/>
        <a:buChar char="l"/>
        <a:defRPr sz="2300">
          <a:solidFill>
            <a:schemeClr val="tx1"/>
          </a:solidFill>
          <a:latin typeface="+mn-lt"/>
        </a:defRPr>
      </a:lvl3pPr>
      <a:lvl4pPr marL="1600200" indent="-228600" algn="l" rtl="0" eaLnBrk="0" fontAlgn="base" hangingPunct="0">
        <a:spcBef>
          <a:spcPct val="20000"/>
        </a:spcBef>
        <a:spcAft>
          <a:spcPct val="0"/>
        </a:spcAft>
        <a:buClr>
          <a:schemeClr val="accent1"/>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4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olpc_classroom.jpg"/>
          <p:cNvPicPr>
            <a:picLocks noChangeAspect="1"/>
          </p:cNvPicPr>
          <p:nvPr/>
        </p:nvPicPr>
        <p:blipFill>
          <a:blip r:embed="rId3"/>
          <a:srcRect t="11161" b="1116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5000"/>
            </a:srgbClr>
          </a:solidFill>
          <a:ln w="12700">
            <a:solidFill>
              <a:srgbClr val="000000">
                <a:alpha val="0"/>
              </a:srgbClr>
            </a:solidFill>
            <a:prstDash val="solid"/>
          </a:ln>
        </p:spPr>
      </p:sp>
      <p:sp>
        <p:nvSpPr>
          <p:cNvPr id="5" name="Text 1"/>
          <p:cNvSpPr/>
          <p:nvPr/>
        </p:nvSpPr>
        <p:spPr>
          <a:xfrm>
            <a:off x="594361" y="1417319"/>
            <a:ext cx="6748548" cy="2212571"/>
          </a:xfrm>
          <a:prstGeom prst="rect">
            <a:avLst/>
          </a:prstGeom>
          <a:noFill/>
          <a:ln/>
        </p:spPr>
        <p:txBody>
          <a:bodyPr wrap="square" rtlCol="0" anchor="ctr"/>
          <a:lstStyle/>
          <a:p>
            <a:pPr marL="0" indent="0">
              <a:buNone/>
            </a:pPr>
            <a:r>
              <a:rPr lang="en-US" sz="4400" b="1" dirty="0">
                <a:solidFill>
                  <a:srgbClr val="FFFFFF"/>
                </a:solidFill>
              </a:rPr>
              <a:t>LÝ THUYẾT TRÒ CHƠI &amp; THIẾT KẾ GAME GIÁO DỤC</a:t>
            </a:r>
            <a:endParaRPr lang="en-US" sz="4400" dirty="0"/>
          </a:p>
        </p:txBody>
      </p:sp>
      <p:sp>
        <p:nvSpPr>
          <p:cNvPr id="10" name="Text 5"/>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1</a:t>
            </a:r>
            <a:endParaRPr lang="en-US" sz="1000" dirty="0"/>
          </a:p>
        </p:txBody>
      </p:sp>
      <p:sp>
        <p:nvSpPr>
          <p:cNvPr id="9" name="Text 1">
            <a:extLst>
              <a:ext uri="{FF2B5EF4-FFF2-40B4-BE49-F238E27FC236}">
                <a16:creationId xmlns:a16="http://schemas.microsoft.com/office/drawing/2014/main" id="{6EECEB8F-A105-50F5-5D1F-6ED81F3224A3}"/>
              </a:ext>
            </a:extLst>
          </p:cNvPr>
          <p:cNvSpPr/>
          <p:nvPr/>
        </p:nvSpPr>
        <p:spPr>
          <a:xfrm>
            <a:off x="594360" y="3845328"/>
            <a:ext cx="9504680" cy="2212571"/>
          </a:xfrm>
          <a:prstGeom prst="rect">
            <a:avLst/>
          </a:prstGeom>
          <a:noFill/>
          <a:ln/>
        </p:spPr>
        <p:txBody>
          <a:bodyPr wrap="square" rtlCol="0" anchor="ctr"/>
          <a:lstStyle/>
          <a:p>
            <a:pPr marL="0" indent="0">
              <a:buNone/>
            </a:pPr>
            <a:r>
              <a:rPr lang="en-US" sz="2800" b="1" dirty="0" err="1">
                <a:solidFill>
                  <a:srgbClr val="FFFFFF"/>
                </a:solidFill>
              </a:rPr>
              <a:t>Bật</a:t>
            </a:r>
            <a:r>
              <a:rPr lang="en-US" sz="2800" b="1" dirty="0">
                <a:solidFill>
                  <a:srgbClr val="FFFFFF"/>
                </a:solidFill>
              </a:rPr>
              <a:t> Cam, </a:t>
            </a:r>
            <a:r>
              <a:rPr lang="en-US" sz="2800" b="1" dirty="0" err="1">
                <a:solidFill>
                  <a:srgbClr val="FFFFFF"/>
                </a:solidFill>
              </a:rPr>
              <a:t>gõ</a:t>
            </a:r>
            <a:r>
              <a:rPr lang="en-US" sz="2800" b="1" dirty="0">
                <a:solidFill>
                  <a:srgbClr val="FFFFFF"/>
                </a:solidFill>
              </a:rPr>
              <a:t> </a:t>
            </a:r>
            <a:r>
              <a:rPr lang="en-US" sz="2800" b="1" dirty="0" err="1">
                <a:solidFill>
                  <a:srgbClr val="FFFFFF"/>
                </a:solidFill>
              </a:rPr>
              <a:t>tên</a:t>
            </a:r>
            <a:r>
              <a:rPr lang="en-US" sz="2800" b="1" dirty="0">
                <a:solidFill>
                  <a:srgbClr val="FFFFFF"/>
                </a:solidFill>
              </a:rPr>
              <a:t> </a:t>
            </a:r>
            <a:r>
              <a:rPr lang="en-US" sz="2800" b="1" dirty="0" err="1">
                <a:solidFill>
                  <a:srgbClr val="FFFFFF"/>
                </a:solidFill>
              </a:rPr>
              <a:t>vào</a:t>
            </a:r>
            <a:r>
              <a:rPr lang="en-US" sz="2800" b="1" dirty="0">
                <a:solidFill>
                  <a:srgbClr val="FFFFFF"/>
                </a:solidFill>
              </a:rPr>
              <a:t> Chat </a:t>
            </a:r>
            <a:r>
              <a:rPr lang="en-US" sz="2800" b="1" dirty="0" err="1">
                <a:solidFill>
                  <a:srgbClr val="FFFFFF"/>
                </a:solidFill>
              </a:rPr>
              <a:t>để</a:t>
            </a:r>
            <a:r>
              <a:rPr lang="en-US" sz="2800" b="1" dirty="0">
                <a:solidFill>
                  <a:srgbClr val="FFFFFF"/>
                </a:solidFill>
              </a:rPr>
              <a:t> </a:t>
            </a:r>
            <a:r>
              <a:rPr lang="en-US" sz="2800" b="1" dirty="0" err="1">
                <a:solidFill>
                  <a:srgbClr val="FFFFFF"/>
                </a:solidFill>
              </a:rPr>
              <a:t>điểm</a:t>
            </a:r>
            <a:r>
              <a:rPr lang="en-US" sz="2800" b="1" dirty="0">
                <a:solidFill>
                  <a:srgbClr val="FFFFFF"/>
                </a:solidFill>
              </a:rPr>
              <a:t> </a:t>
            </a:r>
            <a:r>
              <a:rPr lang="en-US" sz="2800" b="1" dirty="0" err="1">
                <a:solidFill>
                  <a:srgbClr val="FFFFFF"/>
                </a:solidFill>
              </a:rPr>
              <a:t>danh</a:t>
            </a:r>
            <a:r>
              <a:rPr lang="en-US" sz="2800" b="1" dirty="0">
                <a:solidFill>
                  <a:srgbClr val="FFFFFF"/>
                </a:solidFill>
              </a:rPr>
              <a:t>. </a:t>
            </a:r>
            <a:r>
              <a:rPr lang="en-US" sz="4000" b="1" dirty="0">
                <a:solidFill>
                  <a:srgbClr val="FFFFFF"/>
                </a:solidFill>
              </a:rPr>
              <a:t>13h15</a:t>
            </a:r>
            <a:r>
              <a:rPr lang="en-US" sz="2800" b="1" dirty="0">
                <a:solidFill>
                  <a:srgbClr val="FFFFFF"/>
                </a:solidFill>
              </a:rPr>
              <a:t> </a:t>
            </a:r>
            <a:r>
              <a:rPr lang="en-US" sz="2800" b="1" dirty="0" err="1">
                <a:solidFill>
                  <a:srgbClr val="FFFFFF"/>
                </a:solidFill>
              </a:rPr>
              <a:t>lớp</a:t>
            </a:r>
            <a:r>
              <a:rPr lang="en-US" sz="2800" b="1" dirty="0">
                <a:solidFill>
                  <a:srgbClr val="FFFFFF"/>
                </a:solidFill>
              </a:rPr>
              <a:t> </a:t>
            </a:r>
            <a:r>
              <a:rPr lang="en-US" sz="2800" b="1" dirty="0" err="1">
                <a:solidFill>
                  <a:srgbClr val="FFFFFF"/>
                </a:solidFill>
              </a:rPr>
              <a:t>bắt</a:t>
            </a:r>
            <a:r>
              <a:rPr lang="en-US" sz="2800" b="1" dirty="0">
                <a:solidFill>
                  <a:srgbClr val="FFFFFF"/>
                </a:solidFill>
              </a:rPr>
              <a:t> </a:t>
            </a:r>
            <a:r>
              <a:rPr lang="en-US" sz="2800" b="1" dirty="0" err="1">
                <a:solidFill>
                  <a:srgbClr val="FFFFFF"/>
                </a:solidFill>
              </a:rPr>
              <a:t>đầu</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Mục tiêu học tập (3 giờ)</a:t>
            </a:r>
            <a:endParaRPr lang="en-US" sz="2200" dirty="0"/>
          </a:p>
        </p:txBody>
      </p:sp>
      <p:sp>
        <p:nvSpPr>
          <p:cNvPr id="4" name="Text 2"/>
          <p:cNvSpPr/>
          <p:nvPr/>
        </p:nvSpPr>
        <p:spPr>
          <a:xfrm>
            <a:off x="594360" y="1005840"/>
            <a:ext cx="11002975" cy="365760"/>
          </a:xfrm>
          <a:prstGeom prst="rect">
            <a:avLst/>
          </a:prstGeom>
          <a:noFill/>
          <a:ln/>
        </p:spPr>
        <p:txBody>
          <a:bodyPr wrap="square" rtlCol="0" anchor="ctr"/>
          <a:lstStyle/>
          <a:p>
            <a:pPr marL="0" indent="0">
              <a:buNone/>
            </a:pPr>
            <a:r>
              <a:rPr lang="en-US" sz="2200" b="1" dirty="0">
                <a:solidFill>
                  <a:srgbClr val="111827"/>
                </a:solidFill>
              </a:rPr>
              <a:t>Sau buổi học, sinh viên có thể:</a:t>
            </a:r>
            <a:endParaRPr lang="en-US" sz="2200" dirty="0"/>
          </a:p>
        </p:txBody>
      </p:sp>
      <p:sp>
        <p:nvSpPr>
          <p:cNvPr id="5" name="Text 3"/>
          <p:cNvSpPr/>
          <p:nvPr/>
        </p:nvSpPr>
        <p:spPr>
          <a:xfrm>
            <a:off x="594360" y="1463040"/>
            <a:ext cx="6629400" cy="4480560"/>
          </a:xfrm>
          <a:prstGeom prst="rect">
            <a:avLst/>
          </a:prstGeom>
          <a:noFill/>
          <a:ln/>
        </p:spPr>
        <p:txBody>
          <a:bodyPr wrap="square" rtlCol="0" anchor="t"/>
          <a:lstStyle/>
          <a:p>
            <a:pPr marL="228600" indent="-228600">
              <a:lnSpc>
                <a:spcPct val="120000"/>
              </a:lnSpc>
              <a:buSzPct val="100000"/>
              <a:buChar char="•"/>
            </a:pPr>
            <a:r>
              <a:rPr lang="en-US" sz="1800" dirty="0">
                <a:solidFill>
                  <a:srgbClr val="374151"/>
                </a:solidFill>
              </a:rPr>
              <a:t>Mô hình hoá một tình huống thiết kế game giáo dục thành (N, Sᵢ, uᵢ).</a:t>
            </a:r>
            <a:endParaRPr lang="en-US" sz="1800" dirty="0"/>
          </a:p>
          <a:p>
            <a:pPr marL="228600" indent="-228600">
              <a:lnSpc>
                <a:spcPct val="120000"/>
              </a:lnSpc>
              <a:buSzPct val="100000"/>
              <a:buChar char="•"/>
            </a:pPr>
            <a:r>
              <a:rPr lang="en-US" sz="1800" dirty="0">
                <a:solidFill>
                  <a:srgbClr val="374151"/>
                </a:solidFill>
              </a:rPr>
              <a:t>Tính best response, chiến lược trội, và cân bằng Nash (thuần/ hỗn) cho game nhỏ.</a:t>
            </a:r>
            <a:endParaRPr lang="en-US" sz="1800" dirty="0"/>
          </a:p>
          <a:p>
            <a:pPr marL="228600" indent="-228600">
              <a:lnSpc>
                <a:spcPct val="120000"/>
              </a:lnSpc>
              <a:buSzPct val="100000"/>
              <a:buChar char="•"/>
            </a:pPr>
            <a:r>
              <a:rPr lang="en-US" sz="1800" dirty="0">
                <a:solidFill>
                  <a:srgbClr val="374151"/>
                </a:solidFill>
              </a:rPr>
              <a:t>Phân tích game theo thời gian (extensive form) và tìm SPE bằng backward induction.</a:t>
            </a:r>
            <a:endParaRPr lang="en-US" sz="1800" dirty="0"/>
          </a:p>
          <a:p>
            <a:pPr marL="228600" indent="-228600">
              <a:lnSpc>
                <a:spcPct val="120000"/>
              </a:lnSpc>
              <a:buSzPct val="100000"/>
              <a:buChar char="•"/>
            </a:pPr>
            <a:r>
              <a:rPr lang="en-US" sz="1800" dirty="0">
                <a:solidFill>
                  <a:srgbClr val="374151"/>
                </a:solidFill>
              </a:rPr>
              <a:t>Dùng tư duy cơ chế (mechanism design) để “chuyển” equilibrium theo mục tiêu học tập.</a:t>
            </a:r>
            <a:endParaRPr lang="en-US" sz="1800" dirty="0"/>
          </a:p>
          <a:p>
            <a:pPr marL="228600" indent="-228600">
              <a:lnSpc>
                <a:spcPct val="120000"/>
              </a:lnSpc>
              <a:buSzPct val="100000"/>
              <a:buChar char="•"/>
            </a:pPr>
            <a:r>
              <a:rPr lang="en-US" sz="1800" dirty="0">
                <a:solidFill>
                  <a:srgbClr val="374151"/>
                </a:solidFill>
              </a:rPr>
              <a:t>Thiết kế 1 cơ chế/luật chơi giảm gian lận &amp; free-riding trong game/hoạt động học.</a:t>
            </a:r>
            <a:endParaRPr lang="en-US" sz="1800" dirty="0"/>
          </a:p>
        </p:txBody>
      </p:sp>
      <p:sp>
        <p:nvSpPr>
          <p:cNvPr id="6" name="Shape 4"/>
          <p:cNvSpPr/>
          <p:nvPr/>
        </p:nvSpPr>
        <p:spPr>
          <a:xfrm>
            <a:off x="7406640" y="1417320"/>
            <a:ext cx="4190695" cy="214884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7" name="Shape 5"/>
          <p:cNvSpPr/>
          <p:nvPr/>
        </p:nvSpPr>
        <p:spPr>
          <a:xfrm>
            <a:off x="7406640" y="1417320"/>
            <a:ext cx="109728" cy="2148840"/>
          </a:xfrm>
          <a:prstGeom prst="rect">
            <a:avLst/>
          </a:prstGeom>
          <a:solidFill>
            <a:srgbClr val="F59E0B"/>
          </a:solidFill>
          <a:ln w="12700">
            <a:solidFill>
              <a:srgbClr val="F59E0B"/>
            </a:solidFill>
            <a:prstDash val="solid"/>
          </a:ln>
        </p:spPr>
      </p:sp>
      <p:sp>
        <p:nvSpPr>
          <p:cNvPr id="8" name="Text 6"/>
          <p:cNvSpPr/>
          <p:nvPr/>
        </p:nvSpPr>
        <p:spPr>
          <a:xfrm>
            <a:off x="7635240" y="1581912"/>
            <a:ext cx="3870655" cy="320040"/>
          </a:xfrm>
          <a:prstGeom prst="rect">
            <a:avLst/>
          </a:prstGeom>
          <a:noFill/>
          <a:ln/>
        </p:spPr>
        <p:txBody>
          <a:bodyPr wrap="square" rtlCol="0" anchor="ctr"/>
          <a:lstStyle/>
          <a:p>
            <a:pPr marL="0" indent="0">
              <a:buNone/>
            </a:pPr>
            <a:r>
              <a:rPr lang="en-US" sz="1800" b="1" dirty="0">
                <a:solidFill>
                  <a:srgbClr val="111827"/>
                </a:solidFill>
              </a:rPr>
              <a:t>Chuẩn bị trước (gợi ý)</a:t>
            </a:r>
            <a:endParaRPr lang="en-US" sz="1800" dirty="0"/>
          </a:p>
        </p:txBody>
      </p:sp>
      <p:sp>
        <p:nvSpPr>
          <p:cNvPr id="9" name="Text 7"/>
          <p:cNvSpPr/>
          <p:nvPr/>
        </p:nvSpPr>
        <p:spPr>
          <a:xfrm>
            <a:off x="7726680" y="1947672"/>
            <a:ext cx="3687775" cy="146304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Ôn xác suất cơ bản (kỳ vọng).</a:t>
            </a:r>
            <a:endParaRPr lang="en-US" sz="1500" dirty="0"/>
          </a:p>
          <a:p>
            <a:pPr marL="190500" indent="-190500">
              <a:lnSpc>
                <a:spcPct val="120000"/>
              </a:lnSpc>
              <a:buSzPct val="100000"/>
              <a:buChar char="•"/>
            </a:pPr>
            <a:r>
              <a:rPr lang="en-US" sz="1500" dirty="0">
                <a:solidFill>
                  <a:srgbClr val="374151"/>
                </a:solidFill>
              </a:rPr>
              <a:t>Hiểu khái niệm “chiến lược” và “payoff”.</a:t>
            </a:r>
            <a:endParaRPr lang="en-US" sz="1500" dirty="0"/>
          </a:p>
          <a:p>
            <a:pPr marL="190500" indent="-190500">
              <a:lnSpc>
                <a:spcPct val="120000"/>
              </a:lnSpc>
              <a:buSzPct val="100000"/>
              <a:buChar char="•"/>
            </a:pPr>
            <a:r>
              <a:rPr lang="en-US" sz="1500" dirty="0">
                <a:solidFill>
                  <a:srgbClr val="374151"/>
                </a:solidFill>
              </a:rPr>
              <a:t>Mang laptop để làm bài thiết kế nhanh (10–15 phút cuối).</a:t>
            </a:r>
            <a:endParaRPr lang="en-US" sz="1500" dirty="0"/>
          </a:p>
        </p:txBody>
      </p:sp>
      <p:sp>
        <p:nvSpPr>
          <p:cNvPr id="10" name="Shape 8"/>
          <p:cNvSpPr/>
          <p:nvPr/>
        </p:nvSpPr>
        <p:spPr>
          <a:xfrm>
            <a:off x="7406640" y="3703320"/>
            <a:ext cx="4190695" cy="256032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11" name="Shape 9"/>
          <p:cNvSpPr/>
          <p:nvPr/>
        </p:nvSpPr>
        <p:spPr>
          <a:xfrm>
            <a:off x="7406640" y="3703320"/>
            <a:ext cx="109728" cy="2560320"/>
          </a:xfrm>
          <a:prstGeom prst="rect">
            <a:avLst/>
          </a:prstGeom>
          <a:solidFill>
            <a:srgbClr val="1F9D8A"/>
          </a:solidFill>
          <a:ln w="12700">
            <a:solidFill>
              <a:srgbClr val="1F9D8A"/>
            </a:solidFill>
            <a:prstDash val="solid"/>
          </a:ln>
        </p:spPr>
      </p:sp>
      <p:sp>
        <p:nvSpPr>
          <p:cNvPr id="12" name="Text 10"/>
          <p:cNvSpPr/>
          <p:nvPr/>
        </p:nvSpPr>
        <p:spPr>
          <a:xfrm>
            <a:off x="7635240" y="3867912"/>
            <a:ext cx="3870655" cy="320040"/>
          </a:xfrm>
          <a:prstGeom prst="rect">
            <a:avLst/>
          </a:prstGeom>
          <a:noFill/>
          <a:ln/>
        </p:spPr>
        <p:txBody>
          <a:bodyPr wrap="square" rtlCol="0" anchor="ctr"/>
          <a:lstStyle/>
          <a:p>
            <a:pPr marL="0" indent="0">
              <a:buNone/>
            </a:pPr>
            <a:r>
              <a:rPr lang="en-US" sz="1800" b="1" dirty="0">
                <a:solidFill>
                  <a:srgbClr val="111827"/>
                </a:solidFill>
              </a:rPr>
              <a:t>Công cụ trong buổi học</a:t>
            </a:r>
            <a:endParaRPr lang="en-US" sz="1800" dirty="0"/>
          </a:p>
        </p:txBody>
      </p:sp>
      <p:sp>
        <p:nvSpPr>
          <p:cNvPr id="13" name="Text 11"/>
          <p:cNvSpPr/>
          <p:nvPr/>
        </p:nvSpPr>
        <p:spPr>
          <a:xfrm>
            <a:off x="7726680" y="4233672"/>
            <a:ext cx="3687775" cy="187452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Payoff matrix &amp; game tree</a:t>
            </a:r>
            <a:endParaRPr lang="en-US" sz="1500" dirty="0"/>
          </a:p>
          <a:p>
            <a:pPr marL="190500" indent="-190500">
              <a:lnSpc>
                <a:spcPct val="120000"/>
              </a:lnSpc>
              <a:buSzPct val="100000"/>
              <a:buChar char="•"/>
            </a:pPr>
            <a:r>
              <a:rPr lang="en-US" sz="1500" dirty="0">
                <a:solidFill>
                  <a:srgbClr val="374151"/>
                </a:solidFill>
              </a:rPr>
              <a:t>Best response</a:t>
            </a:r>
            <a:endParaRPr lang="en-US" sz="1500" dirty="0"/>
          </a:p>
          <a:p>
            <a:pPr marL="190500" indent="-190500">
              <a:lnSpc>
                <a:spcPct val="120000"/>
              </a:lnSpc>
              <a:buSzPct val="100000"/>
              <a:buChar char="•"/>
            </a:pPr>
            <a:r>
              <a:rPr lang="en-US" sz="1500" dirty="0">
                <a:solidFill>
                  <a:srgbClr val="374151"/>
                </a:solidFill>
              </a:rPr>
              <a:t>Nash / MSNE</a:t>
            </a:r>
            <a:endParaRPr lang="en-US" sz="1500" dirty="0"/>
          </a:p>
          <a:p>
            <a:pPr marL="190500" indent="-190500">
              <a:lnSpc>
                <a:spcPct val="120000"/>
              </a:lnSpc>
              <a:buSzPct val="100000"/>
              <a:buChar char="•"/>
            </a:pPr>
            <a:r>
              <a:rPr lang="en-US" sz="1500" dirty="0">
                <a:solidFill>
                  <a:srgbClr val="374151"/>
                </a:solidFill>
              </a:rPr>
              <a:t>Backward induction / SPE</a:t>
            </a:r>
            <a:endParaRPr lang="en-US" sz="1500" dirty="0"/>
          </a:p>
          <a:p>
            <a:pPr marL="190500" indent="-190500">
              <a:lnSpc>
                <a:spcPct val="120000"/>
              </a:lnSpc>
              <a:buSzPct val="100000"/>
              <a:buChar char="•"/>
            </a:pPr>
            <a:r>
              <a:rPr lang="en-US" sz="1500" dirty="0">
                <a:solidFill>
                  <a:srgbClr val="374151"/>
                </a:solidFill>
              </a:rPr>
              <a:t>Thiết kế cơ chế: thưởng–phạt–quan sát–cam kết</a:t>
            </a:r>
            <a:endParaRPr lang="en-US" sz="1500" dirty="0"/>
          </a:p>
        </p:txBody>
      </p:sp>
      <p:sp>
        <p:nvSpPr>
          <p:cNvPr id="15" name="Text 12"/>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D7BFAF8-B674-763A-2D34-01B69855D8F4}"/>
              </a:ext>
            </a:extLst>
          </p:cNvPr>
          <p:cNvSpPr>
            <a:spLocks noGrp="1" noChangeArrowheads="1"/>
          </p:cNvSpPr>
          <p:nvPr>
            <p:ph type="title"/>
          </p:nvPr>
        </p:nvSpPr>
        <p:spPr/>
        <p:txBody>
          <a:bodyPr/>
          <a:lstStyle/>
          <a:p>
            <a:pPr eaLnBrk="1" hangingPunct="1"/>
            <a:r>
              <a:rPr lang="en-US" altLang="vi-VN"/>
              <a:t>Lý thuyết trò chơi</a:t>
            </a:r>
          </a:p>
        </p:txBody>
      </p:sp>
      <p:sp>
        <p:nvSpPr>
          <p:cNvPr id="6147" name="Rectangle 3">
            <a:extLst>
              <a:ext uri="{FF2B5EF4-FFF2-40B4-BE49-F238E27FC236}">
                <a16:creationId xmlns:a16="http://schemas.microsoft.com/office/drawing/2014/main" id="{7F1CD278-79D0-3C79-2557-982BED1C3C56}"/>
              </a:ext>
            </a:extLst>
          </p:cNvPr>
          <p:cNvSpPr>
            <a:spLocks noGrp="1" noChangeArrowheads="1"/>
          </p:cNvSpPr>
          <p:nvPr>
            <p:ph type="body" idx="1"/>
          </p:nvPr>
        </p:nvSpPr>
        <p:spPr/>
        <p:txBody>
          <a:bodyPr/>
          <a:lstStyle/>
          <a:p>
            <a:pPr eaLnBrk="1" hangingPunct="1">
              <a:lnSpc>
                <a:spcPct val="80000"/>
              </a:lnSpc>
            </a:pPr>
            <a:r>
              <a:rPr lang="en-US" altLang="vi-VN" sz="2800"/>
              <a:t>Trò chơi là tình huống trong đó các người chơi đưa ra những quyết định chiến lược; những quyết định có tính đến hành động và phản ứng của đối thủ. </a:t>
            </a:r>
          </a:p>
          <a:p>
            <a:pPr eaLnBrk="1" hangingPunct="1">
              <a:lnSpc>
                <a:spcPct val="80000"/>
              </a:lnSpc>
            </a:pPr>
            <a:r>
              <a:rPr lang="en-US" altLang="vi-VN" sz="2800"/>
              <a:t>Những quyết định chiến lược sẽ dẫn đến những kết quả cho những người chơi. </a:t>
            </a:r>
          </a:p>
          <a:p>
            <a:pPr eaLnBrk="1" hangingPunct="1">
              <a:lnSpc>
                <a:spcPct val="80000"/>
              </a:lnSpc>
            </a:pPr>
            <a:r>
              <a:rPr lang="en-US" altLang="vi-VN" sz="2800"/>
              <a:t>Chiến lược là một qui tắc hay kế hoặch hành động trong trò chơi khi mà các đối thủ tích cực nghiên cứu những tác động qua lại với nhau khi đưa ra những quyết định. </a:t>
            </a:r>
          </a:p>
          <a:p>
            <a:pPr eaLnBrk="1" hangingPunct="1">
              <a:lnSpc>
                <a:spcPct val="80000"/>
              </a:lnSpc>
            </a:pPr>
            <a:r>
              <a:rPr lang="en-US" altLang="vi-VN" sz="2800"/>
              <a:t>Lý thuyết trò chơi là một tập hợp các ý tưởng và nguyên lý để dẫn dắt tư duy chiến lược.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65F750F-CFF6-9CCB-95AA-6982660EFDB3}"/>
              </a:ext>
            </a:extLst>
          </p:cNvPr>
          <p:cNvSpPr>
            <a:spLocks noGrp="1" noChangeArrowheads="1"/>
          </p:cNvSpPr>
          <p:nvPr>
            <p:ph type="title"/>
          </p:nvPr>
        </p:nvSpPr>
        <p:spPr/>
        <p:txBody>
          <a:bodyPr/>
          <a:lstStyle/>
          <a:p>
            <a:pPr eaLnBrk="1" hangingPunct="1"/>
            <a:r>
              <a:rPr lang="en-US" altLang="vi-VN"/>
              <a:t>Lý thuyết trò chơi</a:t>
            </a:r>
          </a:p>
        </p:txBody>
      </p:sp>
      <p:sp>
        <p:nvSpPr>
          <p:cNvPr id="7171" name="Rectangle 3">
            <a:extLst>
              <a:ext uri="{FF2B5EF4-FFF2-40B4-BE49-F238E27FC236}">
                <a16:creationId xmlns:a16="http://schemas.microsoft.com/office/drawing/2014/main" id="{BDF6253A-6365-8440-19D3-19F28E133B3C}"/>
              </a:ext>
            </a:extLst>
          </p:cNvPr>
          <p:cNvSpPr>
            <a:spLocks noGrp="1" noChangeArrowheads="1"/>
          </p:cNvSpPr>
          <p:nvPr>
            <p:ph type="body" idx="1"/>
          </p:nvPr>
        </p:nvSpPr>
        <p:spPr/>
        <p:txBody>
          <a:bodyPr/>
          <a:lstStyle/>
          <a:p>
            <a:pPr eaLnBrk="1" hangingPunct="1"/>
            <a:r>
              <a:rPr lang="en-GB" altLang="vi-VN"/>
              <a:t>Mỗi trò chơi có ba yếu tố cần thiết: </a:t>
            </a:r>
          </a:p>
          <a:p>
            <a:pPr lvl="1" eaLnBrk="1" hangingPunct="1"/>
            <a:r>
              <a:rPr lang="en-GB" altLang="vi-VN"/>
              <a:t>Những người chơi </a:t>
            </a:r>
          </a:p>
          <a:p>
            <a:pPr lvl="1" eaLnBrk="1" hangingPunct="1"/>
            <a:r>
              <a:rPr lang="en-GB" altLang="vi-VN"/>
              <a:t>Những chiến lược và hành động </a:t>
            </a:r>
          </a:p>
          <a:p>
            <a:pPr lvl="1" eaLnBrk="1" hangingPunct="1"/>
            <a:r>
              <a:rPr lang="en-GB" altLang="vi-VN"/>
              <a:t>Những kết quả</a:t>
            </a:r>
            <a:endParaRPr lang="vi-VN" altLang="vi-VN"/>
          </a:p>
          <a:p>
            <a:pPr lvl="1" eaLnBrk="1" hangingPunct="1"/>
            <a:r>
              <a:rPr lang="vi-VN" altLang="vi-VN"/>
              <a:t>Luật chơi</a:t>
            </a:r>
            <a:endParaRPr lang="en-US" altLang="vi-V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494164CC-F05C-40C0-FB67-4C92CF208DD2}"/>
              </a:ext>
            </a:extLst>
          </p:cNvPr>
          <p:cNvSpPr>
            <a:spLocks noGrp="1" noChangeArrowheads="1"/>
          </p:cNvSpPr>
          <p:nvPr>
            <p:ph type="title"/>
          </p:nvPr>
        </p:nvSpPr>
        <p:spPr/>
        <p:txBody>
          <a:bodyPr/>
          <a:lstStyle/>
          <a:p>
            <a:pPr eaLnBrk="1" hangingPunct="1"/>
            <a:r>
              <a:rPr lang="en-US" altLang="vi-VN"/>
              <a:t>Lý thuyết trò chơi</a:t>
            </a:r>
          </a:p>
        </p:txBody>
      </p:sp>
      <p:sp>
        <p:nvSpPr>
          <p:cNvPr id="5123" name="Rectangle 3">
            <a:extLst>
              <a:ext uri="{FF2B5EF4-FFF2-40B4-BE49-F238E27FC236}">
                <a16:creationId xmlns:a16="http://schemas.microsoft.com/office/drawing/2014/main" id="{F6630439-488F-9F75-A85B-90036109DA78}"/>
              </a:ext>
            </a:extLst>
          </p:cNvPr>
          <p:cNvSpPr>
            <a:spLocks noGrp="1" noChangeArrowheads="1"/>
          </p:cNvSpPr>
          <p:nvPr>
            <p:ph type="body" idx="1"/>
          </p:nvPr>
        </p:nvSpPr>
        <p:spPr/>
        <p:txBody>
          <a:bodyPr/>
          <a:lstStyle/>
          <a:p>
            <a:pPr eaLnBrk="1" hangingPunct="1">
              <a:lnSpc>
                <a:spcPct val="80000"/>
              </a:lnSpc>
            </a:pPr>
            <a:r>
              <a:rPr lang="en-GB" altLang="vi-VN" sz="2400" dirty="0" err="1"/>
              <a:t>Sự</a:t>
            </a:r>
            <a:r>
              <a:rPr lang="en-GB" altLang="vi-VN" sz="2400" dirty="0"/>
              <a:t> </a:t>
            </a:r>
            <a:r>
              <a:rPr lang="en-GB" altLang="vi-VN" sz="2400" dirty="0" err="1"/>
              <a:t>phụ</a:t>
            </a:r>
            <a:r>
              <a:rPr lang="en-GB" altLang="vi-VN" sz="2400" dirty="0"/>
              <a:t> </a:t>
            </a:r>
            <a:r>
              <a:rPr lang="en-GB" altLang="vi-VN" sz="2400" dirty="0" err="1"/>
              <a:t>thuộc</a:t>
            </a:r>
            <a:r>
              <a:rPr lang="en-GB" altLang="vi-VN" sz="2400" dirty="0"/>
              <a:t> </a:t>
            </a:r>
            <a:r>
              <a:rPr lang="en-GB" altLang="vi-VN" sz="2400" dirty="0" err="1"/>
              <a:t>lẫn</a:t>
            </a:r>
            <a:r>
              <a:rPr lang="en-GB" altLang="vi-VN" sz="2400" dirty="0"/>
              <a:t> </a:t>
            </a:r>
            <a:r>
              <a:rPr lang="en-GB" altLang="vi-VN" sz="2400" dirty="0" err="1"/>
              <a:t>nhau</a:t>
            </a:r>
            <a:r>
              <a:rPr lang="en-GB" altLang="vi-VN" sz="2400" dirty="0"/>
              <a:t> </a:t>
            </a:r>
            <a:r>
              <a:rPr lang="en-GB" altLang="vi-VN" sz="2400" dirty="0" err="1"/>
              <a:t>chiến</a:t>
            </a:r>
            <a:r>
              <a:rPr lang="en-GB" altLang="vi-VN" sz="2400" dirty="0"/>
              <a:t> </a:t>
            </a:r>
            <a:r>
              <a:rPr lang="en-GB" altLang="vi-VN" sz="2400" dirty="0" err="1"/>
              <a:t>lược</a:t>
            </a:r>
            <a:r>
              <a:rPr lang="en-GB" altLang="vi-VN" sz="2400" dirty="0"/>
              <a:t> </a:t>
            </a:r>
            <a:r>
              <a:rPr lang="en-GB" altLang="vi-VN" sz="2400" dirty="0" err="1"/>
              <a:t>thể</a:t>
            </a:r>
            <a:r>
              <a:rPr lang="en-GB" altLang="vi-VN" sz="2400" dirty="0"/>
              <a:t> </a:t>
            </a:r>
            <a:r>
              <a:rPr lang="en-GB" altLang="vi-VN" sz="2400" dirty="0" err="1"/>
              <a:t>hiện</a:t>
            </a:r>
            <a:r>
              <a:rPr lang="en-GB" altLang="vi-VN" sz="2400" dirty="0"/>
              <a:t> </a:t>
            </a:r>
            <a:r>
              <a:rPr lang="en-GB" altLang="vi-VN" sz="2400" dirty="0" err="1"/>
              <a:t>những</a:t>
            </a:r>
            <a:r>
              <a:rPr lang="en-GB" altLang="vi-VN" sz="2400" dirty="0"/>
              <a:t> </a:t>
            </a:r>
            <a:r>
              <a:rPr lang="en-GB" altLang="vi-VN" sz="2400" dirty="0" err="1"/>
              <a:t>tình</a:t>
            </a:r>
            <a:r>
              <a:rPr lang="en-GB" altLang="vi-VN" sz="2400" dirty="0"/>
              <a:t> </a:t>
            </a:r>
            <a:r>
              <a:rPr lang="en-GB" altLang="vi-VN" sz="2400" dirty="0" err="1"/>
              <a:t>huống</a:t>
            </a:r>
            <a:r>
              <a:rPr lang="en-GB" altLang="vi-VN" sz="2400" dirty="0"/>
              <a:t> </a:t>
            </a:r>
            <a:r>
              <a:rPr lang="en-GB" altLang="vi-VN" sz="2400" dirty="0" err="1"/>
              <a:t>mà</a:t>
            </a:r>
            <a:r>
              <a:rPr lang="en-GB" altLang="vi-VN" sz="2400" dirty="0"/>
              <a:t> </a:t>
            </a:r>
            <a:r>
              <a:rPr lang="en-GB" altLang="vi-VN" sz="2400" dirty="0" err="1"/>
              <a:t>trong</a:t>
            </a:r>
            <a:r>
              <a:rPr lang="en-GB" altLang="vi-VN" sz="2400" dirty="0"/>
              <a:t> </a:t>
            </a:r>
            <a:r>
              <a:rPr lang="en-GB" altLang="vi-VN" sz="2400" dirty="0" err="1"/>
              <a:t>đó</a:t>
            </a:r>
            <a:r>
              <a:rPr lang="en-GB" altLang="vi-VN" sz="2400" dirty="0"/>
              <a:t> </a:t>
            </a:r>
            <a:r>
              <a:rPr lang="en-GB" altLang="vi-VN" sz="2400" dirty="0" err="1"/>
              <a:t>kết</a:t>
            </a:r>
            <a:r>
              <a:rPr lang="en-GB" altLang="vi-VN" sz="2400" dirty="0"/>
              <a:t> </a:t>
            </a:r>
            <a:r>
              <a:rPr lang="en-GB" altLang="vi-VN" sz="2400" dirty="0" err="1"/>
              <a:t>quả</a:t>
            </a:r>
            <a:r>
              <a:rPr lang="en-GB" altLang="vi-VN" sz="2400" dirty="0"/>
              <a:t> </a:t>
            </a:r>
            <a:r>
              <a:rPr lang="en-GB" altLang="vi-VN" sz="2400" dirty="0" err="1"/>
              <a:t>của</a:t>
            </a:r>
            <a:r>
              <a:rPr lang="en-GB" altLang="vi-VN" sz="2400" dirty="0"/>
              <a:t> </a:t>
            </a:r>
            <a:r>
              <a:rPr lang="en-GB" altLang="vi-VN" sz="2400" dirty="0" err="1"/>
              <a:t>một</a:t>
            </a:r>
            <a:r>
              <a:rPr lang="en-GB" altLang="vi-VN" sz="2400" dirty="0"/>
              <a:t> </a:t>
            </a:r>
            <a:r>
              <a:rPr lang="en-GB" altLang="vi-VN" sz="2400" dirty="0" err="1"/>
              <a:t>hãng</a:t>
            </a:r>
            <a:r>
              <a:rPr lang="en-GB" altLang="vi-VN" sz="2400" dirty="0"/>
              <a:t> (</a:t>
            </a:r>
            <a:r>
              <a:rPr lang="en-GB" altLang="vi-VN" sz="2400" dirty="0" err="1"/>
              <a:t>lợi</a:t>
            </a:r>
            <a:r>
              <a:rPr lang="en-GB" altLang="vi-VN" sz="2400" dirty="0"/>
              <a:t> </a:t>
            </a:r>
            <a:r>
              <a:rPr lang="en-GB" altLang="vi-VN" sz="2400" dirty="0" err="1"/>
              <a:t>nhuận</a:t>
            </a:r>
            <a:r>
              <a:rPr lang="en-GB" altLang="vi-VN" sz="2400" dirty="0"/>
              <a:t> hay </a:t>
            </a:r>
            <a:r>
              <a:rPr lang="en-GB" altLang="vi-VN" sz="2400" dirty="0" err="1"/>
              <a:t>lợi</a:t>
            </a:r>
            <a:r>
              <a:rPr lang="en-GB" altLang="vi-VN" sz="2400" dirty="0"/>
              <a:t> </a:t>
            </a:r>
            <a:r>
              <a:rPr lang="en-GB" altLang="vi-VN" sz="2400" dirty="0" err="1"/>
              <a:t>ích</a:t>
            </a:r>
            <a:r>
              <a:rPr lang="en-GB" altLang="vi-VN" sz="2400" dirty="0"/>
              <a:t>) </a:t>
            </a:r>
            <a:r>
              <a:rPr lang="en-GB" altLang="vi-VN" sz="2400" dirty="0" err="1"/>
              <a:t>phụ</a:t>
            </a:r>
            <a:r>
              <a:rPr lang="en-GB" altLang="vi-VN" sz="2400" dirty="0"/>
              <a:t> </a:t>
            </a:r>
            <a:r>
              <a:rPr lang="en-GB" altLang="vi-VN" sz="2400" dirty="0" err="1"/>
              <a:t>thuộc</a:t>
            </a:r>
            <a:r>
              <a:rPr lang="en-GB" altLang="vi-VN" sz="2400" dirty="0"/>
              <a:t> </a:t>
            </a:r>
            <a:r>
              <a:rPr lang="en-GB" altLang="vi-VN" sz="2400" dirty="0" err="1"/>
              <a:t>cốt</a:t>
            </a:r>
            <a:r>
              <a:rPr lang="en-GB" altLang="vi-VN" sz="2400" dirty="0"/>
              <a:t> </a:t>
            </a:r>
            <a:r>
              <a:rPr lang="en-GB" altLang="vi-VN" sz="2400" dirty="0" err="1"/>
              <a:t>yếu</a:t>
            </a:r>
            <a:r>
              <a:rPr lang="en-GB" altLang="vi-VN" sz="2400" dirty="0"/>
              <a:t> </a:t>
            </a:r>
            <a:r>
              <a:rPr lang="en-GB" altLang="vi-VN" sz="2400" dirty="0" err="1"/>
              <a:t>vào</a:t>
            </a:r>
            <a:r>
              <a:rPr lang="en-GB" altLang="vi-VN" sz="2400" dirty="0"/>
              <a:t> </a:t>
            </a:r>
            <a:r>
              <a:rPr lang="en-GB" altLang="vi-VN" sz="2400" dirty="0" err="1"/>
              <a:t>những</a:t>
            </a:r>
            <a:r>
              <a:rPr lang="en-GB" altLang="vi-VN" sz="2400" dirty="0"/>
              <a:t> </a:t>
            </a:r>
            <a:r>
              <a:rPr lang="en-GB" altLang="vi-VN" sz="2400" dirty="0" err="1"/>
              <a:t>quyết</a:t>
            </a:r>
            <a:r>
              <a:rPr lang="en-GB" altLang="vi-VN" sz="2400" dirty="0"/>
              <a:t> </a:t>
            </a:r>
            <a:r>
              <a:rPr lang="en-GB" altLang="vi-VN" sz="2400" dirty="0" err="1"/>
              <a:t>định</a:t>
            </a:r>
            <a:r>
              <a:rPr lang="en-GB" altLang="vi-VN" sz="2400" dirty="0"/>
              <a:t> </a:t>
            </a:r>
            <a:r>
              <a:rPr lang="en-GB" altLang="vi-VN" sz="2400" dirty="0" err="1"/>
              <a:t>của</a:t>
            </a:r>
            <a:r>
              <a:rPr lang="en-GB" altLang="vi-VN" sz="2400" dirty="0"/>
              <a:t> </a:t>
            </a:r>
            <a:r>
              <a:rPr lang="en-GB" altLang="vi-VN" sz="2400" dirty="0" err="1"/>
              <a:t>những</a:t>
            </a:r>
            <a:r>
              <a:rPr lang="en-GB" altLang="vi-VN" sz="2400" dirty="0"/>
              <a:t> </a:t>
            </a:r>
            <a:r>
              <a:rPr lang="en-GB" altLang="vi-VN" sz="2400" dirty="0" err="1"/>
              <a:t>hãng</a:t>
            </a:r>
            <a:r>
              <a:rPr lang="en-GB" altLang="vi-VN" sz="2400" dirty="0"/>
              <a:t> </a:t>
            </a:r>
            <a:r>
              <a:rPr lang="en-GB" altLang="vi-VN" sz="2400" dirty="0" err="1"/>
              <a:t>khác</a:t>
            </a:r>
            <a:r>
              <a:rPr lang="en-GB" altLang="vi-VN" sz="2400" dirty="0"/>
              <a:t>. </a:t>
            </a:r>
          </a:p>
          <a:p>
            <a:pPr eaLnBrk="1" hangingPunct="1">
              <a:lnSpc>
                <a:spcPct val="80000"/>
              </a:lnSpc>
            </a:pPr>
            <a:r>
              <a:rPr lang="en-GB" altLang="vi-VN" sz="2400" dirty="0"/>
              <a:t>Lý </a:t>
            </a:r>
            <a:r>
              <a:rPr lang="en-GB" altLang="vi-VN" sz="2400" dirty="0" err="1"/>
              <a:t>thuyết</a:t>
            </a:r>
            <a:r>
              <a:rPr lang="en-GB" altLang="vi-VN" sz="2400" dirty="0"/>
              <a:t> </a:t>
            </a:r>
            <a:r>
              <a:rPr lang="en-GB" altLang="vi-VN" sz="2400" dirty="0" err="1"/>
              <a:t>trò</a:t>
            </a:r>
            <a:r>
              <a:rPr lang="en-GB" altLang="vi-VN" sz="2400" dirty="0"/>
              <a:t> </a:t>
            </a:r>
            <a:r>
              <a:rPr lang="en-GB" altLang="vi-VN" sz="2400" dirty="0" err="1"/>
              <a:t>chơi</a:t>
            </a:r>
            <a:r>
              <a:rPr lang="en-GB" altLang="vi-VN" sz="2400" dirty="0"/>
              <a:t> </a:t>
            </a:r>
            <a:r>
              <a:rPr lang="en-GB" altLang="vi-VN" sz="2400" dirty="0" err="1"/>
              <a:t>là</a:t>
            </a:r>
            <a:r>
              <a:rPr lang="en-GB" altLang="vi-VN" sz="2400" dirty="0"/>
              <a:t> </a:t>
            </a:r>
            <a:r>
              <a:rPr lang="en-GB" altLang="vi-VN" sz="2400" dirty="0" err="1"/>
              <a:t>cách</a:t>
            </a:r>
            <a:r>
              <a:rPr lang="en-GB" altLang="vi-VN" sz="2400" dirty="0"/>
              <a:t> </a:t>
            </a:r>
            <a:r>
              <a:rPr lang="en-GB" altLang="vi-VN" sz="2400" dirty="0" err="1"/>
              <a:t>phân</a:t>
            </a:r>
            <a:r>
              <a:rPr lang="en-GB" altLang="vi-VN" sz="2400" dirty="0"/>
              <a:t> </a:t>
            </a:r>
            <a:r>
              <a:rPr lang="en-GB" altLang="vi-VN" sz="2400" dirty="0" err="1"/>
              <a:t>tích</a:t>
            </a:r>
            <a:r>
              <a:rPr lang="en-GB" altLang="vi-VN" sz="2400" dirty="0"/>
              <a:t> </a:t>
            </a:r>
            <a:r>
              <a:rPr lang="en-GB" altLang="vi-VN" sz="2400" dirty="0" err="1"/>
              <a:t>về</a:t>
            </a:r>
            <a:r>
              <a:rPr lang="en-GB" altLang="vi-VN" sz="2400" dirty="0"/>
              <a:t> </a:t>
            </a:r>
            <a:r>
              <a:rPr lang="en-GB" altLang="vi-VN" sz="2400" dirty="0" err="1"/>
              <a:t>những</a:t>
            </a:r>
            <a:r>
              <a:rPr lang="en-GB" altLang="vi-VN" sz="2400" dirty="0"/>
              <a:t> </a:t>
            </a:r>
            <a:r>
              <a:rPr lang="en-GB" altLang="vi-VN" sz="2400" dirty="0" err="1"/>
              <a:t>sự</a:t>
            </a:r>
            <a:r>
              <a:rPr lang="en-GB" altLang="vi-VN" sz="2400" dirty="0"/>
              <a:t> </a:t>
            </a:r>
            <a:r>
              <a:rPr lang="en-GB" altLang="vi-VN" sz="2400" dirty="0" err="1"/>
              <a:t>phụ</a:t>
            </a:r>
            <a:r>
              <a:rPr lang="en-GB" altLang="vi-VN" sz="2400" dirty="0"/>
              <a:t> </a:t>
            </a:r>
            <a:r>
              <a:rPr lang="en-GB" altLang="vi-VN" sz="2400" dirty="0" err="1"/>
              <a:t>thuộc</a:t>
            </a:r>
            <a:r>
              <a:rPr lang="en-GB" altLang="vi-VN" sz="2400" dirty="0"/>
              <a:t> </a:t>
            </a:r>
            <a:r>
              <a:rPr lang="en-GB" altLang="vi-VN" sz="2400" dirty="0" err="1"/>
              <a:t>lẫn</a:t>
            </a:r>
            <a:r>
              <a:rPr lang="en-GB" altLang="vi-VN" sz="2400" dirty="0"/>
              <a:t> </a:t>
            </a:r>
            <a:r>
              <a:rPr lang="en-GB" altLang="vi-VN" sz="2400" dirty="0" err="1"/>
              <a:t>nhau</a:t>
            </a:r>
            <a:r>
              <a:rPr lang="en-GB" altLang="vi-VN" sz="2400" dirty="0"/>
              <a:t> </a:t>
            </a:r>
            <a:r>
              <a:rPr lang="en-GB" altLang="vi-VN" sz="2400" dirty="0" err="1"/>
              <a:t>chiến</a:t>
            </a:r>
            <a:r>
              <a:rPr lang="en-GB" altLang="vi-VN" sz="2400" dirty="0"/>
              <a:t> </a:t>
            </a:r>
            <a:r>
              <a:rPr lang="en-GB" altLang="vi-VN" sz="2400" dirty="0" err="1"/>
              <a:t>lược</a:t>
            </a:r>
            <a:r>
              <a:rPr lang="en-GB" altLang="vi-VN" sz="2400" dirty="0"/>
              <a:t>. </a:t>
            </a:r>
          </a:p>
          <a:p>
            <a:pPr eaLnBrk="1" hangingPunct="1">
              <a:lnSpc>
                <a:spcPct val="80000"/>
              </a:lnSpc>
            </a:pPr>
            <a:r>
              <a:rPr lang="en-GB" altLang="vi-VN" sz="2400" dirty="0"/>
              <a:t>Lý </a:t>
            </a:r>
            <a:r>
              <a:rPr lang="en-GB" altLang="vi-VN" sz="2400" dirty="0" err="1"/>
              <a:t>thuyết</a:t>
            </a:r>
            <a:r>
              <a:rPr lang="en-GB" altLang="vi-VN" sz="2400" dirty="0"/>
              <a:t> </a:t>
            </a:r>
            <a:r>
              <a:rPr lang="en-GB" altLang="vi-VN" sz="2400" dirty="0" err="1"/>
              <a:t>trò</a:t>
            </a:r>
            <a:r>
              <a:rPr lang="en-GB" altLang="vi-VN" sz="2400" dirty="0"/>
              <a:t> </a:t>
            </a:r>
            <a:r>
              <a:rPr lang="en-GB" altLang="vi-VN" sz="2400" dirty="0" err="1"/>
              <a:t>chơi</a:t>
            </a:r>
            <a:r>
              <a:rPr lang="en-GB" altLang="vi-VN" sz="2400" dirty="0"/>
              <a:t> </a:t>
            </a:r>
            <a:r>
              <a:rPr lang="en-GB" altLang="vi-VN" sz="2400" dirty="0" err="1"/>
              <a:t>cung</a:t>
            </a:r>
            <a:r>
              <a:rPr lang="en-GB" altLang="vi-VN" sz="2400" dirty="0"/>
              <a:t> </a:t>
            </a:r>
            <a:r>
              <a:rPr lang="en-GB" altLang="vi-VN" sz="2400" dirty="0" err="1"/>
              <a:t>cấp</a:t>
            </a:r>
            <a:r>
              <a:rPr lang="en-GB" altLang="vi-VN" sz="2400" dirty="0"/>
              <a:t> </a:t>
            </a:r>
            <a:r>
              <a:rPr lang="en-GB" altLang="vi-VN" sz="2400" dirty="0" err="1"/>
              <a:t>một</a:t>
            </a:r>
            <a:r>
              <a:rPr lang="en-GB" altLang="vi-VN" sz="2400" dirty="0"/>
              <a:t> </a:t>
            </a:r>
            <a:r>
              <a:rPr lang="en-GB" altLang="vi-VN" sz="2400" dirty="0" err="1"/>
              <a:t>phương</a:t>
            </a:r>
            <a:r>
              <a:rPr lang="en-GB" altLang="vi-VN" sz="2400" dirty="0"/>
              <a:t> </a:t>
            </a:r>
            <a:r>
              <a:rPr lang="en-GB" altLang="vi-VN" sz="2400" dirty="0" err="1"/>
              <a:t>pháp</a:t>
            </a:r>
            <a:r>
              <a:rPr lang="en-GB" altLang="vi-VN" sz="2400" dirty="0"/>
              <a:t> logic </a:t>
            </a:r>
            <a:r>
              <a:rPr lang="en-GB" altLang="vi-VN" sz="2400" dirty="0" err="1"/>
              <a:t>và</a:t>
            </a:r>
            <a:r>
              <a:rPr lang="en-GB" altLang="vi-VN" sz="2400" dirty="0"/>
              <a:t> </a:t>
            </a:r>
            <a:r>
              <a:rPr lang="en-GB" altLang="vi-VN" sz="2400" dirty="0" err="1"/>
              <a:t>bài</a:t>
            </a:r>
            <a:r>
              <a:rPr lang="en-GB" altLang="vi-VN" sz="2400" dirty="0"/>
              <a:t> </a:t>
            </a:r>
            <a:r>
              <a:rPr lang="en-GB" altLang="vi-VN" sz="2400" dirty="0" err="1"/>
              <a:t>bản</a:t>
            </a:r>
            <a:r>
              <a:rPr lang="en-GB" altLang="vi-VN" sz="2400" dirty="0"/>
              <a:t> </a:t>
            </a:r>
            <a:r>
              <a:rPr lang="en-GB" altLang="vi-VN" sz="2400" dirty="0" err="1"/>
              <a:t>trong</a:t>
            </a:r>
            <a:r>
              <a:rPr lang="en-GB" altLang="vi-VN" sz="2400" dirty="0"/>
              <a:t> </a:t>
            </a:r>
            <a:r>
              <a:rPr lang="en-GB" altLang="vi-VN" sz="2400" dirty="0" err="1"/>
              <a:t>việc</a:t>
            </a:r>
            <a:r>
              <a:rPr lang="en-GB" altLang="vi-VN" sz="2400" dirty="0"/>
              <a:t> </a:t>
            </a:r>
            <a:r>
              <a:rPr lang="en-GB" altLang="vi-VN" sz="2400" dirty="0" err="1"/>
              <a:t>nghiên</a:t>
            </a:r>
            <a:r>
              <a:rPr lang="en-GB" altLang="vi-VN" sz="2400" dirty="0"/>
              <a:t> </a:t>
            </a:r>
            <a:r>
              <a:rPr lang="en-GB" altLang="vi-VN" sz="2400" dirty="0" err="1"/>
              <a:t>cứu</a:t>
            </a:r>
            <a:r>
              <a:rPr lang="en-GB" altLang="vi-VN" sz="2400" dirty="0"/>
              <a:t> </a:t>
            </a:r>
            <a:r>
              <a:rPr lang="en-GB" altLang="vi-VN" sz="2400" dirty="0" err="1"/>
              <a:t>những</a:t>
            </a:r>
            <a:r>
              <a:rPr lang="en-GB" altLang="vi-VN" sz="2400" dirty="0"/>
              <a:t> </a:t>
            </a:r>
            <a:r>
              <a:rPr lang="en-GB" altLang="vi-VN" sz="2400" dirty="0" err="1"/>
              <a:t>tình</a:t>
            </a:r>
            <a:r>
              <a:rPr lang="en-GB" altLang="vi-VN" sz="2400" dirty="0"/>
              <a:t> </a:t>
            </a:r>
            <a:r>
              <a:rPr lang="en-GB" altLang="vi-VN" sz="2400" dirty="0" err="1"/>
              <a:t>huống</a:t>
            </a:r>
            <a:r>
              <a:rPr lang="en-GB" altLang="vi-VN" sz="2400" dirty="0"/>
              <a:t> </a:t>
            </a:r>
            <a:r>
              <a:rPr lang="en-GB" altLang="vi-VN" sz="2400" dirty="0" err="1"/>
              <a:t>kinh</a:t>
            </a:r>
            <a:r>
              <a:rPr lang="en-GB" altLang="vi-VN" sz="2400" dirty="0"/>
              <a:t> </a:t>
            </a:r>
            <a:r>
              <a:rPr lang="en-GB" altLang="vi-VN" sz="2400" dirty="0" err="1"/>
              <a:t>doanh</a:t>
            </a:r>
            <a:r>
              <a:rPr lang="en-GB" altLang="vi-VN" sz="2400" dirty="0"/>
              <a:t>, hay "</a:t>
            </a:r>
            <a:r>
              <a:rPr lang="en-GB" altLang="vi-VN" sz="2400" dirty="0" err="1"/>
              <a:t>trò</a:t>
            </a:r>
            <a:r>
              <a:rPr lang="en-GB" altLang="vi-VN" sz="2400" dirty="0"/>
              <a:t> </a:t>
            </a:r>
            <a:r>
              <a:rPr lang="en-GB" altLang="vi-VN" sz="2400" dirty="0" err="1"/>
              <a:t>chơi</a:t>
            </a:r>
            <a:r>
              <a:rPr lang="en-GB" altLang="vi-VN" sz="2400" dirty="0"/>
              <a:t>“.</a:t>
            </a:r>
          </a:p>
          <a:p>
            <a:pPr eaLnBrk="1" hangingPunct="1">
              <a:lnSpc>
                <a:spcPct val="80000"/>
              </a:lnSpc>
            </a:pPr>
            <a:r>
              <a:rPr lang="en-GB" altLang="vi-VN" sz="2400" dirty="0"/>
              <a:t>Lý </a:t>
            </a:r>
            <a:r>
              <a:rPr lang="en-GB" altLang="vi-VN" sz="2400" dirty="0" err="1"/>
              <a:t>thuyết</a:t>
            </a:r>
            <a:r>
              <a:rPr lang="en-GB" altLang="vi-VN" sz="2400" dirty="0"/>
              <a:t> </a:t>
            </a:r>
            <a:r>
              <a:rPr lang="en-GB" altLang="vi-VN" sz="2400" dirty="0" err="1"/>
              <a:t>trò</a:t>
            </a:r>
            <a:r>
              <a:rPr lang="en-GB" altLang="vi-VN" sz="2400" dirty="0"/>
              <a:t> </a:t>
            </a:r>
            <a:r>
              <a:rPr lang="en-GB" altLang="vi-VN" sz="2400" dirty="0" err="1"/>
              <a:t>chơi</a:t>
            </a:r>
            <a:r>
              <a:rPr lang="en-GB" altLang="vi-VN" sz="2400" dirty="0"/>
              <a:t> </a:t>
            </a:r>
            <a:r>
              <a:rPr lang="en-GB" altLang="vi-VN" sz="2400" dirty="0" err="1"/>
              <a:t>có</a:t>
            </a:r>
            <a:r>
              <a:rPr lang="en-GB" altLang="vi-VN" sz="2400" dirty="0"/>
              <a:t> </a:t>
            </a:r>
            <a:r>
              <a:rPr lang="en-GB" altLang="vi-VN" sz="2400" dirty="0" err="1"/>
              <a:t>thể</a:t>
            </a:r>
            <a:r>
              <a:rPr lang="en-GB" altLang="vi-VN" sz="2400" dirty="0"/>
              <a:t> </a:t>
            </a:r>
            <a:r>
              <a:rPr lang="en-GB" altLang="vi-VN" sz="2400" dirty="0" err="1"/>
              <a:t>mô</a:t>
            </a:r>
            <a:r>
              <a:rPr lang="en-GB" altLang="vi-VN" sz="2400" dirty="0"/>
              <a:t> </a:t>
            </a:r>
            <a:r>
              <a:rPr lang="en-GB" altLang="vi-VN" sz="2400" dirty="0" err="1"/>
              <a:t>hình</a:t>
            </a:r>
            <a:r>
              <a:rPr lang="en-GB" altLang="vi-VN" sz="2400" dirty="0"/>
              <a:t> </a:t>
            </a:r>
            <a:r>
              <a:rPr lang="en-GB" altLang="vi-VN" sz="2400" dirty="0" err="1"/>
              <a:t>hiện</a:t>
            </a:r>
            <a:r>
              <a:rPr lang="en-GB" altLang="vi-VN" sz="2400" dirty="0"/>
              <a:t> </a:t>
            </a:r>
            <a:r>
              <a:rPr lang="en-GB" altLang="vi-VN" sz="2400" dirty="0" err="1"/>
              <a:t>thực</a:t>
            </a:r>
            <a:r>
              <a:rPr lang="en-GB" altLang="vi-VN" sz="2400" dirty="0"/>
              <a:t> </a:t>
            </a:r>
            <a:r>
              <a:rPr lang="en-GB" altLang="vi-VN" sz="2400" dirty="0" err="1"/>
              <a:t>hóa</a:t>
            </a:r>
            <a:r>
              <a:rPr lang="en-GB" altLang="vi-VN" sz="2400" dirty="0"/>
              <a:t> </a:t>
            </a:r>
            <a:r>
              <a:rPr lang="en-GB" altLang="vi-VN" sz="2400" dirty="0" err="1"/>
              <a:t>những</a:t>
            </a:r>
            <a:r>
              <a:rPr lang="en-GB" altLang="vi-VN" sz="2400" dirty="0"/>
              <a:t> </a:t>
            </a:r>
            <a:r>
              <a:rPr lang="en-GB" altLang="vi-VN" sz="2400" dirty="0" err="1"/>
              <a:t>tình</a:t>
            </a:r>
            <a:r>
              <a:rPr lang="en-GB" altLang="vi-VN" sz="2400" dirty="0"/>
              <a:t> </a:t>
            </a:r>
            <a:r>
              <a:rPr lang="en-GB" altLang="vi-VN" sz="2400" dirty="0" err="1"/>
              <a:t>huống</a:t>
            </a:r>
            <a:r>
              <a:rPr lang="en-GB" altLang="vi-VN" sz="2400" dirty="0"/>
              <a:t> </a:t>
            </a:r>
            <a:r>
              <a:rPr lang="en-GB" altLang="vi-VN" sz="2400" dirty="0" err="1"/>
              <a:t>kinh</a:t>
            </a:r>
            <a:r>
              <a:rPr lang="en-GB" altLang="vi-VN" sz="2400" dirty="0"/>
              <a:t> </a:t>
            </a:r>
            <a:r>
              <a:rPr lang="en-GB" altLang="vi-VN" sz="2400" dirty="0" err="1"/>
              <a:t>doanh</a:t>
            </a:r>
            <a:r>
              <a:rPr lang="en-GB" altLang="vi-VN" sz="2400" dirty="0"/>
              <a:t>, </a:t>
            </a:r>
            <a:r>
              <a:rPr lang="en-GB" altLang="vi-VN" sz="2400" dirty="0" err="1"/>
              <a:t>nó</a:t>
            </a:r>
            <a:r>
              <a:rPr lang="en-GB" altLang="vi-VN" sz="2400" dirty="0"/>
              <a:t> </a:t>
            </a:r>
            <a:r>
              <a:rPr lang="en-GB" altLang="vi-VN" sz="2400" dirty="0" err="1"/>
              <a:t>giúp</a:t>
            </a:r>
            <a:r>
              <a:rPr lang="en-GB" altLang="vi-VN" sz="2400" dirty="0"/>
              <a:t> </a:t>
            </a:r>
            <a:r>
              <a:rPr lang="en-GB" altLang="vi-VN" sz="2400" dirty="0" err="1"/>
              <a:t>những</a:t>
            </a:r>
            <a:r>
              <a:rPr lang="en-GB" altLang="vi-VN" sz="2400" dirty="0"/>
              <a:t> </a:t>
            </a:r>
            <a:r>
              <a:rPr lang="en-GB" altLang="vi-VN" sz="2400" dirty="0" err="1"/>
              <a:t>hãng</a:t>
            </a:r>
            <a:r>
              <a:rPr lang="en-GB" altLang="vi-VN" sz="2400" dirty="0"/>
              <a:t> </a:t>
            </a:r>
            <a:r>
              <a:rPr lang="en-GB" altLang="vi-VN" sz="2400" dirty="0" err="1"/>
              <a:t>kinh</a:t>
            </a:r>
            <a:r>
              <a:rPr lang="en-GB" altLang="vi-VN" sz="2400" dirty="0"/>
              <a:t> </a:t>
            </a:r>
            <a:r>
              <a:rPr lang="en-GB" altLang="vi-VN" sz="2400" dirty="0" err="1"/>
              <a:t>doanh</a:t>
            </a:r>
            <a:r>
              <a:rPr lang="en-GB" altLang="vi-VN" sz="2400" dirty="0"/>
              <a:t> </a:t>
            </a:r>
            <a:r>
              <a:rPr lang="en-GB" altLang="vi-VN" sz="2400" dirty="0" err="1"/>
              <a:t>đưa</a:t>
            </a:r>
            <a:r>
              <a:rPr lang="en-GB" altLang="vi-VN" sz="2400" dirty="0"/>
              <a:t> </a:t>
            </a:r>
            <a:r>
              <a:rPr lang="en-GB" altLang="vi-VN" sz="2400" dirty="0" err="1"/>
              <a:t>ra</a:t>
            </a:r>
            <a:r>
              <a:rPr lang="en-GB" altLang="vi-VN" sz="2400" dirty="0"/>
              <a:t> </a:t>
            </a:r>
            <a:r>
              <a:rPr lang="en-GB" altLang="vi-VN" sz="2400" dirty="0" err="1"/>
              <a:t>những</a:t>
            </a:r>
            <a:r>
              <a:rPr lang="en-GB" altLang="vi-VN" sz="2400" dirty="0"/>
              <a:t> </a:t>
            </a:r>
            <a:r>
              <a:rPr lang="en-GB" altLang="vi-VN" sz="2400" dirty="0" err="1"/>
              <a:t>quyết</a:t>
            </a:r>
            <a:r>
              <a:rPr lang="en-GB" altLang="vi-VN" sz="2400" dirty="0"/>
              <a:t> </a:t>
            </a:r>
            <a:r>
              <a:rPr lang="en-GB" altLang="vi-VN" sz="2400" dirty="0" err="1"/>
              <a:t>định</a:t>
            </a:r>
            <a:r>
              <a:rPr lang="en-GB" altLang="vi-VN" sz="2400" dirty="0"/>
              <a:t> </a:t>
            </a:r>
            <a:r>
              <a:rPr lang="en-GB" altLang="vi-VN" sz="2400" dirty="0" err="1"/>
              <a:t>tối</a:t>
            </a:r>
            <a:r>
              <a:rPr lang="en-GB" altLang="vi-VN" sz="2400" dirty="0"/>
              <a:t> </a:t>
            </a:r>
            <a:r>
              <a:rPr lang="en-GB" altLang="vi-VN" sz="2400" dirty="0" err="1"/>
              <a:t>ưu</a:t>
            </a:r>
            <a:r>
              <a:rPr lang="en-GB" altLang="vi-VN" sz="2400" dirty="0"/>
              <a:t> </a:t>
            </a:r>
            <a:r>
              <a:rPr lang="en-GB" altLang="vi-VN" sz="2400" dirty="0" err="1"/>
              <a:t>và</a:t>
            </a:r>
            <a:r>
              <a:rPr lang="en-GB" altLang="vi-VN" sz="2400" dirty="0"/>
              <a:t> </a:t>
            </a:r>
            <a:r>
              <a:rPr lang="en-GB" altLang="vi-VN" sz="2400" dirty="0" err="1"/>
              <a:t>chọn</a:t>
            </a:r>
            <a:r>
              <a:rPr lang="en-GB" altLang="vi-VN" sz="2400" dirty="0"/>
              <a:t> </a:t>
            </a:r>
            <a:r>
              <a:rPr lang="en-GB" altLang="vi-VN" sz="2400" dirty="0" err="1"/>
              <a:t>những</a:t>
            </a:r>
            <a:r>
              <a:rPr lang="en-GB" altLang="vi-VN" sz="2400" dirty="0"/>
              <a:t> </a:t>
            </a:r>
            <a:r>
              <a:rPr lang="en-GB" altLang="vi-VN" sz="2400" dirty="0" err="1"/>
              <a:t>hành</a:t>
            </a:r>
            <a:r>
              <a:rPr lang="en-GB" altLang="vi-VN" sz="2400" dirty="0"/>
              <a:t> </a:t>
            </a:r>
            <a:r>
              <a:rPr lang="en-GB" altLang="vi-VN" sz="2400" dirty="0" err="1"/>
              <a:t>động</a:t>
            </a:r>
            <a:r>
              <a:rPr lang="en-GB" altLang="vi-VN" sz="2400" dirty="0"/>
              <a:t> </a:t>
            </a:r>
            <a:r>
              <a:rPr lang="en-GB" altLang="vi-VN" sz="2400" dirty="0" err="1"/>
              <a:t>tối</a:t>
            </a:r>
            <a:r>
              <a:rPr lang="en-GB" altLang="vi-VN" sz="2400" dirty="0"/>
              <a:t> </a:t>
            </a:r>
            <a:r>
              <a:rPr lang="en-GB" altLang="vi-VN" sz="2400" dirty="0" err="1"/>
              <a:t>ưu</a:t>
            </a:r>
            <a:r>
              <a:rPr lang="en-GB" altLang="vi-VN" sz="2400" dirty="0"/>
              <a:t>. </a:t>
            </a:r>
            <a:r>
              <a:rPr lang="en-US" altLang="vi-VN" sz="2400" dirty="0"/>
              <a:t> </a:t>
            </a:r>
          </a:p>
          <a:p>
            <a:pPr eaLnBrk="1" hangingPunct="1">
              <a:lnSpc>
                <a:spcPct val="80000"/>
              </a:lnSpc>
            </a:pPr>
            <a:endParaRPr lang="en-US" altLang="vi-V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5A197E8E-AC69-803C-8887-335218531743}"/>
              </a:ext>
            </a:extLst>
          </p:cNvPr>
          <p:cNvSpPr>
            <a:spLocks noGrp="1" noChangeArrowheads="1"/>
          </p:cNvSpPr>
          <p:nvPr>
            <p:ph type="title"/>
          </p:nvPr>
        </p:nvSpPr>
        <p:spPr/>
        <p:txBody>
          <a:bodyPr/>
          <a:lstStyle/>
          <a:p>
            <a:endParaRPr lang="vi-VN" altLang="en-US"/>
          </a:p>
        </p:txBody>
      </p:sp>
      <p:pic>
        <p:nvPicPr>
          <p:cNvPr id="8195" name="Content Placeholder 4">
            <a:extLst>
              <a:ext uri="{FF2B5EF4-FFF2-40B4-BE49-F238E27FC236}">
                <a16:creationId xmlns:a16="http://schemas.microsoft.com/office/drawing/2014/main" id="{3927CD8D-5985-9FDD-9963-6B6B5997599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6660" y="1672166"/>
            <a:ext cx="10972800" cy="3513667"/>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38039586-2DEA-200D-57C7-7A1E83F6E22B}"/>
              </a:ext>
            </a:extLst>
          </p:cNvPr>
          <p:cNvSpPr>
            <a:spLocks noGrp="1" noChangeArrowheads="1"/>
          </p:cNvSpPr>
          <p:nvPr>
            <p:ph type="title"/>
          </p:nvPr>
        </p:nvSpPr>
        <p:spPr/>
        <p:txBody>
          <a:bodyPr/>
          <a:lstStyle/>
          <a:p>
            <a:endParaRPr lang="vi-VN" altLang="en-US"/>
          </a:p>
        </p:txBody>
      </p:sp>
      <p:sp>
        <p:nvSpPr>
          <p:cNvPr id="9219" name="Content Placeholder 2">
            <a:extLst>
              <a:ext uri="{FF2B5EF4-FFF2-40B4-BE49-F238E27FC236}">
                <a16:creationId xmlns:a16="http://schemas.microsoft.com/office/drawing/2014/main" id="{7CBB0CA9-38C3-B073-119C-703498E7188B}"/>
              </a:ext>
            </a:extLst>
          </p:cNvPr>
          <p:cNvSpPr>
            <a:spLocks noGrp="1" noChangeArrowheads="1"/>
          </p:cNvSpPr>
          <p:nvPr>
            <p:ph idx="1"/>
          </p:nvPr>
        </p:nvSpPr>
        <p:spPr/>
        <p:txBody>
          <a:bodyPr/>
          <a:lstStyle/>
          <a:p>
            <a:endParaRPr lang="vi-VN" altLang="en-US"/>
          </a:p>
        </p:txBody>
      </p:sp>
      <p:pic>
        <p:nvPicPr>
          <p:cNvPr id="9220" name="Picture 4">
            <a:extLst>
              <a:ext uri="{FF2B5EF4-FFF2-40B4-BE49-F238E27FC236}">
                <a16:creationId xmlns:a16="http://schemas.microsoft.com/office/drawing/2014/main" id="{AC117836-2674-E565-7360-6E79D1EA04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295400"/>
            <a:ext cx="9144000" cy="368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7EED228C-64C7-412A-F09B-1F021CD6149C}"/>
              </a:ext>
            </a:extLst>
          </p:cNvPr>
          <p:cNvSpPr>
            <a:spLocks noGrp="1" noChangeArrowheads="1"/>
          </p:cNvSpPr>
          <p:nvPr>
            <p:ph type="title"/>
          </p:nvPr>
        </p:nvSpPr>
        <p:spPr/>
        <p:txBody>
          <a:bodyPr/>
          <a:lstStyle/>
          <a:p>
            <a:endParaRPr lang="vi-VN" altLang="en-US"/>
          </a:p>
        </p:txBody>
      </p:sp>
      <p:sp>
        <p:nvSpPr>
          <p:cNvPr id="10243" name="Content Placeholder 2">
            <a:extLst>
              <a:ext uri="{FF2B5EF4-FFF2-40B4-BE49-F238E27FC236}">
                <a16:creationId xmlns:a16="http://schemas.microsoft.com/office/drawing/2014/main" id="{A2DD3E0A-9F87-96DF-545A-75FABD3CF136}"/>
              </a:ext>
            </a:extLst>
          </p:cNvPr>
          <p:cNvSpPr>
            <a:spLocks noGrp="1" noChangeArrowheads="1"/>
          </p:cNvSpPr>
          <p:nvPr>
            <p:ph idx="1"/>
          </p:nvPr>
        </p:nvSpPr>
        <p:spPr/>
        <p:txBody>
          <a:bodyPr/>
          <a:lstStyle/>
          <a:p>
            <a:endParaRPr lang="vi-VN" altLang="en-US"/>
          </a:p>
        </p:txBody>
      </p:sp>
      <p:pic>
        <p:nvPicPr>
          <p:cNvPr id="10244" name="Picture 4">
            <a:extLst>
              <a:ext uri="{FF2B5EF4-FFF2-40B4-BE49-F238E27FC236}">
                <a16:creationId xmlns:a16="http://schemas.microsoft.com/office/drawing/2014/main" id="{35A9B893-D9AF-900C-C6E4-F2BBAB85FD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417639"/>
            <a:ext cx="9144000" cy="295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23E12072-7185-3259-4920-5F00FE648BB0}"/>
              </a:ext>
            </a:extLst>
          </p:cNvPr>
          <p:cNvSpPr>
            <a:spLocks noGrp="1" noChangeArrowheads="1"/>
          </p:cNvSpPr>
          <p:nvPr>
            <p:ph type="title"/>
          </p:nvPr>
        </p:nvSpPr>
        <p:spPr/>
        <p:txBody>
          <a:bodyPr/>
          <a:lstStyle/>
          <a:p>
            <a:endParaRPr lang="vi-VN" altLang="en-US"/>
          </a:p>
        </p:txBody>
      </p:sp>
      <p:sp>
        <p:nvSpPr>
          <p:cNvPr id="11267" name="Content Placeholder 2">
            <a:extLst>
              <a:ext uri="{FF2B5EF4-FFF2-40B4-BE49-F238E27FC236}">
                <a16:creationId xmlns:a16="http://schemas.microsoft.com/office/drawing/2014/main" id="{B425149D-AF58-6785-B600-BD802B7652FC}"/>
              </a:ext>
            </a:extLst>
          </p:cNvPr>
          <p:cNvSpPr>
            <a:spLocks noGrp="1" noChangeArrowheads="1"/>
          </p:cNvSpPr>
          <p:nvPr>
            <p:ph idx="1"/>
          </p:nvPr>
        </p:nvSpPr>
        <p:spPr/>
        <p:txBody>
          <a:bodyPr/>
          <a:lstStyle/>
          <a:p>
            <a:endParaRPr lang="vi-VN" altLang="en-US"/>
          </a:p>
        </p:txBody>
      </p:sp>
      <p:pic>
        <p:nvPicPr>
          <p:cNvPr id="11268" name="Picture 4">
            <a:extLst>
              <a:ext uri="{FF2B5EF4-FFF2-40B4-BE49-F238E27FC236}">
                <a16:creationId xmlns:a16="http://schemas.microsoft.com/office/drawing/2014/main" id="{5D5C4D31-456F-9CF5-23B0-2605633FB6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600200"/>
            <a:ext cx="9144000" cy="327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Vì sao lý thuyết trò chơi hữu ích cho thiết kế game giáo dục?</a:t>
            </a:r>
            <a:endParaRPr lang="en-US" sz="2200" dirty="0"/>
          </a:p>
        </p:txBody>
      </p:sp>
      <p:sp>
        <p:nvSpPr>
          <p:cNvPr id="4" name="Text 2"/>
          <p:cNvSpPr/>
          <p:nvPr/>
        </p:nvSpPr>
        <p:spPr>
          <a:xfrm>
            <a:off x="594360" y="1097280"/>
            <a:ext cx="6492240" cy="2834640"/>
          </a:xfrm>
          <a:prstGeom prst="rect">
            <a:avLst/>
          </a:prstGeom>
          <a:noFill/>
          <a:ln/>
        </p:spPr>
        <p:txBody>
          <a:bodyPr wrap="square" rtlCol="0" anchor="t"/>
          <a:lstStyle/>
          <a:p>
            <a:pPr marL="228600" indent="-228600">
              <a:lnSpc>
                <a:spcPct val="120000"/>
              </a:lnSpc>
              <a:buSzPct val="100000"/>
              <a:buChar char="•"/>
            </a:pPr>
            <a:r>
              <a:rPr lang="en-US" sz="1800" dirty="0">
                <a:solidFill>
                  <a:srgbClr val="374151"/>
                </a:solidFill>
              </a:rPr>
              <a:t>Thiết kế game là “thiết kế lựa chọn”: người chơi tối ưu hoá lợi ích của họ.</a:t>
            </a:r>
            <a:endParaRPr lang="en-US" sz="1800" dirty="0"/>
          </a:p>
          <a:p>
            <a:pPr marL="228600" indent="-228600">
              <a:lnSpc>
                <a:spcPct val="120000"/>
              </a:lnSpc>
              <a:buSzPct val="100000"/>
              <a:buChar char="•"/>
            </a:pPr>
            <a:r>
              <a:rPr lang="en-US" sz="1800" dirty="0">
                <a:solidFill>
                  <a:srgbClr val="374151"/>
                </a:solidFill>
              </a:rPr>
              <a:t>Người học tương tác → hành vi phụ thuộc lẫn nhau (strategic interaction).</a:t>
            </a:r>
            <a:endParaRPr lang="en-US" sz="1800" dirty="0"/>
          </a:p>
          <a:p>
            <a:pPr marL="228600" indent="-228600">
              <a:lnSpc>
                <a:spcPct val="120000"/>
              </a:lnSpc>
              <a:buSzPct val="100000"/>
              <a:buChar char="•"/>
            </a:pPr>
            <a:r>
              <a:rPr lang="en-US" sz="1800" dirty="0">
                <a:solidFill>
                  <a:srgbClr val="374151"/>
                </a:solidFill>
              </a:rPr>
              <a:t>Nhiều vấn đề EdTech là “equilibrium xấu”: free-riding, gian lận, bỏ cuộc, toxic cạnh tranh.</a:t>
            </a:r>
            <a:endParaRPr lang="en-US" sz="1800" dirty="0"/>
          </a:p>
          <a:p>
            <a:pPr marL="228600" indent="-228600">
              <a:lnSpc>
                <a:spcPct val="120000"/>
              </a:lnSpc>
              <a:buSzPct val="100000"/>
              <a:buChar char="•"/>
            </a:pPr>
            <a:r>
              <a:rPr lang="en-US" sz="1800" dirty="0">
                <a:solidFill>
                  <a:srgbClr val="374151"/>
                </a:solidFill>
              </a:rPr>
              <a:t>Game theory cho ta ngôn ngữ để: dự đoán hành vi → chỉnh luật chơi → đổi equilibrium.</a:t>
            </a:r>
            <a:endParaRPr lang="en-US" sz="1800" dirty="0"/>
          </a:p>
        </p:txBody>
      </p:sp>
      <p:sp>
        <p:nvSpPr>
          <p:cNvPr id="5" name="Shape 3"/>
          <p:cNvSpPr/>
          <p:nvPr/>
        </p:nvSpPr>
        <p:spPr>
          <a:xfrm>
            <a:off x="7360920" y="1143000"/>
            <a:ext cx="4236415" cy="256032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6" name="Shape 4"/>
          <p:cNvSpPr/>
          <p:nvPr/>
        </p:nvSpPr>
        <p:spPr>
          <a:xfrm>
            <a:off x="7360920" y="1143000"/>
            <a:ext cx="109728" cy="2560320"/>
          </a:xfrm>
          <a:prstGeom prst="rect">
            <a:avLst/>
          </a:prstGeom>
          <a:solidFill>
            <a:srgbClr val="1F9D8A"/>
          </a:solidFill>
          <a:ln w="12700">
            <a:solidFill>
              <a:srgbClr val="1F9D8A"/>
            </a:solidFill>
            <a:prstDash val="solid"/>
          </a:ln>
        </p:spPr>
      </p:sp>
      <p:sp>
        <p:nvSpPr>
          <p:cNvPr id="7" name="Text 5"/>
          <p:cNvSpPr/>
          <p:nvPr/>
        </p:nvSpPr>
        <p:spPr>
          <a:xfrm>
            <a:off x="7589520" y="1307592"/>
            <a:ext cx="3916375" cy="320040"/>
          </a:xfrm>
          <a:prstGeom prst="rect">
            <a:avLst/>
          </a:prstGeom>
          <a:noFill/>
          <a:ln/>
        </p:spPr>
        <p:txBody>
          <a:bodyPr wrap="square" rtlCol="0" anchor="ctr"/>
          <a:lstStyle/>
          <a:p>
            <a:pPr marL="0" indent="0">
              <a:buNone/>
            </a:pPr>
            <a:r>
              <a:rPr lang="en-US" sz="1800" b="1" dirty="0">
                <a:solidFill>
                  <a:srgbClr val="111827"/>
                </a:solidFill>
              </a:rPr>
              <a:t>Khung 3 câu hỏi thiết kế</a:t>
            </a:r>
            <a:endParaRPr lang="en-US" sz="1800" dirty="0"/>
          </a:p>
        </p:txBody>
      </p:sp>
      <p:sp>
        <p:nvSpPr>
          <p:cNvPr id="8" name="Text 6"/>
          <p:cNvSpPr/>
          <p:nvPr/>
        </p:nvSpPr>
        <p:spPr>
          <a:xfrm>
            <a:off x="7680960" y="1673352"/>
            <a:ext cx="3733495" cy="187452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1) Người chơi là ai? (học sinh, nhóm, AI tutor, giáo viên, hệ thống)</a:t>
            </a:r>
            <a:endParaRPr lang="en-US" sz="1500" dirty="0"/>
          </a:p>
          <a:p>
            <a:pPr marL="190500" indent="-190500">
              <a:lnSpc>
                <a:spcPct val="120000"/>
              </a:lnSpc>
              <a:buSzPct val="100000"/>
              <a:buChar char="•"/>
            </a:pPr>
            <a:r>
              <a:rPr lang="en-US" sz="1500" dirty="0">
                <a:solidFill>
                  <a:srgbClr val="374151"/>
                </a:solidFill>
              </a:rPr>
              <a:t>2) Họ chọn gì? (chiến lược/hành động) và thông tin họ thấy là gì?</a:t>
            </a:r>
            <a:endParaRPr lang="en-US" sz="1500" dirty="0"/>
          </a:p>
          <a:p>
            <a:pPr marL="190500" indent="-190500">
              <a:lnSpc>
                <a:spcPct val="120000"/>
              </a:lnSpc>
              <a:buSzPct val="100000"/>
              <a:buChar char="•"/>
            </a:pPr>
            <a:r>
              <a:rPr lang="en-US" sz="1500" dirty="0">
                <a:solidFill>
                  <a:srgbClr val="374151"/>
                </a:solidFill>
              </a:rPr>
              <a:t>3) Payoff gồm gì? (điểm, thời gian, vui, học, uy tín, rủi ro…)</a:t>
            </a:r>
            <a:endParaRPr lang="en-US" sz="1500" dirty="0"/>
          </a:p>
        </p:txBody>
      </p:sp>
      <p:sp>
        <p:nvSpPr>
          <p:cNvPr id="9" name="Shape 7"/>
          <p:cNvSpPr/>
          <p:nvPr/>
        </p:nvSpPr>
        <p:spPr>
          <a:xfrm>
            <a:off x="7360920" y="3886200"/>
            <a:ext cx="4236415" cy="214884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10" name="Shape 8"/>
          <p:cNvSpPr/>
          <p:nvPr/>
        </p:nvSpPr>
        <p:spPr>
          <a:xfrm>
            <a:off x="7360920" y="3886200"/>
            <a:ext cx="109728" cy="2148840"/>
          </a:xfrm>
          <a:prstGeom prst="rect">
            <a:avLst/>
          </a:prstGeom>
          <a:solidFill>
            <a:srgbClr val="F59E0B"/>
          </a:solidFill>
          <a:ln w="12700">
            <a:solidFill>
              <a:srgbClr val="F59E0B"/>
            </a:solidFill>
            <a:prstDash val="solid"/>
          </a:ln>
        </p:spPr>
      </p:sp>
      <p:sp>
        <p:nvSpPr>
          <p:cNvPr id="11" name="Text 9"/>
          <p:cNvSpPr/>
          <p:nvPr/>
        </p:nvSpPr>
        <p:spPr>
          <a:xfrm>
            <a:off x="7589520" y="4050792"/>
            <a:ext cx="3916375" cy="320040"/>
          </a:xfrm>
          <a:prstGeom prst="rect">
            <a:avLst/>
          </a:prstGeom>
          <a:noFill/>
          <a:ln/>
        </p:spPr>
        <p:txBody>
          <a:bodyPr wrap="square" rtlCol="0" anchor="ctr"/>
          <a:lstStyle/>
          <a:p>
            <a:pPr marL="0" indent="0">
              <a:buNone/>
            </a:pPr>
            <a:r>
              <a:rPr lang="en-US" sz="1800" b="1" dirty="0">
                <a:solidFill>
                  <a:srgbClr val="111827"/>
                </a:solidFill>
              </a:rPr>
              <a:t>Ví dụ nhanh</a:t>
            </a:r>
            <a:endParaRPr lang="en-US" sz="1800" dirty="0"/>
          </a:p>
        </p:txBody>
      </p:sp>
      <p:sp>
        <p:nvSpPr>
          <p:cNvPr id="12" name="Text 10"/>
          <p:cNvSpPr/>
          <p:nvPr/>
        </p:nvSpPr>
        <p:spPr>
          <a:xfrm>
            <a:off x="7680960" y="4416552"/>
            <a:ext cx="3733495" cy="146304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“Boss tuần” có thưởng hiếm → người chơi có hợp tác thật không hay chỉ “ké” nhóm?</a:t>
            </a:r>
            <a:endParaRPr lang="en-US" sz="1500" dirty="0"/>
          </a:p>
          <a:p>
            <a:pPr marL="190500" indent="-190500">
              <a:lnSpc>
                <a:spcPct val="120000"/>
              </a:lnSpc>
              <a:buSzPct val="100000"/>
              <a:buChar char="•"/>
            </a:pPr>
            <a:r>
              <a:rPr lang="en-US" sz="1500" dirty="0">
                <a:solidFill>
                  <a:srgbClr val="374151"/>
                </a:solidFill>
              </a:rPr>
              <a:t>Leaderboard có khiến người yếu bỏ cuộc? (động lực tương đối)</a:t>
            </a:r>
            <a:endParaRPr lang="en-US" sz="1500" dirty="0"/>
          </a:p>
        </p:txBody>
      </p:sp>
      <p:sp>
        <p:nvSpPr>
          <p:cNvPr id="14" name="Text 11"/>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Mô hình toán học: strategic-form game</a:t>
            </a:r>
            <a:endParaRPr lang="en-US" sz="2200" dirty="0"/>
          </a:p>
        </p:txBody>
      </p:sp>
      <p:sp>
        <p:nvSpPr>
          <p:cNvPr id="4" name="Text 2"/>
          <p:cNvSpPr/>
          <p:nvPr/>
        </p:nvSpPr>
        <p:spPr>
          <a:xfrm>
            <a:off x="594360" y="1051560"/>
            <a:ext cx="11002975" cy="365760"/>
          </a:xfrm>
          <a:prstGeom prst="rect">
            <a:avLst/>
          </a:prstGeom>
          <a:noFill/>
          <a:ln/>
        </p:spPr>
        <p:txBody>
          <a:bodyPr wrap="square" rtlCol="0" anchor="ctr"/>
          <a:lstStyle/>
          <a:p>
            <a:pPr marL="0" indent="0">
              <a:buNone/>
            </a:pPr>
            <a:r>
              <a:rPr lang="en-US" sz="2000" b="1" dirty="0">
                <a:solidFill>
                  <a:srgbClr val="111827"/>
                </a:solidFill>
              </a:rPr>
              <a:t>Một game (dạng chiến lược) thường được mô tả bởi bộ:</a:t>
            </a:r>
            <a:endParaRPr lang="en-US" sz="2000" dirty="0"/>
          </a:p>
        </p:txBody>
      </p:sp>
      <p:sp>
        <p:nvSpPr>
          <p:cNvPr id="5" name="Shape 3"/>
          <p:cNvSpPr/>
          <p:nvPr/>
        </p:nvSpPr>
        <p:spPr>
          <a:xfrm>
            <a:off x="594360" y="1554480"/>
            <a:ext cx="6309360" cy="1143000"/>
          </a:xfrm>
          <a:prstGeom prst="roundRect">
            <a:avLst/>
          </a:prstGeom>
          <a:solidFill>
            <a:srgbClr val="F8FAFC"/>
          </a:solidFill>
          <a:ln w="12700">
            <a:solidFill>
              <a:srgbClr val="CBD5E1"/>
            </a:solidFill>
            <a:prstDash val="solid"/>
          </a:ln>
        </p:spPr>
      </p:sp>
      <p:sp>
        <p:nvSpPr>
          <p:cNvPr id="6" name="Text 4"/>
          <p:cNvSpPr/>
          <p:nvPr/>
        </p:nvSpPr>
        <p:spPr>
          <a:xfrm>
            <a:off x="594360" y="1755648"/>
            <a:ext cx="6309360" cy="640080"/>
          </a:xfrm>
          <a:prstGeom prst="rect">
            <a:avLst/>
          </a:prstGeom>
          <a:noFill/>
          <a:ln/>
        </p:spPr>
        <p:txBody>
          <a:bodyPr wrap="square" rtlCol="0" anchor="ctr"/>
          <a:lstStyle/>
          <a:p>
            <a:pPr marL="0" indent="0" algn="ctr">
              <a:buNone/>
            </a:pPr>
            <a:r>
              <a:rPr lang="en-US" sz="3600" b="1" dirty="0">
                <a:solidFill>
                  <a:srgbClr val="0B3D91"/>
                </a:solidFill>
              </a:rPr>
              <a:t>G = (N, (Sᵢ)ᵢ∈N, (uᵢ)ᵢ∈N)</a:t>
            </a:r>
            <a:endParaRPr lang="en-US" sz="3600" dirty="0"/>
          </a:p>
        </p:txBody>
      </p:sp>
      <p:sp>
        <p:nvSpPr>
          <p:cNvPr id="7" name="Text 5"/>
          <p:cNvSpPr/>
          <p:nvPr/>
        </p:nvSpPr>
        <p:spPr>
          <a:xfrm>
            <a:off x="594360" y="2880360"/>
            <a:ext cx="6492240" cy="1828800"/>
          </a:xfrm>
          <a:prstGeom prst="rect">
            <a:avLst/>
          </a:prstGeom>
          <a:noFill/>
          <a:ln/>
        </p:spPr>
        <p:txBody>
          <a:bodyPr wrap="square" rtlCol="0" anchor="t"/>
          <a:lstStyle/>
          <a:p>
            <a:pPr marL="228600" indent="-228600">
              <a:lnSpc>
                <a:spcPct val="120000"/>
              </a:lnSpc>
              <a:buSzPct val="100000"/>
              <a:buChar char="•"/>
            </a:pPr>
            <a:r>
              <a:rPr lang="en-US" sz="1800" dirty="0">
                <a:solidFill>
                  <a:srgbClr val="374151"/>
                </a:solidFill>
              </a:rPr>
              <a:t>N: tập người chơi (players).</a:t>
            </a:r>
            <a:endParaRPr lang="en-US" sz="1800" dirty="0"/>
          </a:p>
          <a:p>
            <a:pPr marL="228600" indent="-228600">
              <a:lnSpc>
                <a:spcPct val="120000"/>
              </a:lnSpc>
              <a:buSzPct val="100000"/>
              <a:buChar char="•"/>
            </a:pPr>
            <a:r>
              <a:rPr lang="en-US" sz="1800" dirty="0">
                <a:solidFill>
                  <a:srgbClr val="374151"/>
                </a:solidFill>
              </a:rPr>
              <a:t>Sᵢ: tập chiến lược/hành động của người chơi i.</a:t>
            </a:r>
            <a:endParaRPr lang="en-US" sz="1800" dirty="0"/>
          </a:p>
          <a:p>
            <a:pPr marL="228600" indent="-228600">
              <a:lnSpc>
                <a:spcPct val="120000"/>
              </a:lnSpc>
              <a:buSzPct val="100000"/>
              <a:buChar char="•"/>
            </a:pPr>
            <a:r>
              <a:rPr lang="en-US" sz="1800" dirty="0">
                <a:solidFill>
                  <a:srgbClr val="374151"/>
                </a:solidFill>
              </a:rPr>
              <a:t>uᵢ(sᵢ, s₋ᵢ): hàm payoff (tiện ích) của i.</a:t>
            </a:r>
            <a:endParaRPr lang="en-US" sz="1800" dirty="0"/>
          </a:p>
        </p:txBody>
      </p:sp>
      <p:sp>
        <p:nvSpPr>
          <p:cNvPr id="8" name="Shape 6"/>
          <p:cNvSpPr/>
          <p:nvPr/>
        </p:nvSpPr>
        <p:spPr>
          <a:xfrm>
            <a:off x="7360920" y="1554480"/>
            <a:ext cx="4236415" cy="246888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9" name="Shape 7"/>
          <p:cNvSpPr/>
          <p:nvPr/>
        </p:nvSpPr>
        <p:spPr>
          <a:xfrm>
            <a:off x="7360920" y="1554480"/>
            <a:ext cx="109728" cy="2468880"/>
          </a:xfrm>
          <a:prstGeom prst="rect">
            <a:avLst/>
          </a:prstGeom>
          <a:solidFill>
            <a:srgbClr val="1F9D8A"/>
          </a:solidFill>
          <a:ln w="12700">
            <a:solidFill>
              <a:srgbClr val="1F9D8A"/>
            </a:solidFill>
            <a:prstDash val="solid"/>
          </a:ln>
        </p:spPr>
      </p:sp>
      <p:sp>
        <p:nvSpPr>
          <p:cNvPr id="10" name="Text 8"/>
          <p:cNvSpPr/>
          <p:nvPr/>
        </p:nvSpPr>
        <p:spPr>
          <a:xfrm>
            <a:off x="7589520" y="1719072"/>
            <a:ext cx="3916375" cy="320040"/>
          </a:xfrm>
          <a:prstGeom prst="rect">
            <a:avLst/>
          </a:prstGeom>
          <a:noFill/>
          <a:ln/>
        </p:spPr>
        <p:txBody>
          <a:bodyPr wrap="square" rtlCol="0" anchor="ctr"/>
          <a:lstStyle/>
          <a:p>
            <a:pPr marL="0" indent="0">
              <a:buNone/>
            </a:pPr>
            <a:r>
              <a:rPr lang="en-US" sz="1800" b="1" dirty="0">
                <a:solidFill>
                  <a:srgbClr val="111827"/>
                </a:solidFill>
              </a:rPr>
              <a:t>Payoff trong game giáo dục thường =</a:t>
            </a:r>
            <a:endParaRPr lang="en-US" sz="1800" dirty="0"/>
          </a:p>
        </p:txBody>
      </p:sp>
      <p:sp>
        <p:nvSpPr>
          <p:cNvPr id="11" name="Text 9"/>
          <p:cNvSpPr/>
          <p:nvPr/>
        </p:nvSpPr>
        <p:spPr>
          <a:xfrm>
            <a:off x="7680960" y="2084832"/>
            <a:ext cx="3733495" cy="178308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Học được gì (learning gain)</a:t>
            </a:r>
            <a:endParaRPr lang="en-US" sz="1500" dirty="0"/>
          </a:p>
          <a:p>
            <a:pPr marL="190500" indent="-190500">
              <a:lnSpc>
                <a:spcPct val="120000"/>
              </a:lnSpc>
              <a:buSzPct val="100000"/>
              <a:buChar char="•"/>
            </a:pPr>
            <a:r>
              <a:rPr lang="en-US" sz="1500" dirty="0">
                <a:solidFill>
                  <a:srgbClr val="374151"/>
                </a:solidFill>
              </a:rPr>
              <a:t>Cảm xúc/vui (engagement)</a:t>
            </a:r>
            <a:endParaRPr lang="en-US" sz="1500" dirty="0"/>
          </a:p>
          <a:p>
            <a:pPr marL="190500" indent="-190500">
              <a:lnSpc>
                <a:spcPct val="120000"/>
              </a:lnSpc>
              <a:buSzPct val="100000"/>
              <a:buChar char="•"/>
            </a:pPr>
            <a:r>
              <a:rPr lang="en-US" sz="1500" dirty="0">
                <a:solidFill>
                  <a:srgbClr val="374151"/>
                </a:solidFill>
              </a:rPr>
              <a:t>Điểm/XP/tiền tệ</a:t>
            </a:r>
            <a:endParaRPr lang="en-US" sz="1500" dirty="0"/>
          </a:p>
          <a:p>
            <a:pPr marL="190500" indent="-190500">
              <a:lnSpc>
                <a:spcPct val="120000"/>
              </a:lnSpc>
              <a:buSzPct val="100000"/>
              <a:buChar char="•"/>
            </a:pPr>
            <a:r>
              <a:rPr lang="en-US" sz="1500" dirty="0">
                <a:solidFill>
                  <a:srgbClr val="374151"/>
                </a:solidFill>
              </a:rPr>
              <a:t>Chi phí: thời gian, nỗ lực, rủi ro</a:t>
            </a:r>
            <a:endParaRPr lang="en-US" sz="1500" dirty="0"/>
          </a:p>
        </p:txBody>
      </p:sp>
      <p:sp>
        <p:nvSpPr>
          <p:cNvPr id="12" name="Text 10"/>
          <p:cNvSpPr/>
          <p:nvPr/>
        </p:nvSpPr>
        <p:spPr>
          <a:xfrm>
            <a:off x="594360" y="6035040"/>
            <a:ext cx="11002975" cy="365760"/>
          </a:xfrm>
          <a:prstGeom prst="rect">
            <a:avLst/>
          </a:prstGeom>
          <a:noFill/>
          <a:ln/>
        </p:spPr>
        <p:txBody>
          <a:bodyPr wrap="square" rtlCol="0" anchor="ctr"/>
          <a:lstStyle/>
          <a:p>
            <a:pPr marL="0" indent="0">
              <a:buNone/>
            </a:pPr>
            <a:r>
              <a:rPr lang="en-US" sz="1400" i="1" dirty="0">
                <a:solidFill>
                  <a:srgbClr val="6B7280"/>
                </a:solidFill>
              </a:rPr>
              <a:t>Lưu ý: uᵢ là “mô hình hoá” – ta chọn thước đo gần đúng để thiết kế/kiểm thử.</a:t>
            </a:r>
            <a:endParaRPr lang="en-US" sz="1400" dirty="0"/>
          </a:p>
        </p:txBody>
      </p:sp>
      <p:sp>
        <p:nvSpPr>
          <p:cNvPr id="14" name="Text 11"/>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Best response, dominance, và loại chiến lược kém</a:t>
            </a:r>
            <a:endParaRPr lang="en-US" sz="2200" dirty="0"/>
          </a:p>
        </p:txBody>
      </p:sp>
      <p:sp>
        <p:nvSpPr>
          <p:cNvPr id="4" name="Text 2"/>
          <p:cNvSpPr/>
          <p:nvPr/>
        </p:nvSpPr>
        <p:spPr>
          <a:xfrm>
            <a:off x="594360" y="1005840"/>
            <a:ext cx="11002975" cy="320040"/>
          </a:xfrm>
          <a:prstGeom prst="rect">
            <a:avLst/>
          </a:prstGeom>
          <a:noFill/>
          <a:ln/>
        </p:spPr>
        <p:txBody>
          <a:bodyPr wrap="square" rtlCol="0" anchor="ctr"/>
          <a:lstStyle/>
          <a:p>
            <a:pPr marL="0" indent="0">
              <a:buNone/>
            </a:pPr>
            <a:r>
              <a:rPr lang="en-US" sz="2000" b="1" dirty="0">
                <a:solidFill>
                  <a:srgbClr val="111827"/>
                </a:solidFill>
              </a:rPr>
              <a:t>Định nghĩa (trực giác):</a:t>
            </a:r>
            <a:endParaRPr lang="en-US" sz="2000" dirty="0"/>
          </a:p>
        </p:txBody>
      </p:sp>
      <p:sp>
        <p:nvSpPr>
          <p:cNvPr id="5" name="Shape 3"/>
          <p:cNvSpPr/>
          <p:nvPr/>
        </p:nvSpPr>
        <p:spPr>
          <a:xfrm>
            <a:off x="594360" y="1417320"/>
            <a:ext cx="10972800" cy="960120"/>
          </a:xfrm>
          <a:prstGeom prst="roundRect">
            <a:avLst/>
          </a:prstGeom>
          <a:solidFill>
            <a:srgbClr val="F8FAFC"/>
          </a:solidFill>
          <a:ln w="12700">
            <a:solidFill>
              <a:srgbClr val="CBD5E1"/>
            </a:solidFill>
            <a:prstDash val="solid"/>
          </a:ln>
        </p:spPr>
      </p:sp>
      <p:sp>
        <p:nvSpPr>
          <p:cNvPr id="6" name="Text 4"/>
          <p:cNvSpPr/>
          <p:nvPr/>
        </p:nvSpPr>
        <p:spPr>
          <a:xfrm>
            <a:off x="868680" y="1645920"/>
            <a:ext cx="10424160" cy="548640"/>
          </a:xfrm>
          <a:prstGeom prst="rect">
            <a:avLst/>
          </a:prstGeom>
          <a:noFill/>
          <a:ln/>
        </p:spPr>
        <p:txBody>
          <a:bodyPr wrap="square" rtlCol="0" anchor="ctr"/>
          <a:lstStyle/>
          <a:p>
            <a:pPr marL="0" indent="0">
              <a:buNone/>
            </a:pPr>
            <a:r>
              <a:rPr lang="en-US" sz="2600" b="1" dirty="0">
                <a:solidFill>
                  <a:srgbClr val="0B3D91"/>
                </a:solidFill>
              </a:rPr>
              <a:t>BRᵢ(s₋ᵢ) = argmax_{sᵢ∈Sᵢ} uᵢ(sᵢ, s₋ᵢ)</a:t>
            </a:r>
            <a:endParaRPr lang="en-US" sz="2600" dirty="0"/>
          </a:p>
        </p:txBody>
      </p:sp>
      <p:sp>
        <p:nvSpPr>
          <p:cNvPr id="7" name="Text 5"/>
          <p:cNvSpPr/>
          <p:nvPr/>
        </p:nvSpPr>
        <p:spPr>
          <a:xfrm>
            <a:off x="594360" y="2606040"/>
            <a:ext cx="6583680" cy="2743200"/>
          </a:xfrm>
          <a:prstGeom prst="rect">
            <a:avLst/>
          </a:prstGeom>
          <a:noFill/>
          <a:ln/>
        </p:spPr>
        <p:txBody>
          <a:bodyPr wrap="square" rtlCol="0" anchor="t"/>
          <a:lstStyle/>
          <a:p>
            <a:pPr marL="228600" indent="-228600">
              <a:lnSpc>
                <a:spcPct val="120000"/>
              </a:lnSpc>
              <a:buSzPct val="100000"/>
              <a:buChar char="•"/>
            </a:pPr>
            <a:r>
              <a:rPr lang="en-US" sz="1800" dirty="0">
                <a:solidFill>
                  <a:srgbClr val="374151"/>
                </a:solidFill>
              </a:rPr>
              <a:t>Chiến lược trội (dominant): tốt nhất bất kể đối phương làm gì.</a:t>
            </a:r>
            <a:endParaRPr lang="en-US" sz="1800" dirty="0"/>
          </a:p>
          <a:p>
            <a:pPr marL="228600" indent="-228600">
              <a:lnSpc>
                <a:spcPct val="120000"/>
              </a:lnSpc>
              <a:buSzPct val="100000"/>
              <a:buChar char="•"/>
            </a:pPr>
            <a:r>
              <a:rPr lang="en-US" sz="1800" dirty="0">
                <a:solidFill>
                  <a:srgbClr val="374151"/>
                </a:solidFill>
              </a:rPr>
              <a:t>Chiến lược bị trội (dominated): luôn tệ hơn một chiến lược khác → có thể loại.</a:t>
            </a:r>
            <a:endParaRPr lang="en-US" sz="1800" dirty="0"/>
          </a:p>
          <a:p>
            <a:pPr marL="228600" indent="-228600">
              <a:lnSpc>
                <a:spcPct val="120000"/>
              </a:lnSpc>
              <a:buSzPct val="100000"/>
              <a:buChar char="•"/>
            </a:pPr>
            <a:r>
              <a:rPr lang="en-US" sz="1800" dirty="0">
                <a:solidFill>
                  <a:srgbClr val="374151"/>
                </a:solidFill>
              </a:rPr>
              <a:t>Trong thiết kế game: “loại chiến lược” = điều chỉnh luật để hành vi xấu không còn lợi.</a:t>
            </a:r>
            <a:endParaRPr lang="en-US" sz="1800" dirty="0"/>
          </a:p>
        </p:txBody>
      </p:sp>
      <p:sp>
        <p:nvSpPr>
          <p:cNvPr id="8" name="Shape 6"/>
          <p:cNvSpPr/>
          <p:nvPr/>
        </p:nvSpPr>
        <p:spPr>
          <a:xfrm>
            <a:off x="7406640" y="2606040"/>
            <a:ext cx="4190695" cy="224028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9" name="Shape 7"/>
          <p:cNvSpPr/>
          <p:nvPr/>
        </p:nvSpPr>
        <p:spPr>
          <a:xfrm>
            <a:off x="7406640" y="2606040"/>
            <a:ext cx="109728" cy="2240280"/>
          </a:xfrm>
          <a:prstGeom prst="rect">
            <a:avLst/>
          </a:prstGeom>
          <a:solidFill>
            <a:srgbClr val="F59E0B"/>
          </a:solidFill>
          <a:ln w="12700">
            <a:solidFill>
              <a:srgbClr val="F59E0B"/>
            </a:solidFill>
            <a:prstDash val="solid"/>
          </a:ln>
        </p:spPr>
      </p:sp>
      <p:sp>
        <p:nvSpPr>
          <p:cNvPr id="10" name="Text 8"/>
          <p:cNvSpPr/>
          <p:nvPr/>
        </p:nvSpPr>
        <p:spPr>
          <a:xfrm>
            <a:off x="7635240" y="2770632"/>
            <a:ext cx="3870655" cy="320040"/>
          </a:xfrm>
          <a:prstGeom prst="rect">
            <a:avLst/>
          </a:prstGeom>
          <a:noFill/>
          <a:ln/>
        </p:spPr>
        <p:txBody>
          <a:bodyPr wrap="square" rtlCol="0" anchor="ctr"/>
          <a:lstStyle/>
          <a:p>
            <a:pPr marL="0" indent="0">
              <a:buNone/>
            </a:pPr>
            <a:r>
              <a:rPr lang="en-US" sz="1800" b="1" dirty="0">
                <a:solidFill>
                  <a:srgbClr val="111827"/>
                </a:solidFill>
              </a:rPr>
              <a:t>Ví dụ EdTech</a:t>
            </a:r>
            <a:endParaRPr lang="en-US" sz="1800" dirty="0"/>
          </a:p>
        </p:txBody>
      </p:sp>
      <p:sp>
        <p:nvSpPr>
          <p:cNvPr id="11" name="Text 9"/>
          <p:cNvSpPr/>
          <p:nvPr/>
        </p:nvSpPr>
        <p:spPr>
          <a:xfrm>
            <a:off x="7726680" y="3136392"/>
            <a:ext cx="3687775" cy="155448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Nếu “copy bài” luôn lời hơn “tự làm” → copy là (gần) dominant.</a:t>
            </a:r>
            <a:endParaRPr lang="en-US" sz="1500" dirty="0"/>
          </a:p>
          <a:p>
            <a:pPr marL="190500" indent="-190500">
              <a:lnSpc>
                <a:spcPct val="120000"/>
              </a:lnSpc>
              <a:buSzPct val="100000"/>
              <a:buChar char="•"/>
            </a:pPr>
            <a:r>
              <a:rPr lang="en-US" sz="1500" dirty="0">
                <a:solidFill>
                  <a:srgbClr val="374151"/>
                </a:solidFill>
              </a:rPr>
              <a:t>Giải pháp: tăng xác suất bị phát hiện, tăng lợi ích của nỗ lực, hoặc đổi dạng nhiệm vụ.</a:t>
            </a:r>
            <a:endParaRPr lang="en-US" sz="1500" dirty="0"/>
          </a:p>
        </p:txBody>
      </p:sp>
      <p:sp>
        <p:nvSpPr>
          <p:cNvPr id="13" name="Text 10"/>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Cân bằng Nash (NE)</a:t>
            </a:r>
            <a:endParaRPr lang="en-US" sz="2200" dirty="0"/>
          </a:p>
        </p:txBody>
      </p:sp>
      <p:sp>
        <p:nvSpPr>
          <p:cNvPr id="4" name="Text 2"/>
          <p:cNvSpPr/>
          <p:nvPr/>
        </p:nvSpPr>
        <p:spPr>
          <a:xfrm>
            <a:off x="594360" y="1051560"/>
            <a:ext cx="11002975" cy="320040"/>
          </a:xfrm>
          <a:prstGeom prst="rect">
            <a:avLst/>
          </a:prstGeom>
          <a:noFill/>
          <a:ln/>
        </p:spPr>
        <p:txBody>
          <a:bodyPr wrap="square" rtlCol="0" anchor="ctr"/>
          <a:lstStyle/>
          <a:p>
            <a:pPr marL="0" indent="0">
              <a:buNone/>
            </a:pPr>
            <a:r>
              <a:rPr lang="en-US" sz="2000" b="1" dirty="0">
                <a:solidFill>
                  <a:srgbClr val="111827"/>
                </a:solidFill>
              </a:rPr>
              <a:t>Một cấu hình chiến lược s* là Nash equilibrium nếu:</a:t>
            </a:r>
            <a:endParaRPr lang="en-US" sz="2000" dirty="0"/>
          </a:p>
        </p:txBody>
      </p:sp>
      <p:sp>
        <p:nvSpPr>
          <p:cNvPr id="5" name="Shape 3"/>
          <p:cNvSpPr/>
          <p:nvPr/>
        </p:nvSpPr>
        <p:spPr>
          <a:xfrm>
            <a:off x="594360" y="1463040"/>
            <a:ext cx="10972800" cy="914400"/>
          </a:xfrm>
          <a:prstGeom prst="roundRect">
            <a:avLst/>
          </a:prstGeom>
          <a:solidFill>
            <a:srgbClr val="F8FAFC"/>
          </a:solidFill>
          <a:ln w="12700">
            <a:solidFill>
              <a:srgbClr val="CBD5E1"/>
            </a:solidFill>
            <a:prstDash val="solid"/>
          </a:ln>
        </p:spPr>
      </p:sp>
      <p:sp>
        <p:nvSpPr>
          <p:cNvPr id="6" name="Text 4"/>
          <p:cNvSpPr/>
          <p:nvPr/>
        </p:nvSpPr>
        <p:spPr>
          <a:xfrm>
            <a:off x="914400" y="1719072"/>
            <a:ext cx="10332720" cy="548640"/>
          </a:xfrm>
          <a:prstGeom prst="rect">
            <a:avLst/>
          </a:prstGeom>
          <a:noFill/>
          <a:ln/>
        </p:spPr>
        <p:txBody>
          <a:bodyPr wrap="square" rtlCol="0" anchor="ctr"/>
          <a:lstStyle/>
          <a:p>
            <a:pPr marL="0" indent="0">
              <a:buNone/>
            </a:pPr>
            <a:r>
              <a:rPr lang="en-US" sz="2000" b="1" dirty="0">
                <a:solidFill>
                  <a:srgbClr val="0B3D91"/>
                </a:solidFill>
              </a:rPr>
              <a:t>∀i: uᵢ(sᵢ*, s₋ᵢ*) ≥ uᵢ(sᵢ, s₋ᵢ*)  với mọi sᵢ ∈ Sᵢ</a:t>
            </a:r>
            <a:endParaRPr lang="en-US" sz="2000" dirty="0"/>
          </a:p>
        </p:txBody>
      </p:sp>
      <p:sp>
        <p:nvSpPr>
          <p:cNvPr id="7" name="Text 5"/>
          <p:cNvSpPr/>
          <p:nvPr/>
        </p:nvSpPr>
        <p:spPr>
          <a:xfrm>
            <a:off x="594360" y="2606040"/>
            <a:ext cx="6583680" cy="2011680"/>
          </a:xfrm>
          <a:prstGeom prst="rect">
            <a:avLst/>
          </a:prstGeom>
          <a:noFill/>
          <a:ln/>
        </p:spPr>
        <p:txBody>
          <a:bodyPr wrap="square" rtlCol="0" anchor="t"/>
          <a:lstStyle/>
          <a:p>
            <a:pPr marL="228600" indent="-228600">
              <a:lnSpc>
                <a:spcPct val="120000"/>
              </a:lnSpc>
              <a:buSzPct val="100000"/>
              <a:buChar char="•"/>
            </a:pPr>
            <a:r>
              <a:rPr lang="en-US" sz="1800" dirty="0">
                <a:solidFill>
                  <a:srgbClr val="374151"/>
                </a:solidFill>
              </a:rPr>
              <a:t>Trực giác: “không ai có động lực đơn phương đổi”.</a:t>
            </a:r>
            <a:endParaRPr lang="en-US" sz="1800" dirty="0"/>
          </a:p>
          <a:p>
            <a:pPr marL="228600" indent="-228600">
              <a:lnSpc>
                <a:spcPct val="120000"/>
              </a:lnSpc>
              <a:buSzPct val="100000"/>
              <a:buChar char="•"/>
            </a:pPr>
            <a:r>
              <a:rPr lang="en-US" sz="1800" dirty="0">
                <a:solidFill>
                  <a:srgbClr val="374151"/>
                </a:solidFill>
              </a:rPr>
              <a:t>NE có thể tốt hoặc xấu (không đảm bảo tối ưu xã hội).</a:t>
            </a:r>
            <a:endParaRPr lang="en-US" sz="1800" dirty="0"/>
          </a:p>
          <a:p>
            <a:pPr marL="228600" indent="-228600">
              <a:lnSpc>
                <a:spcPct val="120000"/>
              </a:lnSpc>
              <a:buSzPct val="100000"/>
              <a:buChar char="•"/>
            </a:pPr>
            <a:r>
              <a:rPr lang="en-US" sz="1800" dirty="0">
                <a:solidFill>
                  <a:srgbClr val="374151"/>
                </a:solidFill>
              </a:rPr>
              <a:t>Trong thiết kế game: ta muốn equilibrium trùng với hành vi học tập mong muốn.</a:t>
            </a:r>
            <a:endParaRPr lang="en-US" sz="1800" dirty="0"/>
          </a:p>
        </p:txBody>
      </p:sp>
      <p:sp>
        <p:nvSpPr>
          <p:cNvPr id="8" name="Shape 6"/>
          <p:cNvSpPr/>
          <p:nvPr/>
        </p:nvSpPr>
        <p:spPr>
          <a:xfrm>
            <a:off x="7406640" y="2606040"/>
            <a:ext cx="4190695" cy="237744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9" name="Shape 7"/>
          <p:cNvSpPr/>
          <p:nvPr/>
        </p:nvSpPr>
        <p:spPr>
          <a:xfrm>
            <a:off x="7406640" y="2606040"/>
            <a:ext cx="109728" cy="2377440"/>
          </a:xfrm>
          <a:prstGeom prst="rect">
            <a:avLst/>
          </a:prstGeom>
          <a:solidFill>
            <a:srgbClr val="1F9D8A"/>
          </a:solidFill>
          <a:ln w="12700">
            <a:solidFill>
              <a:srgbClr val="1F9D8A"/>
            </a:solidFill>
            <a:prstDash val="solid"/>
          </a:ln>
        </p:spPr>
      </p:sp>
      <p:sp>
        <p:nvSpPr>
          <p:cNvPr id="10" name="Text 8"/>
          <p:cNvSpPr/>
          <p:nvPr/>
        </p:nvSpPr>
        <p:spPr>
          <a:xfrm>
            <a:off x="7635240" y="2770632"/>
            <a:ext cx="3870655" cy="320040"/>
          </a:xfrm>
          <a:prstGeom prst="rect">
            <a:avLst/>
          </a:prstGeom>
          <a:noFill/>
          <a:ln/>
        </p:spPr>
        <p:txBody>
          <a:bodyPr wrap="square" rtlCol="0" anchor="ctr"/>
          <a:lstStyle/>
          <a:p>
            <a:pPr marL="0" indent="0">
              <a:buNone/>
            </a:pPr>
            <a:r>
              <a:rPr lang="en-US" sz="1800" b="1" dirty="0">
                <a:solidFill>
                  <a:srgbClr val="111827"/>
                </a:solidFill>
              </a:rPr>
              <a:t>NE trong lớp/game thường là gì?</a:t>
            </a:r>
            <a:endParaRPr lang="en-US" sz="1800" dirty="0"/>
          </a:p>
        </p:txBody>
      </p:sp>
      <p:sp>
        <p:nvSpPr>
          <p:cNvPr id="11" name="Text 9"/>
          <p:cNvSpPr/>
          <p:nvPr/>
        </p:nvSpPr>
        <p:spPr>
          <a:xfrm>
            <a:off x="7726680" y="3136392"/>
            <a:ext cx="3687775" cy="169164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Điểm thấp nhưng “ổn định”: cả lớp ít chuẩn bị, vì chuẩn bị một mình không đáng.</a:t>
            </a:r>
            <a:endParaRPr lang="en-US" sz="1500" dirty="0"/>
          </a:p>
          <a:p>
            <a:pPr marL="190500" indent="-190500">
              <a:lnSpc>
                <a:spcPct val="120000"/>
              </a:lnSpc>
              <a:buSzPct val="100000"/>
              <a:buChar char="•"/>
            </a:pPr>
            <a:r>
              <a:rPr lang="en-US" sz="1500" dirty="0">
                <a:solidFill>
                  <a:srgbClr val="374151"/>
                </a:solidFill>
              </a:rPr>
              <a:t>Cạnh tranh quá gắt: người chơi tối ưu điểm → bỏ qua học sâu.</a:t>
            </a:r>
            <a:endParaRPr lang="en-US" sz="1500" dirty="0"/>
          </a:p>
        </p:txBody>
      </p:sp>
      <p:sp>
        <p:nvSpPr>
          <p:cNvPr id="13" name="Text 10"/>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7</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9" name="Picture 3">
            <a:extLst>
              <a:ext uri="{FF2B5EF4-FFF2-40B4-BE49-F238E27FC236}">
                <a16:creationId xmlns:a16="http://schemas.microsoft.com/office/drawing/2014/main" id="{AAB7F03D-DEC5-17AC-CC14-BC2E1E89F7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7958"/>
            <a:ext cx="11279702" cy="6243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29D401D3-FAC1-80BF-3E84-771DC79C4635}"/>
              </a:ext>
            </a:extLst>
          </p:cNvPr>
          <p:cNvSpPr>
            <a:spLocks noGrp="1" noChangeArrowheads="1"/>
          </p:cNvSpPr>
          <p:nvPr>
            <p:ph type="title"/>
          </p:nvPr>
        </p:nvSpPr>
        <p:spPr/>
        <p:txBody>
          <a:bodyPr/>
          <a:lstStyle/>
          <a:p>
            <a:pPr eaLnBrk="1" hangingPunct="1"/>
            <a:r>
              <a:rPr lang="en-US" altLang="vi-VN"/>
              <a:t>Trò chơi dưới dạng chiến lược</a:t>
            </a:r>
          </a:p>
        </p:txBody>
      </p:sp>
      <p:sp>
        <p:nvSpPr>
          <p:cNvPr id="20483" name="Rectangle 3">
            <a:extLst>
              <a:ext uri="{FF2B5EF4-FFF2-40B4-BE49-F238E27FC236}">
                <a16:creationId xmlns:a16="http://schemas.microsoft.com/office/drawing/2014/main" id="{4039AEC9-A7C6-EE7F-4C75-F1E4B45552E1}"/>
              </a:ext>
            </a:extLst>
          </p:cNvPr>
          <p:cNvSpPr>
            <a:spLocks noGrp="1" noChangeArrowheads="1"/>
          </p:cNvSpPr>
          <p:nvPr>
            <p:ph type="body" idx="1"/>
          </p:nvPr>
        </p:nvSpPr>
        <p:spPr/>
        <p:txBody>
          <a:bodyPr/>
          <a:lstStyle/>
          <a:p>
            <a:pPr eaLnBrk="1" hangingPunct="1"/>
            <a:r>
              <a:rPr lang="en-GB" altLang="vi-VN" i="1"/>
              <a:t>Cân bằng Nash:</a:t>
            </a:r>
            <a:r>
              <a:rPr lang="en-GB" altLang="vi-VN"/>
              <a:t> trạng thái trong đó mỗi người chơi chọn chiến lược tối đa hóa kết quả của mình, cho trước chiến lược của đối thủ.</a:t>
            </a:r>
          </a:p>
          <a:p>
            <a:pPr lvl="1" eaLnBrk="1" hangingPunct="1"/>
            <a:r>
              <a:rPr lang="en-US" altLang="vi-VN"/>
              <a:t>Tôi chọn cách tốt nhất khi cho trước hành động của anh</a:t>
            </a:r>
          </a:p>
          <a:p>
            <a:pPr lvl="1" eaLnBrk="1" hangingPunct="1"/>
            <a:r>
              <a:rPr lang="en-US" altLang="vi-VN"/>
              <a:t>Anh chọn cách tốt nhất khi cho trước hành động của tôi</a:t>
            </a:r>
          </a:p>
          <a:p>
            <a:pPr eaLnBrk="1" hangingPunct="1"/>
            <a:endParaRPr lang="en-US" altLang="vi-V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097A95F8-2E7B-30EA-84E2-6294AAF1C729}"/>
              </a:ext>
            </a:extLst>
          </p:cNvPr>
          <p:cNvSpPr>
            <a:spLocks noGrp="1" noChangeArrowheads="1"/>
          </p:cNvSpPr>
          <p:nvPr>
            <p:ph type="title"/>
          </p:nvPr>
        </p:nvSpPr>
        <p:spPr/>
        <p:txBody>
          <a:bodyPr/>
          <a:lstStyle/>
          <a:p>
            <a:pPr eaLnBrk="1" hangingPunct="1"/>
            <a:r>
              <a:rPr lang="en-US" altLang="vi-VN" sz="3000" b="1"/>
              <a:t>Cân bằng Nash trong chiến lược thuần túy</a:t>
            </a:r>
          </a:p>
        </p:txBody>
      </p:sp>
      <p:sp>
        <p:nvSpPr>
          <p:cNvPr id="23555" name="Rectangle 3">
            <a:extLst>
              <a:ext uri="{FF2B5EF4-FFF2-40B4-BE49-F238E27FC236}">
                <a16:creationId xmlns:a16="http://schemas.microsoft.com/office/drawing/2014/main" id="{636DEF3A-1C7C-851F-4274-F3F342B355FC}"/>
              </a:ext>
            </a:extLst>
          </p:cNvPr>
          <p:cNvSpPr>
            <a:spLocks noGrp="1" noChangeArrowheads="1"/>
          </p:cNvSpPr>
          <p:nvPr>
            <p:ph type="body" idx="1"/>
          </p:nvPr>
        </p:nvSpPr>
        <p:spPr/>
        <p:txBody>
          <a:bodyPr/>
          <a:lstStyle/>
          <a:p>
            <a:pPr eaLnBrk="1" hangingPunct="1"/>
            <a:r>
              <a:rPr lang="en-US" altLang="vi-VN"/>
              <a:t>Cuộc chiến giữa các đài phát thanh</a:t>
            </a:r>
          </a:p>
        </p:txBody>
      </p:sp>
      <p:grpSp>
        <p:nvGrpSpPr>
          <p:cNvPr id="23556" name="Group 19">
            <a:extLst>
              <a:ext uri="{FF2B5EF4-FFF2-40B4-BE49-F238E27FC236}">
                <a16:creationId xmlns:a16="http://schemas.microsoft.com/office/drawing/2014/main" id="{DC59E82E-4530-F4CA-E3E3-0A93DA589A0A}"/>
              </a:ext>
            </a:extLst>
          </p:cNvPr>
          <p:cNvGrpSpPr>
            <a:grpSpLocks noChangeAspect="1"/>
          </p:cNvGrpSpPr>
          <p:nvPr/>
        </p:nvGrpSpPr>
        <p:grpSpPr bwMode="auto">
          <a:xfrm>
            <a:off x="3048000" y="2362200"/>
            <a:ext cx="6057900" cy="3314700"/>
            <a:chOff x="2362" y="3000"/>
            <a:chExt cx="7200" cy="3915"/>
          </a:xfrm>
        </p:grpSpPr>
        <p:sp>
          <p:nvSpPr>
            <p:cNvPr id="23557" name="AutoShape 20">
              <a:extLst>
                <a:ext uri="{FF2B5EF4-FFF2-40B4-BE49-F238E27FC236}">
                  <a16:creationId xmlns:a16="http://schemas.microsoft.com/office/drawing/2014/main" id="{2A8F96AD-79AD-D93B-1AFF-55C54ABF3070}"/>
                </a:ext>
              </a:extLst>
            </p:cNvPr>
            <p:cNvSpPr>
              <a:spLocks noChangeAspect="1" noChangeArrowheads="1"/>
            </p:cNvSpPr>
            <p:nvPr/>
          </p:nvSpPr>
          <p:spPr bwMode="auto">
            <a:xfrm>
              <a:off x="2362" y="3000"/>
              <a:ext cx="7200" cy="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endParaRPr lang="vi-VN" altLang="vi-VN" sz="1800"/>
            </a:p>
          </p:txBody>
        </p:sp>
        <p:sp>
          <p:nvSpPr>
            <p:cNvPr id="23558" name="Text Box 21">
              <a:extLst>
                <a:ext uri="{FF2B5EF4-FFF2-40B4-BE49-F238E27FC236}">
                  <a16:creationId xmlns:a16="http://schemas.microsoft.com/office/drawing/2014/main" id="{D5B7A401-BF72-0239-DC8D-8DE2BBC5982C}"/>
                </a:ext>
              </a:extLst>
            </p:cNvPr>
            <p:cNvSpPr txBox="1">
              <a:spLocks noChangeArrowheads="1"/>
            </p:cNvSpPr>
            <p:nvPr/>
          </p:nvSpPr>
          <p:spPr bwMode="auto">
            <a:xfrm>
              <a:off x="5487" y="5430"/>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400"/>
            </a:p>
            <a:p>
              <a:pPr algn="ctr" eaLnBrk="1" hangingPunct="1">
                <a:spcBef>
                  <a:spcPct val="0"/>
                </a:spcBef>
                <a:buClrTx/>
                <a:buFontTx/>
                <a:buNone/>
              </a:pPr>
              <a:r>
                <a:rPr lang="en-US" altLang="vi-VN" sz="1600" b="1"/>
                <a:t>J: 70, M: 30</a:t>
              </a:r>
            </a:p>
            <a:p>
              <a:pPr eaLnBrk="1" hangingPunct="1">
                <a:spcBef>
                  <a:spcPct val="0"/>
                </a:spcBef>
                <a:buClrTx/>
                <a:buFontTx/>
                <a:buNone/>
              </a:pPr>
              <a:endParaRPr lang="en-US" altLang="vi-VN" sz="1800"/>
            </a:p>
          </p:txBody>
        </p:sp>
        <p:sp>
          <p:nvSpPr>
            <p:cNvPr id="23559" name="Text Box 22">
              <a:extLst>
                <a:ext uri="{FF2B5EF4-FFF2-40B4-BE49-F238E27FC236}">
                  <a16:creationId xmlns:a16="http://schemas.microsoft.com/office/drawing/2014/main" id="{4D7C447D-F973-4570-ECF2-1BB20DBCD1E6}"/>
                </a:ext>
              </a:extLst>
            </p:cNvPr>
            <p:cNvSpPr txBox="1">
              <a:spLocks noChangeArrowheads="1"/>
            </p:cNvSpPr>
            <p:nvPr/>
          </p:nvSpPr>
          <p:spPr bwMode="auto">
            <a:xfrm>
              <a:off x="7388" y="5430"/>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400"/>
            </a:p>
            <a:p>
              <a:pPr algn="ctr" eaLnBrk="1" hangingPunct="1">
                <a:spcBef>
                  <a:spcPct val="0"/>
                </a:spcBef>
                <a:buClrTx/>
                <a:buFontTx/>
                <a:buNone/>
              </a:pPr>
              <a:r>
                <a:rPr lang="en-US" altLang="vi-VN" sz="1600" b="1"/>
                <a:t>J: 50, M: 50</a:t>
              </a:r>
            </a:p>
            <a:p>
              <a:pPr eaLnBrk="1" hangingPunct="1">
                <a:spcBef>
                  <a:spcPct val="0"/>
                </a:spcBef>
                <a:buClrTx/>
                <a:buFontTx/>
                <a:buNone/>
              </a:pPr>
              <a:endParaRPr lang="en-US" altLang="vi-VN" sz="1800"/>
            </a:p>
          </p:txBody>
        </p:sp>
        <p:sp>
          <p:nvSpPr>
            <p:cNvPr id="23560" name="Text Box 23">
              <a:extLst>
                <a:ext uri="{FF2B5EF4-FFF2-40B4-BE49-F238E27FC236}">
                  <a16:creationId xmlns:a16="http://schemas.microsoft.com/office/drawing/2014/main" id="{C684A56D-141A-AE74-0290-177F05725201}"/>
                </a:ext>
              </a:extLst>
            </p:cNvPr>
            <p:cNvSpPr txBox="1">
              <a:spLocks noChangeArrowheads="1"/>
            </p:cNvSpPr>
            <p:nvPr/>
          </p:nvSpPr>
          <p:spPr bwMode="auto">
            <a:xfrm>
              <a:off x="7388" y="4485"/>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400"/>
            </a:p>
            <a:p>
              <a:pPr algn="ctr" eaLnBrk="1" hangingPunct="1">
                <a:spcBef>
                  <a:spcPct val="0"/>
                </a:spcBef>
                <a:buClrTx/>
                <a:buFontTx/>
                <a:buNone/>
              </a:pPr>
              <a:r>
                <a:rPr lang="en-US" altLang="vi-VN" sz="1600" b="1"/>
                <a:t>J: 60, M: 40</a:t>
              </a:r>
            </a:p>
            <a:p>
              <a:pPr eaLnBrk="1" hangingPunct="1">
                <a:spcBef>
                  <a:spcPct val="0"/>
                </a:spcBef>
                <a:buClrTx/>
                <a:buFontTx/>
                <a:buNone/>
              </a:pPr>
              <a:endParaRPr lang="en-US" altLang="vi-VN" sz="1800"/>
            </a:p>
          </p:txBody>
        </p:sp>
        <p:sp>
          <p:nvSpPr>
            <p:cNvPr id="23561" name="Text Box 24">
              <a:extLst>
                <a:ext uri="{FF2B5EF4-FFF2-40B4-BE49-F238E27FC236}">
                  <a16:creationId xmlns:a16="http://schemas.microsoft.com/office/drawing/2014/main" id="{FA7FC899-23D6-0ED4-9848-BA25F3CF7C8F}"/>
                </a:ext>
              </a:extLst>
            </p:cNvPr>
            <p:cNvSpPr txBox="1">
              <a:spLocks noChangeArrowheads="1"/>
            </p:cNvSpPr>
            <p:nvPr/>
          </p:nvSpPr>
          <p:spPr bwMode="auto">
            <a:xfrm>
              <a:off x="5487" y="4485"/>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300"/>
            </a:p>
            <a:p>
              <a:pPr algn="ctr" eaLnBrk="1" hangingPunct="1">
                <a:spcBef>
                  <a:spcPct val="0"/>
                </a:spcBef>
                <a:buClrTx/>
                <a:buFontTx/>
                <a:buNone/>
              </a:pPr>
              <a:r>
                <a:rPr lang="en-US" altLang="vi-VN" sz="1600" b="1"/>
                <a:t>J: 60, M: 40</a:t>
              </a:r>
              <a:endParaRPr lang="en-US" altLang="vi-VN" sz="1800"/>
            </a:p>
          </p:txBody>
        </p:sp>
        <p:sp>
          <p:nvSpPr>
            <p:cNvPr id="23562" name="Text Box 25">
              <a:extLst>
                <a:ext uri="{FF2B5EF4-FFF2-40B4-BE49-F238E27FC236}">
                  <a16:creationId xmlns:a16="http://schemas.microsoft.com/office/drawing/2014/main" id="{CC9957FF-FEE6-EF76-1122-C82E6CA546D8}"/>
                </a:ext>
              </a:extLst>
            </p:cNvPr>
            <p:cNvSpPr txBox="1">
              <a:spLocks noChangeArrowheads="1"/>
            </p:cNvSpPr>
            <p:nvPr/>
          </p:nvSpPr>
          <p:spPr bwMode="auto">
            <a:xfrm>
              <a:off x="6709" y="3135"/>
              <a:ext cx="1495"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800" b="1"/>
                <a:t>Merkur</a:t>
              </a:r>
              <a:endParaRPr lang="en-US" altLang="vi-VN" sz="1800"/>
            </a:p>
          </p:txBody>
        </p:sp>
        <p:sp>
          <p:nvSpPr>
            <p:cNvPr id="23563" name="Text Box 26">
              <a:extLst>
                <a:ext uri="{FF2B5EF4-FFF2-40B4-BE49-F238E27FC236}">
                  <a16:creationId xmlns:a16="http://schemas.microsoft.com/office/drawing/2014/main" id="{BD75C479-74AA-2A58-8B6D-609EE86F3459}"/>
                </a:ext>
              </a:extLst>
            </p:cNvPr>
            <p:cNvSpPr txBox="1">
              <a:spLocks noChangeArrowheads="1"/>
            </p:cNvSpPr>
            <p:nvPr/>
          </p:nvSpPr>
          <p:spPr bwMode="auto">
            <a:xfrm>
              <a:off x="5622" y="3810"/>
              <a:ext cx="1902"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600" b="1"/>
                <a:t>Nhạc nhẹ</a:t>
              </a:r>
              <a:endParaRPr lang="en-US" altLang="vi-VN" sz="1800"/>
            </a:p>
          </p:txBody>
        </p:sp>
        <p:sp>
          <p:nvSpPr>
            <p:cNvPr id="23564" name="Text Box 27">
              <a:extLst>
                <a:ext uri="{FF2B5EF4-FFF2-40B4-BE49-F238E27FC236}">
                  <a16:creationId xmlns:a16="http://schemas.microsoft.com/office/drawing/2014/main" id="{2678F66F-6F68-5261-4EE5-F942186144B6}"/>
                </a:ext>
              </a:extLst>
            </p:cNvPr>
            <p:cNvSpPr txBox="1">
              <a:spLocks noChangeArrowheads="1"/>
            </p:cNvSpPr>
            <p:nvPr/>
          </p:nvSpPr>
          <p:spPr bwMode="auto">
            <a:xfrm>
              <a:off x="7388" y="3810"/>
              <a:ext cx="1903"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600" b="1">
                  <a:latin typeface="Times New Roman" panose="02020603050405020304" pitchFamily="18" charset="0"/>
                </a:rPr>
                <a:t>Không thay đổi</a:t>
              </a:r>
              <a:endParaRPr lang="en-US" altLang="vi-VN" sz="1800"/>
            </a:p>
          </p:txBody>
        </p:sp>
        <p:sp>
          <p:nvSpPr>
            <p:cNvPr id="23565" name="Text Box 28">
              <a:extLst>
                <a:ext uri="{FF2B5EF4-FFF2-40B4-BE49-F238E27FC236}">
                  <a16:creationId xmlns:a16="http://schemas.microsoft.com/office/drawing/2014/main" id="{CA374BED-57B2-C922-B831-D30340F575AF}"/>
                </a:ext>
              </a:extLst>
            </p:cNvPr>
            <p:cNvSpPr txBox="1">
              <a:spLocks noChangeArrowheads="1"/>
            </p:cNvSpPr>
            <p:nvPr/>
          </p:nvSpPr>
          <p:spPr bwMode="auto">
            <a:xfrm>
              <a:off x="3856" y="4755"/>
              <a:ext cx="1631"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600" b="1"/>
                <a:t>Nhạc rock</a:t>
              </a:r>
              <a:endParaRPr lang="en-US" altLang="vi-VN" sz="1800"/>
            </a:p>
          </p:txBody>
        </p:sp>
        <p:sp>
          <p:nvSpPr>
            <p:cNvPr id="23566" name="Text Box 29">
              <a:extLst>
                <a:ext uri="{FF2B5EF4-FFF2-40B4-BE49-F238E27FC236}">
                  <a16:creationId xmlns:a16="http://schemas.microsoft.com/office/drawing/2014/main" id="{41E6AE3B-0BDA-4C10-DD8A-553F6D4CFB9D}"/>
                </a:ext>
              </a:extLst>
            </p:cNvPr>
            <p:cNvSpPr txBox="1">
              <a:spLocks noChangeArrowheads="1"/>
            </p:cNvSpPr>
            <p:nvPr/>
          </p:nvSpPr>
          <p:spPr bwMode="auto">
            <a:xfrm>
              <a:off x="3856" y="5430"/>
              <a:ext cx="1631" cy="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600" b="1">
                  <a:latin typeface="Times New Roman" panose="02020603050405020304" pitchFamily="18" charset="0"/>
                </a:rPr>
                <a:t>Không thay đổi</a:t>
              </a:r>
              <a:endParaRPr lang="en-US" altLang="vi-VN" sz="1600" b="1"/>
            </a:p>
            <a:p>
              <a:pPr eaLnBrk="1" hangingPunct="1">
                <a:spcBef>
                  <a:spcPct val="0"/>
                </a:spcBef>
                <a:buClrTx/>
                <a:buFontTx/>
                <a:buNone/>
              </a:pPr>
              <a:endParaRPr lang="en-US" altLang="vi-VN" sz="1800"/>
            </a:p>
          </p:txBody>
        </p:sp>
        <p:sp>
          <p:nvSpPr>
            <p:cNvPr id="23567" name="Text Box 30">
              <a:extLst>
                <a:ext uri="{FF2B5EF4-FFF2-40B4-BE49-F238E27FC236}">
                  <a16:creationId xmlns:a16="http://schemas.microsoft.com/office/drawing/2014/main" id="{7342D9DB-5356-38C7-8DC9-A2407EDE7632}"/>
                </a:ext>
              </a:extLst>
            </p:cNvPr>
            <p:cNvSpPr txBox="1">
              <a:spLocks noChangeArrowheads="1"/>
            </p:cNvSpPr>
            <p:nvPr/>
          </p:nvSpPr>
          <p:spPr bwMode="auto">
            <a:xfrm>
              <a:off x="2498" y="5025"/>
              <a:ext cx="1495"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800" b="1"/>
                <a:t>Jupiter</a:t>
              </a:r>
              <a:endParaRPr lang="en-US" altLang="vi-VN" sz="180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000FD98-C062-2994-BF95-2A6C731A5804}"/>
              </a:ext>
            </a:extLst>
          </p:cNvPr>
          <p:cNvSpPr>
            <a:spLocks noGrp="1" noChangeArrowheads="1"/>
          </p:cNvSpPr>
          <p:nvPr>
            <p:ph type="title"/>
          </p:nvPr>
        </p:nvSpPr>
        <p:spPr/>
        <p:txBody>
          <a:bodyPr/>
          <a:lstStyle/>
          <a:p>
            <a:pPr eaLnBrk="1" hangingPunct="1"/>
            <a:r>
              <a:rPr lang="en-US" altLang="vi-VN" sz="3000" b="1"/>
              <a:t>Cân bằng Nash trong chiến lược thuần túy</a:t>
            </a:r>
          </a:p>
        </p:txBody>
      </p:sp>
      <p:sp>
        <p:nvSpPr>
          <p:cNvPr id="24579" name="Rectangle 3">
            <a:extLst>
              <a:ext uri="{FF2B5EF4-FFF2-40B4-BE49-F238E27FC236}">
                <a16:creationId xmlns:a16="http://schemas.microsoft.com/office/drawing/2014/main" id="{DA6A9197-9B99-D030-51FF-6965268DE710}"/>
              </a:ext>
            </a:extLst>
          </p:cNvPr>
          <p:cNvSpPr>
            <a:spLocks noGrp="1" noChangeArrowheads="1"/>
          </p:cNvSpPr>
          <p:nvPr>
            <p:ph type="body" idx="1"/>
          </p:nvPr>
        </p:nvSpPr>
        <p:spPr/>
        <p:txBody>
          <a:bodyPr/>
          <a:lstStyle/>
          <a:p>
            <a:pPr eaLnBrk="1" hangingPunct="1"/>
            <a:r>
              <a:rPr lang="en-US" altLang="vi-VN"/>
              <a:t>Tình trạng nan giải của cartel</a:t>
            </a:r>
          </a:p>
        </p:txBody>
      </p:sp>
      <p:grpSp>
        <p:nvGrpSpPr>
          <p:cNvPr id="24580" name="Group 16">
            <a:extLst>
              <a:ext uri="{FF2B5EF4-FFF2-40B4-BE49-F238E27FC236}">
                <a16:creationId xmlns:a16="http://schemas.microsoft.com/office/drawing/2014/main" id="{6EDCB118-647D-F70E-E83B-DA487448FFCB}"/>
              </a:ext>
            </a:extLst>
          </p:cNvPr>
          <p:cNvGrpSpPr>
            <a:grpSpLocks noChangeAspect="1"/>
          </p:cNvGrpSpPr>
          <p:nvPr/>
        </p:nvGrpSpPr>
        <p:grpSpPr bwMode="auto">
          <a:xfrm>
            <a:off x="2590800" y="2362200"/>
            <a:ext cx="6057900" cy="3314700"/>
            <a:chOff x="2362" y="3000"/>
            <a:chExt cx="7200" cy="3915"/>
          </a:xfrm>
        </p:grpSpPr>
        <p:sp>
          <p:nvSpPr>
            <p:cNvPr id="24581" name="AutoShape 17">
              <a:extLst>
                <a:ext uri="{FF2B5EF4-FFF2-40B4-BE49-F238E27FC236}">
                  <a16:creationId xmlns:a16="http://schemas.microsoft.com/office/drawing/2014/main" id="{FABFB397-7D83-C264-4EDA-7E1C60DE530B}"/>
                </a:ext>
              </a:extLst>
            </p:cNvPr>
            <p:cNvSpPr>
              <a:spLocks noChangeAspect="1" noChangeArrowheads="1"/>
            </p:cNvSpPr>
            <p:nvPr/>
          </p:nvSpPr>
          <p:spPr bwMode="auto">
            <a:xfrm>
              <a:off x="2362" y="3000"/>
              <a:ext cx="7200" cy="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endParaRPr lang="vi-VN" altLang="vi-VN" sz="1800"/>
            </a:p>
          </p:txBody>
        </p:sp>
        <p:sp>
          <p:nvSpPr>
            <p:cNvPr id="24582" name="Text Box 18">
              <a:extLst>
                <a:ext uri="{FF2B5EF4-FFF2-40B4-BE49-F238E27FC236}">
                  <a16:creationId xmlns:a16="http://schemas.microsoft.com/office/drawing/2014/main" id="{3DE598EC-EBAF-4373-5871-6B20B2BABB2B}"/>
                </a:ext>
              </a:extLst>
            </p:cNvPr>
            <p:cNvSpPr txBox="1">
              <a:spLocks noChangeArrowheads="1"/>
            </p:cNvSpPr>
            <p:nvPr/>
          </p:nvSpPr>
          <p:spPr bwMode="auto">
            <a:xfrm>
              <a:off x="7388" y="5430"/>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400"/>
            </a:p>
            <a:p>
              <a:pPr algn="ctr" eaLnBrk="1" hangingPunct="1">
                <a:spcBef>
                  <a:spcPct val="0"/>
                </a:spcBef>
                <a:buClrTx/>
                <a:buFontTx/>
                <a:buNone/>
              </a:pPr>
              <a:r>
                <a:rPr lang="en-US" altLang="vi-VN" sz="1600" b="1"/>
                <a:t>H: 12, S: 8</a:t>
              </a:r>
              <a:endParaRPr lang="en-US" altLang="vi-VN" sz="1800"/>
            </a:p>
          </p:txBody>
        </p:sp>
        <p:sp>
          <p:nvSpPr>
            <p:cNvPr id="24583" name="Text Box 19">
              <a:extLst>
                <a:ext uri="{FF2B5EF4-FFF2-40B4-BE49-F238E27FC236}">
                  <a16:creationId xmlns:a16="http://schemas.microsoft.com/office/drawing/2014/main" id="{BEAB7086-07FC-D816-6095-897845233B5E}"/>
                </a:ext>
              </a:extLst>
            </p:cNvPr>
            <p:cNvSpPr txBox="1">
              <a:spLocks noChangeArrowheads="1"/>
            </p:cNvSpPr>
            <p:nvPr/>
          </p:nvSpPr>
          <p:spPr bwMode="auto">
            <a:xfrm>
              <a:off x="7388" y="4485"/>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400"/>
            </a:p>
            <a:p>
              <a:pPr algn="ctr" eaLnBrk="1" hangingPunct="1">
                <a:spcBef>
                  <a:spcPct val="0"/>
                </a:spcBef>
                <a:buClrTx/>
                <a:buFontTx/>
                <a:buNone/>
              </a:pPr>
              <a:r>
                <a:rPr lang="en-US" altLang="vi-VN" sz="1600" b="1"/>
                <a:t>H: 10, S: 13</a:t>
              </a:r>
              <a:endParaRPr lang="en-US" altLang="vi-VN" sz="1800"/>
            </a:p>
          </p:txBody>
        </p:sp>
        <p:sp>
          <p:nvSpPr>
            <p:cNvPr id="24584" name="Text Box 20">
              <a:extLst>
                <a:ext uri="{FF2B5EF4-FFF2-40B4-BE49-F238E27FC236}">
                  <a16:creationId xmlns:a16="http://schemas.microsoft.com/office/drawing/2014/main" id="{C81E92C6-C65F-B107-BE0F-EDCD86E947E7}"/>
                </a:ext>
              </a:extLst>
            </p:cNvPr>
            <p:cNvSpPr txBox="1">
              <a:spLocks noChangeArrowheads="1"/>
            </p:cNvSpPr>
            <p:nvPr/>
          </p:nvSpPr>
          <p:spPr bwMode="auto">
            <a:xfrm>
              <a:off x="5487" y="4485"/>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300"/>
            </a:p>
            <a:p>
              <a:pPr algn="ctr" eaLnBrk="1" hangingPunct="1">
                <a:spcBef>
                  <a:spcPct val="0"/>
                </a:spcBef>
                <a:buClrTx/>
                <a:buFontTx/>
                <a:buNone/>
              </a:pPr>
              <a:r>
                <a:rPr lang="en-US" altLang="vi-VN" sz="1600" b="1"/>
                <a:t>H: 15, S: 10</a:t>
              </a:r>
              <a:endParaRPr lang="en-US" altLang="vi-VN" sz="1800"/>
            </a:p>
          </p:txBody>
        </p:sp>
        <p:sp>
          <p:nvSpPr>
            <p:cNvPr id="24585" name="Text Box 21">
              <a:extLst>
                <a:ext uri="{FF2B5EF4-FFF2-40B4-BE49-F238E27FC236}">
                  <a16:creationId xmlns:a16="http://schemas.microsoft.com/office/drawing/2014/main" id="{17BA2992-9BB3-8109-D895-C71ABD799057}"/>
                </a:ext>
              </a:extLst>
            </p:cNvPr>
            <p:cNvSpPr txBox="1">
              <a:spLocks noChangeArrowheads="1"/>
            </p:cNvSpPr>
            <p:nvPr/>
          </p:nvSpPr>
          <p:spPr bwMode="auto">
            <a:xfrm>
              <a:off x="6709" y="3135"/>
              <a:ext cx="2038"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800" b="1"/>
                <a:t>Sharon Corp.</a:t>
              </a:r>
              <a:endParaRPr lang="en-US" altLang="vi-VN" sz="1800"/>
            </a:p>
          </p:txBody>
        </p:sp>
        <p:sp>
          <p:nvSpPr>
            <p:cNvPr id="24586" name="Text Box 22">
              <a:extLst>
                <a:ext uri="{FF2B5EF4-FFF2-40B4-BE49-F238E27FC236}">
                  <a16:creationId xmlns:a16="http://schemas.microsoft.com/office/drawing/2014/main" id="{4E670A25-FEE6-8B16-9AE0-DBA571B51B25}"/>
                </a:ext>
              </a:extLst>
            </p:cNvPr>
            <p:cNvSpPr txBox="1">
              <a:spLocks noChangeArrowheads="1"/>
            </p:cNvSpPr>
            <p:nvPr/>
          </p:nvSpPr>
          <p:spPr bwMode="auto">
            <a:xfrm>
              <a:off x="5622" y="3810"/>
              <a:ext cx="1902"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600" b="1">
                  <a:latin typeface="Times New Roman" panose="02020603050405020304" pitchFamily="18" charset="0"/>
                </a:rPr>
                <a:t>Sản lượng thấp</a:t>
              </a:r>
              <a:endParaRPr lang="en-US" altLang="vi-VN" sz="1800"/>
            </a:p>
          </p:txBody>
        </p:sp>
        <p:sp>
          <p:nvSpPr>
            <p:cNvPr id="24587" name="Text Box 23">
              <a:extLst>
                <a:ext uri="{FF2B5EF4-FFF2-40B4-BE49-F238E27FC236}">
                  <a16:creationId xmlns:a16="http://schemas.microsoft.com/office/drawing/2014/main" id="{0E07AA66-2939-A9BB-DFE3-5D16521FD6A5}"/>
                </a:ext>
              </a:extLst>
            </p:cNvPr>
            <p:cNvSpPr txBox="1">
              <a:spLocks noChangeArrowheads="1"/>
            </p:cNvSpPr>
            <p:nvPr/>
          </p:nvSpPr>
          <p:spPr bwMode="auto">
            <a:xfrm>
              <a:off x="7388" y="3810"/>
              <a:ext cx="1903"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600" b="1">
                  <a:latin typeface="Times New Roman" panose="02020603050405020304" pitchFamily="18" charset="0"/>
                </a:rPr>
                <a:t>Sản lượng cao</a:t>
              </a:r>
              <a:endParaRPr lang="en-US" altLang="vi-VN" sz="1800"/>
            </a:p>
          </p:txBody>
        </p:sp>
        <p:sp>
          <p:nvSpPr>
            <p:cNvPr id="24588" name="Text Box 24">
              <a:extLst>
                <a:ext uri="{FF2B5EF4-FFF2-40B4-BE49-F238E27FC236}">
                  <a16:creationId xmlns:a16="http://schemas.microsoft.com/office/drawing/2014/main" id="{3394AD8F-6255-BACE-3F68-6698E653A9B9}"/>
                </a:ext>
              </a:extLst>
            </p:cNvPr>
            <p:cNvSpPr txBox="1">
              <a:spLocks noChangeArrowheads="1"/>
            </p:cNvSpPr>
            <p:nvPr/>
          </p:nvSpPr>
          <p:spPr bwMode="auto">
            <a:xfrm>
              <a:off x="3856" y="4620"/>
              <a:ext cx="1631" cy="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600" b="1">
                  <a:latin typeface="Times New Roman" panose="02020603050405020304" pitchFamily="18" charset="0"/>
                </a:rPr>
                <a:t>Sản lượng thấp</a:t>
              </a:r>
              <a:endParaRPr lang="en-US" altLang="vi-VN" sz="1800"/>
            </a:p>
          </p:txBody>
        </p:sp>
        <p:sp>
          <p:nvSpPr>
            <p:cNvPr id="24589" name="Text Box 25">
              <a:extLst>
                <a:ext uri="{FF2B5EF4-FFF2-40B4-BE49-F238E27FC236}">
                  <a16:creationId xmlns:a16="http://schemas.microsoft.com/office/drawing/2014/main" id="{DF9226A5-B3EA-2A98-4DE0-2B45E31E2450}"/>
                </a:ext>
              </a:extLst>
            </p:cNvPr>
            <p:cNvSpPr txBox="1">
              <a:spLocks noChangeArrowheads="1"/>
            </p:cNvSpPr>
            <p:nvPr/>
          </p:nvSpPr>
          <p:spPr bwMode="auto">
            <a:xfrm>
              <a:off x="3856" y="5565"/>
              <a:ext cx="1631" cy="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600" b="1">
                  <a:latin typeface="Times New Roman" panose="02020603050405020304" pitchFamily="18" charset="0"/>
                </a:rPr>
                <a:t>Sản lượng cao</a:t>
              </a:r>
              <a:endParaRPr lang="en-US" altLang="vi-VN" sz="1600" b="1"/>
            </a:p>
            <a:p>
              <a:pPr eaLnBrk="1" hangingPunct="1">
                <a:spcBef>
                  <a:spcPct val="0"/>
                </a:spcBef>
                <a:buClrTx/>
                <a:buFontTx/>
                <a:buNone/>
              </a:pPr>
              <a:endParaRPr lang="en-US" altLang="vi-VN" sz="1800"/>
            </a:p>
          </p:txBody>
        </p:sp>
        <p:sp>
          <p:nvSpPr>
            <p:cNvPr id="24590" name="Text Box 26">
              <a:extLst>
                <a:ext uri="{FF2B5EF4-FFF2-40B4-BE49-F238E27FC236}">
                  <a16:creationId xmlns:a16="http://schemas.microsoft.com/office/drawing/2014/main" id="{CF1AFA2D-7CF7-1D82-E12D-C03F65C0259B}"/>
                </a:ext>
              </a:extLst>
            </p:cNvPr>
            <p:cNvSpPr txBox="1">
              <a:spLocks noChangeArrowheads="1"/>
            </p:cNvSpPr>
            <p:nvPr/>
          </p:nvSpPr>
          <p:spPr bwMode="auto">
            <a:xfrm>
              <a:off x="2498" y="5025"/>
              <a:ext cx="1495"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800" b="1"/>
                <a:t>Hilda Inc.</a:t>
              </a:r>
              <a:endParaRPr lang="en-US" altLang="vi-VN" sz="1800"/>
            </a:p>
          </p:txBody>
        </p:sp>
        <p:sp>
          <p:nvSpPr>
            <p:cNvPr id="24591" name="Text Box 27">
              <a:extLst>
                <a:ext uri="{FF2B5EF4-FFF2-40B4-BE49-F238E27FC236}">
                  <a16:creationId xmlns:a16="http://schemas.microsoft.com/office/drawing/2014/main" id="{F50EF253-226A-E306-F5B7-20C3B1ACA6AC}"/>
                </a:ext>
              </a:extLst>
            </p:cNvPr>
            <p:cNvSpPr txBox="1">
              <a:spLocks noChangeArrowheads="1"/>
            </p:cNvSpPr>
            <p:nvPr/>
          </p:nvSpPr>
          <p:spPr bwMode="auto">
            <a:xfrm>
              <a:off x="5487" y="5430"/>
              <a:ext cx="1901"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400"/>
            </a:p>
            <a:p>
              <a:pPr algn="ctr" eaLnBrk="1" hangingPunct="1">
                <a:spcBef>
                  <a:spcPct val="0"/>
                </a:spcBef>
                <a:buClrTx/>
                <a:buFontTx/>
                <a:buNone/>
              </a:pPr>
              <a:r>
                <a:rPr lang="en-US" altLang="vi-VN" sz="1600" b="1"/>
                <a:t>H: 19, S: 5</a:t>
              </a:r>
              <a:endParaRPr lang="en-US" altLang="vi-VN" sz="180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A81EE17-31C8-FFA1-0347-9E503B154EA4}"/>
              </a:ext>
            </a:extLst>
          </p:cNvPr>
          <p:cNvSpPr>
            <a:spLocks noGrp="1" noChangeArrowheads="1"/>
          </p:cNvSpPr>
          <p:nvPr>
            <p:ph type="title"/>
          </p:nvPr>
        </p:nvSpPr>
        <p:spPr/>
        <p:txBody>
          <a:bodyPr/>
          <a:lstStyle/>
          <a:p>
            <a:pPr eaLnBrk="1" hangingPunct="1"/>
            <a:r>
              <a:rPr lang="en-US" altLang="vi-VN" sz="3400" b="1"/>
              <a:t>Cân bằng Nash trong chiến lược hỗn hợp</a:t>
            </a:r>
            <a:r>
              <a:rPr lang="en-US" altLang="vi-VN" sz="3400"/>
              <a:t> </a:t>
            </a:r>
          </a:p>
        </p:txBody>
      </p:sp>
      <p:sp>
        <p:nvSpPr>
          <p:cNvPr id="25603" name="Rectangle 3">
            <a:extLst>
              <a:ext uri="{FF2B5EF4-FFF2-40B4-BE49-F238E27FC236}">
                <a16:creationId xmlns:a16="http://schemas.microsoft.com/office/drawing/2014/main" id="{CDAB5EDF-1332-53C3-1C6B-82B8AF7606ED}"/>
              </a:ext>
            </a:extLst>
          </p:cNvPr>
          <p:cNvSpPr>
            <a:spLocks noGrp="1" noChangeArrowheads="1"/>
          </p:cNvSpPr>
          <p:nvPr>
            <p:ph type="body" idx="1"/>
          </p:nvPr>
        </p:nvSpPr>
        <p:spPr/>
        <p:txBody>
          <a:bodyPr/>
          <a:lstStyle/>
          <a:p>
            <a:pPr eaLnBrk="1" hangingPunct="1"/>
            <a:r>
              <a:rPr lang="en-US" altLang="vi-VN"/>
              <a:t>Định giá bán lẻ </a:t>
            </a:r>
          </a:p>
        </p:txBody>
      </p:sp>
      <p:grpSp>
        <p:nvGrpSpPr>
          <p:cNvPr id="25604" name="Group 4">
            <a:extLst>
              <a:ext uri="{FF2B5EF4-FFF2-40B4-BE49-F238E27FC236}">
                <a16:creationId xmlns:a16="http://schemas.microsoft.com/office/drawing/2014/main" id="{2D2A65BD-F232-68AE-33FF-50CE48652D84}"/>
              </a:ext>
            </a:extLst>
          </p:cNvPr>
          <p:cNvGrpSpPr>
            <a:grpSpLocks noChangeAspect="1"/>
          </p:cNvGrpSpPr>
          <p:nvPr/>
        </p:nvGrpSpPr>
        <p:grpSpPr bwMode="auto">
          <a:xfrm>
            <a:off x="3048000" y="2286000"/>
            <a:ext cx="6057900" cy="3314700"/>
            <a:chOff x="2362" y="3000"/>
            <a:chExt cx="7200" cy="3915"/>
          </a:xfrm>
        </p:grpSpPr>
        <p:sp>
          <p:nvSpPr>
            <p:cNvPr id="25605" name="AutoShape 5">
              <a:extLst>
                <a:ext uri="{FF2B5EF4-FFF2-40B4-BE49-F238E27FC236}">
                  <a16:creationId xmlns:a16="http://schemas.microsoft.com/office/drawing/2014/main" id="{28FE4240-A56F-404A-5850-06D1927A8C4D}"/>
                </a:ext>
              </a:extLst>
            </p:cNvPr>
            <p:cNvSpPr>
              <a:spLocks noChangeAspect="1" noChangeArrowheads="1"/>
            </p:cNvSpPr>
            <p:nvPr/>
          </p:nvSpPr>
          <p:spPr bwMode="auto">
            <a:xfrm>
              <a:off x="2362" y="3000"/>
              <a:ext cx="7200" cy="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endParaRPr lang="vi-VN" altLang="vi-VN" sz="1800"/>
            </a:p>
          </p:txBody>
        </p:sp>
        <p:sp>
          <p:nvSpPr>
            <p:cNvPr id="25606" name="Text Box 6">
              <a:extLst>
                <a:ext uri="{FF2B5EF4-FFF2-40B4-BE49-F238E27FC236}">
                  <a16:creationId xmlns:a16="http://schemas.microsoft.com/office/drawing/2014/main" id="{20753F25-A0BD-43CC-AADA-53330DD8550C}"/>
                </a:ext>
              </a:extLst>
            </p:cNvPr>
            <p:cNvSpPr txBox="1">
              <a:spLocks noChangeArrowheads="1"/>
            </p:cNvSpPr>
            <p:nvPr/>
          </p:nvSpPr>
          <p:spPr bwMode="auto">
            <a:xfrm>
              <a:off x="7388" y="5430"/>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400"/>
            </a:p>
            <a:p>
              <a:pPr algn="ctr" eaLnBrk="1" hangingPunct="1">
                <a:spcBef>
                  <a:spcPct val="0"/>
                </a:spcBef>
                <a:buClrTx/>
                <a:buFontTx/>
                <a:buNone/>
              </a:pPr>
              <a:r>
                <a:rPr lang="en-US" altLang="vi-VN" sz="1400" b="1"/>
                <a:t>M: 5000, J: 3000</a:t>
              </a:r>
              <a:endParaRPr lang="en-US" altLang="vi-VN" sz="1800"/>
            </a:p>
          </p:txBody>
        </p:sp>
        <p:sp>
          <p:nvSpPr>
            <p:cNvPr id="25607" name="Text Box 7">
              <a:extLst>
                <a:ext uri="{FF2B5EF4-FFF2-40B4-BE49-F238E27FC236}">
                  <a16:creationId xmlns:a16="http://schemas.microsoft.com/office/drawing/2014/main" id="{75A07ED6-14D2-938F-D647-81FFA25C89D2}"/>
                </a:ext>
              </a:extLst>
            </p:cNvPr>
            <p:cNvSpPr txBox="1">
              <a:spLocks noChangeArrowheads="1"/>
            </p:cNvSpPr>
            <p:nvPr/>
          </p:nvSpPr>
          <p:spPr bwMode="auto">
            <a:xfrm>
              <a:off x="7388" y="4485"/>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400"/>
            </a:p>
            <a:p>
              <a:pPr algn="ctr" eaLnBrk="1" hangingPunct="1">
                <a:spcBef>
                  <a:spcPct val="0"/>
                </a:spcBef>
                <a:buClrTx/>
                <a:buFontTx/>
                <a:buNone/>
              </a:pPr>
              <a:r>
                <a:rPr lang="en-US" altLang="vi-VN" sz="1400" b="1"/>
                <a:t>M: 4000, J: 5000</a:t>
              </a:r>
              <a:endParaRPr lang="en-US" altLang="vi-VN" sz="1800"/>
            </a:p>
          </p:txBody>
        </p:sp>
        <p:sp>
          <p:nvSpPr>
            <p:cNvPr id="25608" name="Text Box 8">
              <a:extLst>
                <a:ext uri="{FF2B5EF4-FFF2-40B4-BE49-F238E27FC236}">
                  <a16:creationId xmlns:a16="http://schemas.microsoft.com/office/drawing/2014/main" id="{658847CC-A666-2B06-60EF-6BDABEDE2B82}"/>
                </a:ext>
              </a:extLst>
            </p:cNvPr>
            <p:cNvSpPr txBox="1">
              <a:spLocks noChangeArrowheads="1"/>
            </p:cNvSpPr>
            <p:nvPr/>
          </p:nvSpPr>
          <p:spPr bwMode="auto">
            <a:xfrm>
              <a:off x="5487" y="4485"/>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300"/>
            </a:p>
            <a:p>
              <a:pPr algn="ctr" eaLnBrk="1" hangingPunct="1">
                <a:spcBef>
                  <a:spcPct val="0"/>
                </a:spcBef>
                <a:buClrTx/>
                <a:buFontTx/>
                <a:buNone/>
              </a:pPr>
              <a:r>
                <a:rPr lang="en-US" altLang="vi-VN" sz="1400" b="1"/>
                <a:t>M: 6000, J: 4000</a:t>
              </a:r>
              <a:endParaRPr lang="en-US" altLang="vi-VN" sz="1800"/>
            </a:p>
          </p:txBody>
        </p:sp>
        <p:sp>
          <p:nvSpPr>
            <p:cNvPr id="25609" name="Text Box 9">
              <a:extLst>
                <a:ext uri="{FF2B5EF4-FFF2-40B4-BE49-F238E27FC236}">
                  <a16:creationId xmlns:a16="http://schemas.microsoft.com/office/drawing/2014/main" id="{C2ABFE2A-E089-0EF3-9AF5-D09466B6C3FE}"/>
                </a:ext>
              </a:extLst>
            </p:cNvPr>
            <p:cNvSpPr txBox="1">
              <a:spLocks noChangeArrowheads="1"/>
            </p:cNvSpPr>
            <p:nvPr/>
          </p:nvSpPr>
          <p:spPr bwMode="auto">
            <a:xfrm>
              <a:off x="6709" y="3135"/>
              <a:ext cx="2038"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2000" b="1"/>
                <a:t>Joe</a:t>
              </a:r>
              <a:endParaRPr lang="en-US" altLang="vi-VN" sz="1800"/>
            </a:p>
          </p:txBody>
        </p:sp>
        <p:sp>
          <p:nvSpPr>
            <p:cNvPr id="25610" name="Text Box 10">
              <a:extLst>
                <a:ext uri="{FF2B5EF4-FFF2-40B4-BE49-F238E27FC236}">
                  <a16:creationId xmlns:a16="http://schemas.microsoft.com/office/drawing/2014/main" id="{FB01A451-B233-A1E5-1FFA-532EA8992A65}"/>
                </a:ext>
              </a:extLst>
            </p:cNvPr>
            <p:cNvSpPr txBox="1">
              <a:spLocks noChangeArrowheads="1"/>
            </p:cNvSpPr>
            <p:nvPr/>
          </p:nvSpPr>
          <p:spPr bwMode="auto">
            <a:xfrm>
              <a:off x="5622" y="3810"/>
              <a:ext cx="1902"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800" b="1"/>
                <a:t>Giá cao</a:t>
              </a:r>
              <a:endParaRPr lang="en-US" altLang="vi-VN" sz="1800"/>
            </a:p>
          </p:txBody>
        </p:sp>
        <p:sp>
          <p:nvSpPr>
            <p:cNvPr id="25611" name="Text Box 11">
              <a:extLst>
                <a:ext uri="{FF2B5EF4-FFF2-40B4-BE49-F238E27FC236}">
                  <a16:creationId xmlns:a16="http://schemas.microsoft.com/office/drawing/2014/main" id="{F5DE8A56-C39A-FB6B-3776-DCE5DA8927C1}"/>
                </a:ext>
              </a:extLst>
            </p:cNvPr>
            <p:cNvSpPr txBox="1">
              <a:spLocks noChangeArrowheads="1"/>
            </p:cNvSpPr>
            <p:nvPr/>
          </p:nvSpPr>
          <p:spPr bwMode="auto">
            <a:xfrm>
              <a:off x="7388" y="3810"/>
              <a:ext cx="1903"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800" b="1"/>
                <a:t>Giá thấp</a:t>
              </a:r>
              <a:endParaRPr lang="en-US" altLang="vi-VN" sz="1800"/>
            </a:p>
          </p:txBody>
        </p:sp>
        <p:sp>
          <p:nvSpPr>
            <p:cNvPr id="25612" name="Text Box 12">
              <a:extLst>
                <a:ext uri="{FF2B5EF4-FFF2-40B4-BE49-F238E27FC236}">
                  <a16:creationId xmlns:a16="http://schemas.microsoft.com/office/drawing/2014/main" id="{237F1641-50E9-E204-BF93-B1CCFFD62B38}"/>
                </a:ext>
              </a:extLst>
            </p:cNvPr>
            <p:cNvSpPr txBox="1">
              <a:spLocks noChangeArrowheads="1"/>
            </p:cNvSpPr>
            <p:nvPr/>
          </p:nvSpPr>
          <p:spPr bwMode="auto">
            <a:xfrm>
              <a:off x="3856" y="4620"/>
              <a:ext cx="1631" cy="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800" b="1"/>
                <a:t>Giá cao</a:t>
              </a:r>
            </a:p>
            <a:p>
              <a:pPr eaLnBrk="1" hangingPunct="1">
                <a:spcBef>
                  <a:spcPct val="0"/>
                </a:spcBef>
                <a:buClrTx/>
                <a:buFontTx/>
                <a:buNone/>
              </a:pPr>
              <a:endParaRPr lang="en-US" altLang="vi-VN" sz="1800"/>
            </a:p>
          </p:txBody>
        </p:sp>
        <p:sp>
          <p:nvSpPr>
            <p:cNvPr id="25613" name="Text Box 13">
              <a:extLst>
                <a:ext uri="{FF2B5EF4-FFF2-40B4-BE49-F238E27FC236}">
                  <a16:creationId xmlns:a16="http://schemas.microsoft.com/office/drawing/2014/main" id="{63D93777-1068-5076-53BC-CA368BC60A95}"/>
                </a:ext>
              </a:extLst>
            </p:cNvPr>
            <p:cNvSpPr txBox="1">
              <a:spLocks noChangeArrowheads="1"/>
            </p:cNvSpPr>
            <p:nvPr/>
          </p:nvSpPr>
          <p:spPr bwMode="auto">
            <a:xfrm>
              <a:off x="3856" y="5565"/>
              <a:ext cx="1631" cy="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800" b="1"/>
                <a:t>Giá thấp</a:t>
              </a:r>
            </a:p>
            <a:p>
              <a:pPr eaLnBrk="1" hangingPunct="1">
                <a:spcBef>
                  <a:spcPct val="0"/>
                </a:spcBef>
                <a:buClrTx/>
                <a:buFontTx/>
                <a:buNone/>
              </a:pPr>
              <a:endParaRPr lang="en-US" altLang="vi-VN" sz="1800"/>
            </a:p>
          </p:txBody>
        </p:sp>
        <p:sp>
          <p:nvSpPr>
            <p:cNvPr id="25614" name="Text Box 14">
              <a:extLst>
                <a:ext uri="{FF2B5EF4-FFF2-40B4-BE49-F238E27FC236}">
                  <a16:creationId xmlns:a16="http://schemas.microsoft.com/office/drawing/2014/main" id="{6AF391A0-C594-C3B3-1410-6C557CFF0B20}"/>
                </a:ext>
              </a:extLst>
            </p:cNvPr>
            <p:cNvSpPr txBox="1">
              <a:spLocks noChangeArrowheads="1"/>
            </p:cNvSpPr>
            <p:nvPr/>
          </p:nvSpPr>
          <p:spPr bwMode="auto">
            <a:xfrm>
              <a:off x="2498" y="5025"/>
              <a:ext cx="1495"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2000" b="1"/>
                <a:t>Mick</a:t>
              </a:r>
              <a:endParaRPr lang="en-US" altLang="vi-VN" sz="1800"/>
            </a:p>
          </p:txBody>
        </p:sp>
        <p:sp>
          <p:nvSpPr>
            <p:cNvPr id="25615" name="Text Box 15">
              <a:extLst>
                <a:ext uri="{FF2B5EF4-FFF2-40B4-BE49-F238E27FC236}">
                  <a16:creationId xmlns:a16="http://schemas.microsoft.com/office/drawing/2014/main" id="{E5D6D5AC-A25D-3776-2D64-5B359A20D521}"/>
                </a:ext>
              </a:extLst>
            </p:cNvPr>
            <p:cNvSpPr txBox="1">
              <a:spLocks noChangeArrowheads="1"/>
            </p:cNvSpPr>
            <p:nvPr/>
          </p:nvSpPr>
          <p:spPr bwMode="auto">
            <a:xfrm>
              <a:off x="5487" y="5430"/>
              <a:ext cx="1901"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400"/>
            </a:p>
            <a:p>
              <a:pPr algn="ctr" eaLnBrk="1" hangingPunct="1">
                <a:spcBef>
                  <a:spcPct val="0"/>
                </a:spcBef>
                <a:buClrTx/>
                <a:buFontTx/>
                <a:buNone/>
              </a:pPr>
              <a:r>
                <a:rPr lang="en-US" altLang="vi-VN" sz="1400" b="1"/>
                <a:t>M: 5000, J: 4000</a:t>
              </a:r>
              <a:endParaRPr lang="en-US" altLang="vi-VN" sz="180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A47593C8-3F33-465F-65D7-39E0007BE524}"/>
              </a:ext>
            </a:extLst>
          </p:cNvPr>
          <p:cNvSpPr>
            <a:spLocks noGrp="1" noChangeArrowheads="1"/>
          </p:cNvSpPr>
          <p:nvPr>
            <p:ph type="title"/>
          </p:nvPr>
        </p:nvSpPr>
        <p:spPr/>
        <p:txBody>
          <a:bodyPr/>
          <a:lstStyle/>
          <a:p>
            <a:pPr eaLnBrk="1" hangingPunct="1"/>
            <a:r>
              <a:rPr lang="en-US" altLang="vi-VN" sz="3400" b="1"/>
              <a:t>Cân bằng Nash trong chiến lược hỗn hợp</a:t>
            </a:r>
          </a:p>
        </p:txBody>
      </p:sp>
      <p:sp>
        <p:nvSpPr>
          <p:cNvPr id="26627" name="Rectangle 3">
            <a:extLst>
              <a:ext uri="{FF2B5EF4-FFF2-40B4-BE49-F238E27FC236}">
                <a16:creationId xmlns:a16="http://schemas.microsoft.com/office/drawing/2014/main" id="{ADEC0111-C4D5-8C61-51E7-64C60A246BD7}"/>
              </a:ext>
            </a:extLst>
          </p:cNvPr>
          <p:cNvSpPr>
            <a:spLocks noGrp="1" noChangeArrowheads="1"/>
          </p:cNvSpPr>
          <p:nvPr>
            <p:ph type="body" idx="1"/>
          </p:nvPr>
        </p:nvSpPr>
        <p:spPr/>
        <p:txBody>
          <a:bodyPr/>
          <a:lstStyle/>
          <a:p>
            <a:pPr eaLnBrk="1" hangingPunct="1"/>
            <a:r>
              <a:rPr lang="en-US" altLang="vi-VN"/>
              <a:t>Định giá bán lẻ</a:t>
            </a:r>
          </a:p>
        </p:txBody>
      </p:sp>
      <p:grpSp>
        <p:nvGrpSpPr>
          <p:cNvPr id="26628" name="Group 4">
            <a:extLst>
              <a:ext uri="{FF2B5EF4-FFF2-40B4-BE49-F238E27FC236}">
                <a16:creationId xmlns:a16="http://schemas.microsoft.com/office/drawing/2014/main" id="{26A3378E-72D8-3F79-B34E-C3A34000ABAB}"/>
              </a:ext>
            </a:extLst>
          </p:cNvPr>
          <p:cNvGrpSpPr>
            <a:grpSpLocks noChangeAspect="1"/>
          </p:cNvGrpSpPr>
          <p:nvPr/>
        </p:nvGrpSpPr>
        <p:grpSpPr bwMode="auto">
          <a:xfrm>
            <a:off x="2424113" y="1873250"/>
            <a:ext cx="6057900" cy="3314700"/>
            <a:chOff x="2362" y="3000"/>
            <a:chExt cx="7200" cy="3915"/>
          </a:xfrm>
        </p:grpSpPr>
        <p:sp>
          <p:nvSpPr>
            <p:cNvPr id="26629" name="AutoShape 5">
              <a:extLst>
                <a:ext uri="{FF2B5EF4-FFF2-40B4-BE49-F238E27FC236}">
                  <a16:creationId xmlns:a16="http://schemas.microsoft.com/office/drawing/2014/main" id="{D92A9575-70CC-25C9-EB4F-484FA8509558}"/>
                </a:ext>
              </a:extLst>
            </p:cNvPr>
            <p:cNvSpPr>
              <a:spLocks noChangeAspect="1" noChangeArrowheads="1"/>
            </p:cNvSpPr>
            <p:nvPr/>
          </p:nvSpPr>
          <p:spPr bwMode="auto">
            <a:xfrm>
              <a:off x="2362" y="3000"/>
              <a:ext cx="7200" cy="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endParaRPr lang="vi-VN" altLang="vi-VN" sz="1800"/>
            </a:p>
          </p:txBody>
        </p:sp>
        <p:sp>
          <p:nvSpPr>
            <p:cNvPr id="26630" name="Text Box 6">
              <a:extLst>
                <a:ext uri="{FF2B5EF4-FFF2-40B4-BE49-F238E27FC236}">
                  <a16:creationId xmlns:a16="http://schemas.microsoft.com/office/drawing/2014/main" id="{36675558-8B8B-371F-F34F-A94FCC236720}"/>
                </a:ext>
              </a:extLst>
            </p:cNvPr>
            <p:cNvSpPr txBox="1">
              <a:spLocks noChangeArrowheads="1"/>
            </p:cNvSpPr>
            <p:nvPr/>
          </p:nvSpPr>
          <p:spPr bwMode="auto">
            <a:xfrm>
              <a:off x="7388" y="5430"/>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400"/>
            </a:p>
            <a:p>
              <a:pPr algn="ctr" eaLnBrk="1" hangingPunct="1">
                <a:spcBef>
                  <a:spcPct val="0"/>
                </a:spcBef>
                <a:buClrTx/>
                <a:buFontTx/>
                <a:buNone/>
              </a:pPr>
              <a:r>
                <a:rPr lang="en-US" altLang="vi-VN" sz="1400" b="1"/>
                <a:t>M: 5000, J: 3000</a:t>
              </a:r>
              <a:endParaRPr lang="en-US" altLang="vi-VN" sz="1800"/>
            </a:p>
          </p:txBody>
        </p:sp>
        <p:sp>
          <p:nvSpPr>
            <p:cNvPr id="26631" name="Text Box 7">
              <a:extLst>
                <a:ext uri="{FF2B5EF4-FFF2-40B4-BE49-F238E27FC236}">
                  <a16:creationId xmlns:a16="http://schemas.microsoft.com/office/drawing/2014/main" id="{BE0D3C41-4E89-4540-0D50-F748A39991FA}"/>
                </a:ext>
              </a:extLst>
            </p:cNvPr>
            <p:cNvSpPr txBox="1">
              <a:spLocks noChangeArrowheads="1"/>
            </p:cNvSpPr>
            <p:nvPr/>
          </p:nvSpPr>
          <p:spPr bwMode="auto">
            <a:xfrm>
              <a:off x="7388" y="4485"/>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400"/>
            </a:p>
            <a:p>
              <a:pPr algn="ctr" eaLnBrk="1" hangingPunct="1">
                <a:spcBef>
                  <a:spcPct val="0"/>
                </a:spcBef>
                <a:buClrTx/>
                <a:buFontTx/>
                <a:buNone/>
              </a:pPr>
              <a:r>
                <a:rPr lang="en-US" altLang="vi-VN" sz="1400" b="1"/>
                <a:t>M: 4000, J: 5000</a:t>
              </a:r>
              <a:endParaRPr lang="en-US" altLang="vi-VN" sz="1800"/>
            </a:p>
          </p:txBody>
        </p:sp>
        <p:sp>
          <p:nvSpPr>
            <p:cNvPr id="26632" name="Text Box 8">
              <a:extLst>
                <a:ext uri="{FF2B5EF4-FFF2-40B4-BE49-F238E27FC236}">
                  <a16:creationId xmlns:a16="http://schemas.microsoft.com/office/drawing/2014/main" id="{78D72D65-E44C-0648-6CE6-58AA27774176}"/>
                </a:ext>
              </a:extLst>
            </p:cNvPr>
            <p:cNvSpPr txBox="1">
              <a:spLocks noChangeArrowheads="1"/>
            </p:cNvSpPr>
            <p:nvPr/>
          </p:nvSpPr>
          <p:spPr bwMode="auto">
            <a:xfrm>
              <a:off x="5487" y="4485"/>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300"/>
            </a:p>
            <a:p>
              <a:pPr algn="ctr" eaLnBrk="1" hangingPunct="1">
                <a:spcBef>
                  <a:spcPct val="0"/>
                </a:spcBef>
                <a:buClrTx/>
                <a:buFontTx/>
                <a:buNone/>
              </a:pPr>
              <a:r>
                <a:rPr lang="en-US" altLang="vi-VN" sz="1400" b="1"/>
                <a:t>M: 6000, J: 4000</a:t>
              </a:r>
              <a:endParaRPr lang="en-US" altLang="vi-VN" sz="1800"/>
            </a:p>
          </p:txBody>
        </p:sp>
        <p:sp>
          <p:nvSpPr>
            <p:cNvPr id="26633" name="Text Box 9">
              <a:extLst>
                <a:ext uri="{FF2B5EF4-FFF2-40B4-BE49-F238E27FC236}">
                  <a16:creationId xmlns:a16="http://schemas.microsoft.com/office/drawing/2014/main" id="{05DEB880-5E18-FE07-3F41-19647091B0E8}"/>
                </a:ext>
              </a:extLst>
            </p:cNvPr>
            <p:cNvSpPr txBox="1">
              <a:spLocks noChangeArrowheads="1"/>
            </p:cNvSpPr>
            <p:nvPr/>
          </p:nvSpPr>
          <p:spPr bwMode="auto">
            <a:xfrm>
              <a:off x="6709" y="3135"/>
              <a:ext cx="2038"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2000" b="1"/>
                <a:t>Joe</a:t>
              </a:r>
              <a:endParaRPr lang="en-US" altLang="vi-VN" sz="1800"/>
            </a:p>
          </p:txBody>
        </p:sp>
        <p:sp>
          <p:nvSpPr>
            <p:cNvPr id="26634" name="Text Box 10">
              <a:extLst>
                <a:ext uri="{FF2B5EF4-FFF2-40B4-BE49-F238E27FC236}">
                  <a16:creationId xmlns:a16="http://schemas.microsoft.com/office/drawing/2014/main" id="{3C844451-AECB-0DA5-4D12-C9BDA952EA76}"/>
                </a:ext>
              </a:extLst>
            </p:cNvPr>
            <p:cNvSpPr txBox="1">
              <a:spLocks noChangeArrowheads="1"/>
            </p:cNvSpPr>
            <p:nvPr/>
          </p:nvSpPr>
          <p:spPr bwMode="auto">
            <a:xfrm>
              <a:off x="5622" y="3810"/>
              <a:ext cx="1902"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800" b="1"/>
                <a:t>Giá cao </a:t>
              </a:r>
              <a:r>
                <a:rPr lang="en-US" altLang="vi-VN" sz="1800" b="1" i="1"/>
                <a:t>p</a:t>
              </a:r>
              <a:endParaRPr lang="en-US" altLang="vi-VN" sz="1800"/>
            </a:p>
          </p:txBody>
        </p:sp>
        <p:sp>
          <p:nvSpPr>
            <p:cNvPr id="26635" name="Text Box 11">
              <a:extLst>
                <a:ext uri="{FF2B5EF4-FFF2-40B4-BE49-F238E27FC236}">
                  <a16:creationId xmlns:a16="http://schemas.microsoft.com/office/drawing/2014/main" id="{F9A179AB-217D-9D86-0156-90ED1D0BF83E}"/>
                </a:ext>
              </a:extLst>
            </p:cNvPr>
            <p:cNvSpPr txBox="1">
              <a:spLocks noChangeArrowheads="1"/>
            </p:cNvSpPr>
            <p:nvPr/>
          </p:nvSpPr>
          <p:spPr bwMode="auto">
            <a:xfrm>
              <a:off x="7388" y="3810"/>
              <a:ext cx="1903"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800" b="1"/>
                <a:t>Giá thấp 1- </a:t>
              </a:r>
              <a:r>
                <a:rPr lang="en-US" altLang="vi-VN" sz="1800" b="1" i="1"/>
                <a:t>p</a:t>
              </a:r>
              <a:endParaRPr lang="en-US" altLang="vi-VN" sz="1800"/>
            </a:p>
          </p:txBody>
        </p:sp>
        <p:sp>
          <p:nvSpPr>
            <p:cNvPr id="26636" name="Text Box 12">
              <a:extLst>
                <a:ext uri="{FF2B5EF4-FFF2-40B4-BE49-F238E27FC236}">
                  <a16:creationId xmlns:a16="http://schemas.microsoft.com/office/drawing/2014/main" id="{D489DCB2-B080-9ED2-43EC-25F89A1B4D8A}"/>
                </a:ext>
              </a:extLst>
            </p:cNvPr>
            <p:cNvSpPr txBox="1">
              <a:spLocks noChangeArrowheads="1"/>
            </p:cNvSpPr>
            <p:nvPr/>
          </p:nvSpPr>
          <p:spPr bwMode="auto">
            <a:xfrm>
              <a:off x="3856" y="4620"/>
              <a:ext cx="1631" cy="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vi-VN" sz="1800" b="1"/>
                <a:t>Giá cao</a:t>
              </a:r>
            </a:p>
            <a:p>
              <a:pPr algn="ctr" eaLnBrk="1" hangingPunct="1">
                <a:spcBef>
                  <a:spcPct val="0"/>
                </a:spcBef>
                <a:buClrTx/>
                <a:buFontTx/>
                <a:buNone/>
              </a:pPr>
              <a:r>
                <a:rPr lang="en-US" altLang="vi-VN" sz="1800" b="1" i="1"/>
                <a:t>q</a:t>
              </a:r>
            </a:p>
          </p:txBody>
        </p:sp>
        <p:sp>
          <p:nvSpPr>
            <p:cNvPr id="26637" name="Text Box 13">
              <a:extLst>
                <a:ext uri="{FF2B5EF4-FFF2-40B4-BE49-F238E27FC236}">
                  <a16:creationId xmlns:a16="http://schemas.microsoft.com/office/drawing/2014/main" id="{3E2443FE-5A17-AE4E-7965-23A0BF38E6BC}"/>
                </a:ext>
              </a:extLst>
            </p:cNvPr>
            <p:cNvSpPr txBox="1">
              <a:spLocks noChangeArrowheads="1"/>
            </p:cNvSpPr>
            <p:nvPr/>
          </p:nvSpPr>
          <p:spPr bwMode="auto">
            <a:xfrm>
              <a:off x="3856" y="5565"/>
              <a:ext cx="1631" cy="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vi-VN" sz="1800" b="1"/>
                <a:t>Giá thấp</a:t>
              </a:r>
            </a:p>
            <a:p>
              <a:pPr algn="ctr" eaLnBrk="1" hangingPunct="1">
                <a:spcBef>
                  <a:spcPct val="0"/>
                </a:spcBef>
                <a:buClrTx/>
                <a:buFontTx/>
                <a:buNone/>
              </a:pPr>
              <a:r>
                <a:rPr lang="en-US" altLang="vi-VN" sz="1800" b="1"/>
                <a:t>1- </a:t>
              </a:r>
              <a:r>
                <a:rPr lang="en-US" altLang="vi-VN" sz="1800" b="1" i="1"/>
                <a:t>q</a:t>
              </a:r>
              <a:endParaRPr lang="en-US" altLang="vi-VN" sz="1800" b="1"/>
            </a:p>
            <a:p>
              <a:pPr eaLnBrk="1" hangingPunct="1">
                <a:spcBef>
                  <a:spcPct val="0"/>
                </a:spcBef>
                <a:buClrTx/>
                <a:buFontTx/>
                <a:buNone/>
              </a:pPr>
              <a:endParaRPr lang="en-US" altLang="vi-VN" sz="1800"/>
            </a:p>
          </p:txBody>
        </p:sp>
        <p:sp>
          <p:nvSpPr>
            <p:cNvPr id="26638" name="Text Box 14">
              <a:extLst>
                <a:ext uri="{FF2B5EF4-FFF2-40B4-BE49-F238E27FC236}">
                  <a16:creationId xmlns:a16="http://schemas.microsoft.com/office/drawing/2014/main" id="{AD05B609-AFAE-864F-9648-2161D0BD690E}"/>
                </a:ext>
              </a:extLst>
            </p:cNvPr>
            <p:cNvSpPr txBox="1">
              <a:spLocks noChangeArrowheads="1"/>
            </p:cNvSpPr>
            <p:nvPr/>
          </p:nvSpPr>
          <p:spPr bwMode="auto">
            <a:xfrm>
              <a:off x="2498" y="5025"/>
              <a:ext cx="1495"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2000" b="1"/>
                <a:t>Mick</a:t>
              </a:r>
              <a:endParaRPr lang="en-US" altLang="vi-VN" sz="1800"/>
            </a:p>
          </p:txBody>
        </p:sp>
        <p:sp>
          <p:nvSpPr>
            <p:cNvPr id="26639" name="Text Box 15">
              <a:extLst>
                <a:ext uri="{FF2B5EF4-FFF2-40B4-BE49-F238E27FC236}">
                  <a16:creationId xmlns:a16="http://schemas.microsoft.com/office/drawing/2014/main" id="{D3BAE027-CCAA-F818-A4E9-214B9EDB71F9}"/>
                </a:ext>
              </a:extLst>
            </p:cNvPr>
            <p:cNvSpPr txBox="1">
              <a:spLocks noChangeArrowheads="1"/>
            </p:cNvSpPr>
            <p:nvPr/>
          </p:nvSpPr>
          <p:spPr bwMode="auto">
            <a:xfrm>
              <a:off x="5487" y="5430"/>
              <a:ext cx="1901"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400"/>
            </a:p>
            <a:p>
              <a:pPr algn="ctr" eaLnBrk="1" hangingPunct="1">
                <a:spcBef>
                  <a:spcPct val="0"/>
                </a:spcBef>
                <a:buClrTx/>
                <a:buFontTx/>
                <a:buNone/>
              </a:pPr>
              <a:r>
                <a:rPr lang="en-US" altLang="vi-VN" sz="1400" b="1"/>
                <a:t>M: 5000, J: 4000</a:t>
              </a:r>
              <a:endParaRPr lang="en-US" altLang="vi-VN" sz="180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CA680D9-9B15-67C3-BA56-DAC6C05FFCA2}"/>
              </a:ext>
            </a:extLst>
          </p:cNvPr>
          <p:cNvSpPr>
            <a:spLocks noGrp="1" noChangeArrowheads="1"/>
          </p:cNvSpPr>
          <p:nvPr>
            <p:ph type="title"/>
          </p:nvPr>
        </p:nvSpPr>
        <p:spPr/>
        <p:txBody>
          <a:bodyPr/>
          <a:lstStyle/>
          <a:p>
            <a:pPr eaLnBrk="1" hangingPunct="1"/>
            <a:r>
              <a:rPr lang="en-US" altLang="vi-VN" b="1"/>
              <a:t>Chiến lược maximin</a:t>
            </a:r>
          </a:p>
        </p:txBody>
      </p:sp>
      <p:sp>
        <p:nvSpPr>
          <p:cNvPr id="27651" name="Rectangle 3">
            <a:extLst>
              <a:ext uri="{FF2B5EF4-FFF2-40B4-BE49-F238E27FC236}">
                <a16:creationId xmlns:a16="http://schemas.microsoft.com/office/drawing/2014/main" id="{D8E05CBC-2C1E-6455-3EB5-605BF0B91286}"/>
              </a:ext>
            </a:extLst>
          </p:cNvPr>
          <p:cNvSpPr>
            <a:spLocks noGrp="1" noChangeArrowheads="1"/>
          </p:cNvSpPr>
          <p:nvPr>
            <p:ph type="body" idx="1"/>
          </p:nvPr>
        </p:nvSpPr>
        <p:spPr/>
        <p:txBody>
          <a:bodyPr/>
          <a:lstStyle/>
          <a:p>
            <a:pPr eaLnBrk="1" hangingPunct="1"/>
            <a:r>
              <a:rPr lang="en-US" altLang="vi-VN" i="1"/>
              <a:t>Chiến lược maximin</a:t>
            </a:r>
            <a:r>
              <a:rPr lang="en-US" altLang="vi-VN" b="1"/>
              <a:t>: </a:t>
            </a:r>
            <a:r>
              <a:rPr lang="en-US" altLang="vi-VN"/>
              <a:t>người chơi nghiên cứu kết quả xấu nhất của mỗi hành động và chọn hành động có kết quả khả dĩ nhất trong số những kết quả xấu nhất đó. </a:t>
            </a:r>
          </a:p>
          <a:p>
            <a:pPr eaLnBrk="1" hangingPunct="1"/>
            <a:r>
              <a:rPr lang="en-US" altLang="vi-VN"/>
              <a:t>Mục đích của chiến lược này là tránh được kết quả xấu nhất. </a:t>
            </a:r>
          </a:p>
          <a:p>
            <a:pPr eaLnBrk="1" hangingPunct="1"/>
            <a:r>
              <a:rPr lang="en-US" altLang="vi-VN"/>
              <a:t>Chiến lược maximin có tên gọi là chiến lược bi quan hay bảo thủ.</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761D893-7AE5-053A-D7EF-2268155AB4E8}"/>
              </a:ext>
            </a:extLst>
          </p:cNvPr>
          <p:cNvSpPr>
            <a:spLocks noGrp="1" noChangeArrowheads="1"/>
          </p:cNvSpPr>
          <p:nvPr>
            <p:ph type="title"/>
          </p:nvPr>
        </p:nvSpPr>
        <p:spPr/>
        <p:txBody>
          <a:bodyPr/>
          <a:lstStyle/>
          <a:p>
            <a:pPr eaLnBrk="1" hangingPunct="1"/>
            <a:r>
              <a:rPr lang="en-US" altLang="vi-VN" b="1"/>
              <a:t>Chiến lược maximin</a:t>
            </a:r>
          </a:p>
        </p:txBody>
      </p:sp>
      <p:sp>
        <p:nvSpPr>
          <p:cNvPr id="28675" name="Rectangle 3">
            <a:extLst>
              <a:ext uri="{FF2B5EF4-FFF2-40B4-BE49-F238E27FC236}">
                <a16:creationId xmlns:a16="http://schemas.microsoft.com/office/drawing/2014/main" id="{DE751EF7-FFBB-0AAB-F706-30B5AFFF99EB}"/>
              </a:ext>
            </a:extLst>
          </p:cNvPr>
          <p:cNvSpPr>
            <a:spLocks noGrp="1" noChangeArrowheads="1"/>
          </p:cNvSpPr>
          <p:nvPr>
            <p:ph type="body" idx="1"/>
          </p:nvPr>
        </p:nvSpPr>
        <p:spPr/>
        <p:txBody>
          <a:bodyPr/>
          <a:lstStyle/>
          <a:p>
            <a:pPr eaLnBrk="1" hangingPunct="1"/>
            <a:endParaRPr lang="vi-VN" altLang="vi-VN"/>
          </a:p>
        </p:txBody>
      </p:sp>
      <p:grpSp>
        <p:nvGrpSpPr>
          <p:cNvPr id="28676" name="Group 4">
            <a:extLst>
              <a:ext uri="{FF2B5EF4-FFF2-40B4-BE49-F238E27FC236}">
                <a16:creationId xmlns:a16="http://schemas.microsoft.com/office/drawing/2014/main" id="{370016B3-113B-442B-078D-05E162766DF6}"/>
              </a:ext>
            </a:extLst>
          </p:cNvPr>
          <p:cNvGrpSpPr>
            <a:grpSpLocks noChangeAspect="1"/>
          </p:cNvGrpSpPr>
          <p:nvPr/>
        </p:nvGrpSpPr>
        <p:grpSpPr bwMode="auto">
          <a:xfrm>
            <a:off x="2895600" y="2286000"/>
            <a:ext cx="6057900" cy="3314700"/>
            <a:chOff x="2362" y="3000"/>
            <a:chExt cx="7200" cy="3915"/>
          </a:xfrm>
        </p:grpSpPr>
        <p:sp>
          <p:nvSpPr>
            <p:cNvPr id="28677" name="AutoShape 5">
              <a:extLst>
                <a:ext uri="{FF2B5EF4-FFF2-40B4-BE49-F238E27FC236}">
                  <a16:creationId xmlns:a16="http://schemas.microsoft.com/office/drawing/2014/main" id="{C60A5429-0107-14E3-A427-379F27B42581}"/>
                </a:ext>
              </a:extLst>
            </p:cNvPr>
            <p:cNvSpPr>
              <a:spLocks noChangeAspect="1" noChangeArrowheads="1"/>
            </p:cNvSpPr>
            <p:nvPr/>
          </p:nvSpPr>
          <p:spPr bwMode="auto">
            <a:xfrm>
              <a:off x="2362" y="3000"/>
              <a:ext cx="7200" cy="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FontTx/>
                <a:buNone/>
              </a:pPr>
              <a:endParaRPr lang="vi-VN" altLang="vi-VN" sz="1800"/>
            </a:p>
          </p:txBody>
        </p:sp>
        <p:sp>
          <p:nvSpPr>
            <p:cNvPr id="28678" name="Text Box 6">
              <a:extLst>
                <a:ext uri="{FF2B5EF4-FFF2-40B4-BE49-F238E27FC236}">
                  <a16:creationId xmlns:a16="http://schemas.microsoft.com/office/drawing/2014/main" id="{13184B16-209A-8AE1-0FA7-8E4F6546CEED}"/>
                </a:ext>
              </a:extLst>
            </p:cNvPr>
            <p:cNvSpPr txBox="1">
              <a:spLocks noChangeArrowheads="1"/>
            </p:cNvSpPr>
            <p:nvPr/>
          </p:nvSpPr>
          <p:spPr bwMode="auto">
            <a:xfrm>
              <a:off x="7388" y="5430"/>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400"/>
            </a:p>
            <a:p>
              <a:pPr algn="ctr" eaLnBrk="1" hangingPunct="1">
                <a:spcBef>
                  <a:spcPct val="0"/>
                </a:spcBef>
                <a:buClrTx/>
                <a:buFontTx/>
                <a:buNone/>
              </a:pPr>
              <a:r>
                <a:rPr lang="en-US" altLang="vi-VN" sz="1600" b="1"/>
                <a:t>A: 20, B: 10</a:t>
              </a:r>
              <a:endParaRPr lang="en-US" altLang="vi-VN" sz="1800"/>
            </a:p>
          </p:txBody>
        </p:sp>
        <p:sp>
          <p:nvSpPr>
            <p:cNvPr id="28679" name="Text Box 7">
              <a:extLst>
                <a:ext uri="{FF2B5EF4-FFF2-40B4-BE49-F238E27FC236}">
                  <a16:creationId xmlns:a16="http://schemas.microsoft.com/office/drawing/2014/main" id="{5E6ED343-6BF6-C418-EC7A-AD9F29D9081F}"/>
                </a:ext>
              </a:extLst>
            </p:cNvPr>
            <p:cNvSpPr txBox="1">
              <a:spLocks noChangeArrowheads="1"/>
            </p:cNvSpPr>
            <p:nvPr/>
          </p:nvSpPr>
          <p:spPr bwMode="auto">
            <a:xfrm>
              <a:off x="7388" y="4485"/>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400"/>
            </a:p>
            <a:p>
              <a:pPr algn="ctr" eaLnBrk="1" hangingPunct="1">
                <a:spcBef>
                  <a:spcPct val="0"/>
                </a:spcBef>
                <a:buClrTx/>
                <a:buFontTx/>
                <a:buNone/>
              </a:pPr>
              <a:r>
                <a:rPr lang="en-US" altLang="vi-VN" sz="1600" b="1"/>
                <a:t>A: -10, B: 10</a:t>
              </a:r>
              <a:endParaRPr lang="en-US" altLang="vi-VN" sz="1800"/>
            </a:p>
          </p:txBody>
        </p:sp>
        <p:sp>
          <p:nvSpPr>
            <p:cNvPr id="28680" name="Text Box 8">
              <a:extLst>
                <a:ext uri="{FF2B5EF4-FFF2-40B4-BE49-F238E27FC236}">
                  <a16:creationId xmlns:a16="http://schemas.microsoft.com/office/drawing/2014/main" id="{D0609037-8C4A-86EA-5904-68DF05B099C1}"/>
                </a:ext>
              </a:extLst>
            </p:cNvPr>
            <p:cNvSpPr txBox="1">
              <a:spLocks noChangeArrowheads="1"/>
            </p:cNvSpPr>
            <p:nvPr/>
          </p:nvSpPr>
          <p:spPr bwMode="auto">
            <a:xfrm>
              <a:off x="5487" y="4485"/>
              <a:ext cx="1902"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300"/>
            </a:p>
            <a:p>
              <a:pPr algn="ctr" eaLnBrk="1" hangingPunct="1">
                <a:spcBef>
                  <a:spcPct val="0"/>
                </a:spcBef>
                <a:buClrTx/>
                <a:buFontTx/>
                <a:buNone/>
              </a:pPr>
              <a:r>
                <a:rPr lang="en-US" altLang="vi-VN" sz="1600" b="1"/>
                <a:t>A: 0, B: 0</a:t>
              </a:r>
              <a:endParaRPr lang="en-US" altLang="vi-VN" sz="1800"/>
            </a:p>
          </p:txBody>
        </p:sp>
        <p:sp>
          <p:nvSpPr>
            <p:cNvPr id="28681" name="Text Box 9">
              <a:extLst>
                <a:ext uri="{FF2B5EF4-FFF2-40B4-BE49-F238E27FC236}">
                  <a16:creationId xmlns:a16="http://schemas.microsoft.com/office/drawing/2014/main" id="{0FD55879-1A7B-58F4-B7E0-A4F1CCE19BF4}"/>
                </a:ext>
              </a:extLst>
            </p:cNvPr>
            <p:cNvSpPr txBox="1">
              <a:spLocks noChangeArrowheads="1"/>
            </p:cNvSpPr>
            <p:nvPr/>
          </p:nvSpPr>
          <p:spPr bwMode="auto">
            <a:xfrm>
              <a:off x="6709" y="3135"/>
              <a:ext cx="2038"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2000" b="1"/>
                <a:t>Hãng B</a:t>
              </a:r>
              <a:endParaRPr lang="en-US" altLang="vi-VN" sz="1800"/>
            </a:p>
          </p:txBody>
        </p:sp>
        <p:sp>
          <p:nvSpPr>
            <p:cNvPr id="28682" name="Text Box 10">
              <a:extLst>
                <a:ext uri="{FF2B5EF4-FFF2-40B4-BE49-F238E27FC236}">
                  <a16:creationId xmlns:a16="http://schemas.microsoft.com/office/drawing/2014/main" id="{0797E9B5-20CC-520D-B375-2DAB483D511F}"/>
                </a:ext>
              </a:extLst>
            </p:cNvPr>
            <p:cNvSpPr txBox="1">
              <a:spLocks noChangeArrowheads="1"/>
            </p:cNvSpPr>
            <p:nvPr/>
          </p:nvSpPr>
          <p:spPr bwMode="auto">
            <a:xfrm>
              <a:off x="5622" y="3810"/>
              <a:ext cx="1902"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600" b="1"/>
                <a:t>Không </a:t>
              </a:r>
              <a:r>
                <a:rPr lang="en-US" altLang="vi-VN" sz="1600" b="1">
                  <a:latin typeface="Times New Roman" panose="02020603050405020304" pitchFamily="18" charset="0"/>
                </a:rPr>
                <a:t>đ</a:t>
              </a:r>
              <a:r>
                <a:rPr lang="en-US" altLang="vi-VN" sz="1600" b="1"/>
                <a:t>ầu t</a:t>
              </a:r>
              <a:r>
                <a:rPr lang="en-US" altLang="vi-VN" sz="1600" b="1">
                  <a:latin typeface="Times New Roman" panose="02020603050405020304" pitchFamily="18" charset="0"/>
                </a:rPr>
                <a:t>ư</a:t>
              </a:r>
              <a:endParaRPr lang="en-US" altLang="vi-VN" sz="1800"/>
            </a:p>
          </p:txBody>
        </p:sp>
        <p:sp>
          <p:nvSpPr>
            <p:cNvPr id="28683" name="Text Box 11">
              <a:extLst>
                <a:ext uri="{FF2B5EF4-FFF2-40B4-BE49-F238E27FC236}">
                  <a16:creationId xmlns:a16="http://schemas.microsoft.com/office/drawing/2014/main" id="{ECA00599-E7D3-AF6B-6089-3E03B69CA377}"/>
                </a:ext>
              </a:extLst>
            </p:cNvPr>
            <p:cNvSpPr txBox="1">
              <a:spLocks noChangeArrowheads="1"/>
            </p:cNvSpPr>
            <p:nvPr/>
          </p:nvSpPr>
          <p:spPr bwMode="auto">
            <a:xfrm>
              <a:off x="7388" y="3810"/>
              <a:ext cx="1903"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600" b="1">
                  <a:latin typeface="Times New Roman" panose="02020603050405020304" pitchFamily="18" charset="0"/>
                </a:rPr>
                <a:t>     Đ</a:t>
              </a:r>
              <a:r>
                <a:rPr lang="en-US" altLang="vi-VN" sz="1600" b="1"/>
                <a:t>ầu t</a:t>
              </a:r>
              <a:r>
                <a:rPr lang="en-US" altLang="vi-VN" sz="1600" b="1">
                  <a:latin typeface="Times New Roman" panose="02020603050405020304" pitchFamily="18" charset="0"/>
                </a:rPr>
                <a:t>ư</a:t>
              </a:r>
              <a:endParaRPr lang="en-US" altLang="vi-VN" sz="1800"/>
            </a:p>
          </p:txBody>
        </p:sp>
        <p:sp>
          <p:nvSpPr>
            <p:cNvPr id="28684" name="Text Box 12">
              <a:extLst>
                <a:ext uri="{FF2B5EF4-FFF2-40B4-BE49-F238E27FC236}">
                  <a16:creationId xmlns:a16="http://schemas.microsoft.com/office/drawing/2014/main" id="{B36FB000-B7F7-4FF7-2E22-5B0C6A6B8263}"/>
                </a:ext>
              </a:extLst>
            </p:cNvPr>
            <p:cNvSpPr txBox="1">
              <a:spLocks noChangeArrowheads="1"/>
            </p:cNvSpPr>
            <p:nvPr/>
          </p:nvSpPr>
          <p:spPr bwMode="auto">
            <a:xfrm>
              <a:off x="3856" y="4620"/>
              <a:ext cx="1631" cy="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600" b="1"/>
                <a:t>Không </a:t>
              </a:r>
              <a:r>
                <a:rPr lang="en-US" altLang="vi-VN" sz="1600" b="1">
                  <a:latin typeface="Times New Roman" panose="02020603050405020304" pitchFamily="18" charset="0"/>
                </a:rPr>
                <a:t>đ</a:t>
              </a:r>
              <a:r>
                <a:rPr lang="en-US" altLang="vi-VN" sz="1600" b="1"/>
                <a:t>ầu t</a:t>
              </a:r>
              <a:r>
                <a:rPr lang="en-US" altLang="vi-VN" sz="1600" b="1">
                  <a:latin typeface="Times New Roman" panose="02020603050405020304" pitchFamily="18" charset="0"/>
                </a:rPr>
                <a:t>ư</a:t>
              </a:r>
              <a:endParaRPr lang="en-US" altLang="vi-VN" sz="1800"/>
            </a:p>
          </p:txBody>
        </p:sp>
        <p:sp>
          <p:nvSpPr>
            <p:cNvPr id="28685" name="Text Box 13">
              <a:extLst>
                <a:ext uri="{FF2B5EF4-FFF2-40B4-BE49-F238E27FC236}">
                  <a16:creationId xmlns:a16="http://schemas.microsoft.com/office/drawing/2014/main" id="{4FFDFC8A-9069-AE09-08D2-8E2ECED4AD59}"/>
                </a:ext>
              </a:extLst>
            </p:cNvPr>
            <p:cNvSpPr txBox="1">
              <a:spLocks noChangeArrowheads="1"/>
            </p:cNvSpPr>
            <p:nvPr/>
          </p:nvSpPr>
          <p:spPr bwMode="auto">
            <a:xfrm>
              <a:off x="3856" y="5565"/>
              <a:ext cx="1631" cy="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1600" b="1">
                  <a:latin typeface="Times New Roman" panose="02020603050405020304" pitchFamily="18" charset="0"/>
                </a:rPr>
                <a:t>Đ</a:t>
              </a:r>
              <a:r>
                <a:rPr lang="en-US" altLang="vi-VN" sz="1600" b="1"/>
                <a:t>ầu t</a:t>
              </a:r>
              <a:r>
                <a:rPr lang="en-US" altLang="vi-VN" sz="1600" b="1">
                  <a:latin typeface="Times New Roman" panose="02020603050405020304" pitchFamily="18" charset="0"/>
                </a:rPr>
                <a:t>ư</a:t>
              </a:r>
              <a:endParaRPr lang="en-US" altLang="vi-VN" sz="1800"/>
            </a:p>
          </p:txBody>
        </p:sp>
        <p:sp>
          <p:nvSpPr>
            <p:cNvPr id="28686" name="Text Box 14">
              <a:extLst>
                <a:ext uri="{FF2B5EF4-FFF2-40B4-BE49-F238E27FC236}">
                  <a16:creationId xmlns:a16="http://schemas.microsoft.com/office/drawing/2014/main" id="{FE715750-60EF-D2B7-A5E6-A8301E7811CD}"/>
                </a:ext>
              </a:extLst>
            </p:cNvPr>
            <p:cNvSpPr txBox="1">
              <a:spLocks noChangeArrowheads="1"/>
            </p:cNvSpPr>
            <p:nvPr/>
          </p:nvSpPr>
          <p:spPr bwMode="auto">
            <a:xfrm>
              <a:off x="2498" y="5025"/>
              <a:ext cx="1495"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vi-VN" sz="2000" b="1"/>
                <a:t>Hãng A</a:t>
              </a:r>
              <a:endParaRPr lang="en-US" altLang="vi-VN" sz="1800"/>
            </a:p>
          </p:txBody>
        </p:sp>
        <p:sp>
          <p:nvSpPr>
            <p:cNvPr id="28687" name="Text Box 15">
              <a:extLst>
                <a:ext uri="{FF2B5EF4-FFF2-40B4-BE49-F238E27FC236}">
                  <a16:creationId xmlns:a16="http://schemas.microsoft.com/office/drawing/2014/main" id="{9A74E90F-DFC0-3E10-B4EA-7675CD191FDB}"/>
                </a:ext>
              </a:extLst>
            </p:cNvPr>
            <p:cNvSpPr txBox="1">
              <a:spLocks noChangeArrowheads="1"/>
            </p:cNvSpPr>
            <p:nvPr/>
          </p:nvSpPr>
          <p:spPr bwMode="auto">
            <a:xfrm>
              <a:off x="5487" y="5430"/>
              <a:ext cx="1901" cy="94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vi-VN" sz="1400"/>
            </a:p>
            <a:p>
              <a:pPr algn="ctr" eaLnBrk="1" hangingPunct="1">
                <a:spcBef>
                  <a:spcPct val="0"/>
                </a:spcBef>
                <a:buClrTx/>
                <a:buFontTx/>
                <a:buNone/>
              </a:pPr>
              <a:r>
                <a:rPr lang="en-US" altLang="vi-VN" sz="1600" b="1"/>
                <a:t>A: -100, B: 0</a:t>
              </a:r>
              <a:endParaRPr lang="en-US" altLang="vi-VN" sz="1800"/>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Ví dụ: “quest nhóm” và free-riding</a:t>
            </a:r>
            <a:endParaRPr lang="en-US" sz="2200" dirty="0"/>
          </a:p>
        </p:txBody>
      </p:sp>
      <p:sp>
        <p:nvSpPr>
          <p:cNvPr id="4" name="Text 2"/>
          <p:cNvSpPr/>
          <p:nvPr/>
        </p:nvSpPr>
        <p:spPr>
          <a:xfrm>
            <a:off x="594359" y="794697"/>
            <a:ext cx="11002975" cy="457200"/>
          </a:xfrm>
          <a:prstGeom prst="rect">
            <a:avLst/>
          </a:prstGeom>
          <a:noFill/>
          <a:ln/>
        </p:spPr>
        <p:txBody>
          <a:bodyPr wrap="square" rtlCol="0" anchor="ctr"/>
          <a:lstStyle/>
          <a:p>
            <a:pPr marL="0" indent="0">
              <a:buNone/>
            </a:pPr>
            <a:r>
              <a:rPr lang="en-US" sz="1700" dirty="0">
                <a:solidFill>
                  <a:srgbClr val="374151"/>
                </a:solidFill>
              </a:rPr>
              <a:t>Hai người chơi (A,B) chọn: C = Đóng góp; F = “Ké” (free-ride). Payoff minh hoạ:</a:t>
            </a:r>
            <a:endParaRPr lang="en-US" sz="1700" dirty="0"/>
          </a:p>
        </p:txBody>
      </p:sp>
      <p:sp>
        <p:nvSpPr>
          <p:cNvPr id="5" name="Text 3"/>
          <p:cNvSpPr/>
          <p:nvPr/>
        </p:nvSpPr>
        <p:spPr>
          <a:xfrm>
            <a:off x="594360" y="1280160"/>
            <a:ext cx="6217920" cy="274320"/>
          </a:xfrm>
          <a:prstGeom prst="rect">
            <a:avLst/>
          </a:prstGeom>
          <a:noFill/>
          <a:ln/>
        </p:spPr>
        <p:txBody>
          <a:bodyPr wrap="square" rtlCol="0" anchor="ctr"/>
          <a:lstStyle/>
          <a:p>
            <a:pPr marL="0" indent="0">
              <a:buNone/>
            </a:pPr>
            <a:r>
              <a:rPr lang="en-US" sz="1500" b="1" dirty="0">
                <a:solidFill>
                  <a:srgbClr val="111827"/>
                </a:solidFill>
              </a:rPr>
              <a:t>Ma trận payoff (A,B)</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 y="1600200"/>
          <a:ext cx="6217920" cy="1508760"/>
        </p:xfrm>
        <a:graphic>
          <a:graphicData uri="http://schemas.openxmlformats.org/drawingml/2006/table">
            <a:tbl>
              <a:tblPr/>
              <a:tblGrid>
                <a:gridCol w="1741018">
                  <a:extLst>
                    <a:ext uri="{9D8B030D-6E8A-4147-A177-3AD203B41FA5}">
                      <a16:colId xmlns:a16="http://schemas.microsoft.com/office/drawing/2014/main" val="20000"/>
                    </a:ext>
                  </a:extLst>
                </a:gridCol>
                <a:gridCol w="2238451">
                  <a:extLst>
                    <a:ext uri="{9D8B030D-6E8A-4147-A177-3AD203B41FA5}">
                      <a16:colId xmlns:a16="http://schemas.microsoft.com/office/drawing/2014/main" val="20001"/>
                    </a:ext>
                  </a:extLst>
                </a:gridCol>
                <a:gridCol w="2238451">
                  <a:extLst>
                    <a:ext uri="{9D8B030D-6E8A-4147-A177-3AD203B41FA5}">
                      <a16:colId xmlns:a16="http://schemas.microsoft.com/office/drawing/2014/main" val="20002"/>
                    </a:ext>
                  </a:extLst>
                </a:gridCol>
              </a:tblGrid>
              <a:tr h="502920">
                <a:tc>
                  <a:txBody>
                    <a:bodyPr/>
                    <a:lstStyle/>
                    <a:p>
                      <a:pPr marL="0" indent="0" algn="ctr">
                        <a:buNone/>
                      </a:pP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B: C</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B: F</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02920">
                <a:tc>
                  <a:txBody>
                    <a:bodyPr/>
                    <a:lstStyle/>
                    <a:p>
                      <a:pPr marL="0" indent="0" algn="ctr">
                        <a:buNone/>
                      </a:pPr>
                      <a:r>
                        <a:rPr lang="en-US" sz="1400" dirty="0">
                          <a:solidFill>
                            <a:srgbClr val="111827"/>
                          </a:solidFill>
                        </a:rPr>
                        <a:t>A: C</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(3, 3)</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(0, 4)</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400" dirty="0">
                          <a:solidFill>
                            <a:srgbClr val="111827"/>
                          </a:solidFill>
                        </a:rPr>
                        <a:t>A: F</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(4, 0)</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(1, 1)</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594360" y="3977640"/>
            <a:ext cx="6400800" cy="2103120"/>
          </a:xfrm>
          <a:prstGeom prst="rect">
            <a:avLst/>
          </a:prstGeom>
          <a:noFill/>
          <a:ln/>
        </p:spPr>
        <p:txBody>
          <a:bodyPr wrap="square" rtlCol="0" anchor="t"/>
          <a:lstStyle/>
          <a:p>
            <a:pPr marL="215900" indent="-215900">
              <a:lnSpc>
                <a:spcPct val="120000"/>
              </a:lnSpc>
              <a:buSzPct val="100000"/>
              <a:buChar char="•"/>
            </a:pPr>
            <a:r>
              <a:rPr lang="en-US" sz="1700" dirty="0">
                <a:solidFill>
                  <a:srgbClr val="374151"/>
                </a:solidFill>
              </a:rPr>
              <a:t>Nếu mục tiêu học cần C,C nhưng NE lại là F,F → hệ thống thưởng hiện tại “lệch”.</a:t>
            </a:r>
            <a:endParaRPr lang="en-US" sz="1700" dirty="0"/>
          </a:p>
          <a:p>
            <a:pPr marL="215900" indent="-215900">
              <a:lnSpc>
                <a:spcPct val="120000"/>
              </a:lnSpc>
              <a:buSzPct val="100000"/>
              <a:buChar char="•"/>
            </a:pPr>
            <a:r>
              <a:rPr lang="en-US" sz="1700" dirty="0">
                <a:solidFill>
                  <a:srgbClr val="374151"/>
                </a:solidFill>
              </a:rPr>
              <a:t>Đòn bẩy thiết kế: (i) theo dõi đóng góp; (ii) chia thưởng theo đóng góp; (iii) phạt F; (iv) tăng lợi ích của C (feedback, unlock).</a:t>
            </a:r>
            <a:endParaRPr lang="en-US" sz="1700" dirty="0"/>
          </a:p>
        </p:txBody>
      </p:sp>
      <p:sp>
        <p:nvSpPr>
          <p:cNvPr id="8" name="Shape 5"/>
          <p:cNvSpPr/>
          <p:nvPr/>
        </p:nvSpPr>
        <p:spPr>
          <a:xfrm>
            <a:off x="7406640" y="1600200"/>
            <a:ext cx="4190695" cy="443484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6" name="Shape 6"/>
          <p:cNvSpPr/>
          <p:nvPr/>
        </p:nvSpPr>
        <p:spPr>
          <a:xfrm>
            <a:off x="7406640" y="1600200"/>
            <a:ext cx="109728" cy="4434840"/>
          </a:xfrm>
          <a:prstGeom prst="rect">
            <a:avLst/>
          </a:prstGeom>
          <a:solidFill>
            <a:srgbClr val="F59E0B"/>
          </a:solidFill>
          <a:ln w="12700">
            <a:solidFill>
              <a:srgbClr val="F59E0B"/>
            </a:solidFill>
            <a:prstDash val="solid"/>
          </a:ln>
        </p:spPr>
      </p:sp>
      <p:sp>
        <p:nvSpPr>
          <p:cNvPr id="10" name="Text 7"/>
          <p:cNvSpPr/>
          <p:nvPr/>
        </p:nvSpPr>
        <p:spPr>
          <a:xfrm>
            <a:off x="7635240" y="1764792"/>
            <a:ext cx="3870655" cy="320040"/>
          </a:xfrm>
          <a:prstGeom prst="rect">
            <a:avLst/>
          </a:prstGeom>
          <a:noFill/>
          <a:ln/>
        </p:spPr>
        <p:txBody>
          <a:bodyPr wrap="square" rtlCol="0" anchor="ctr"/>
          <a:lstStyle/>
          <a:p>
            <a:pPr marL="0" indent="0">
              <a:buNone/>
            </a:pPr>
            <a:r>
              <a:rPr lang="en-US" sz="1800" b="1" dirty="0">
                <a:solidFill>
                  <a:srgbClr val="111827"/>
                </a:solidFill>
              </a:rPr>
              <a:t>Gợi ý dịch sang game mechanics</a:t>
            </a:r>
            <a:endParaRPr lang="en-US" sz="1800" dirty="0"/>
          </a:p>
        </p:txBody>
      </p:sp>
      <p:sp>
        <p:nvSpPr>
          <p:cNvPr id="11" name="Text 8"/>
          <p:cNvSpPr/>
          <p:nvPr/>
        </p:nvSpPr>
        <p:spPr>
          <a:xfrm>
            <a:off x="7726680" y="2130552"/>
            <a:ext cx="3687775" cy="374904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C → XP/loot phụ thuộc effort; F → XP giảm mạnh.</a:t>
            </a:r>
            <a:endParaRPr lang="en-US" sz="1500" dirty="0"/>
          </a:p>
          <a:p>
            <a:pPr marL="190500" indent="-190500">
              <a:lnSpc>
                <a:spcPct val="120000"/>
              </a:lnSpc>
              <a:buSzPct val="100000"/>
              <a:buChar char="•"/>
            </a:pPr>
            <a:r>
              <a:rPr lang="en-US" sz="1500" dirty="0">
                <a:solidFill>
                  <a:srgbClr val="374151"/>
                </a:solidFill>
              </a:rPr>
              <a:t>“Contribution meter” + phần thưởng nhóm chỉ mở nếu tất cả vượt ngưỡng.</a:t>
            </a:r>
            <a:endParaRPr lang="en-US" sz="1500" dirty="0"/>
          </a:p>
          <a:p>
            <a:pPr marL="190500" indent="-190500">
              <a:lnSpc>
                <a:spcPct val="120000"/>
              </a:lnSpc>
              <a:buSzPct val="100000"/>
              <a:buChar char="•"/>
            </a:pPr>
            <a:r>
              <a:rPr lang="en-US" sz="1500" dirty="0">
                <a:solidFill>
                  <a:srgbClr val="374151"/>
                </a:solidFill>
              </a:rPr>
              <a:t>Peer rating sau quest (cẩn thận thiên vị).</a:t>
            </a:r>
            <a:endParaRPr lang="en-US" sz="1500" dirty="0"/>
          </a:p>
        </p:txBody>
      </p:sp>
      <p:sp>
        <p:nvSpPr>
          <p:cNvPr id="12" name="Text 9"/>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8</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Bài tập 1 (2×2): best response, chiến lược trội, Nash</a:t>
            </a:r>
            <a:endParaRPr lang="en-US" sz="2200" dirty="0"/>
          </a:p>
        </p:txBody>
      </p:sp>
      <p:sp>
        <p:nvSpPr>
          <p:cNvPr id="4" name="Text 2"/>
          <p:cNvSpPr/>
          <p:nvPr/>
        </p:nvSpPr>
        <p:spPr>
          <a:xfrm>
            <a:off x="594360" y="1005840"/>
            <a:ext cx="6583680" cy="822960"/>
          </a:xfrm>
          <a:prstGeom prst="rect">
            <a:avLst/>
          </a:prstGeom>
          <a:noFill/>
          <a:ln/>
        </p:spPr>
        <p:txBody>
          <a:bodyPr wrap="square" rtlCol="0" anchor="t"/>
          <a:lstStyle/>
          <a:p>
            <a:pPr marL="228600" indent="-228600">
              <a:lnSpc>
                <a:spcPct val="120000"/>
              </a:lnSpc>
              <a:buSzPct val="100000"/>
              <a:buChar char="•"/>
            </a:pPr>
            <a:r>
              <a:rPr lang="en-US" sz="1800" dirty="0">
                <a:solidFill>
                  <a:srgbClr val="374151"/>
                </a:solidFill>
              </a:rPr>
              <a:t>Hai người chơi chọn: S = Chia sẻ tài liệu; K = Giữ lại.</a:t>
            </a:r>
            <a:endParaRPr lang="en-US" sz="1800" dirty="0"/>
          </a:p>
          <a:p>
            <a:pPr marL="228600" indent="-228600">
              <a:lnSpc>
                <a:spcPct val="120000"/>
              </a:lnSpc>
              <a:buSzPct val="100000"/>
              <a:buChar char="•"/>
            </a:pPr>
            <a:r>
              <a:rPr lang="en-US" sz="1800" dirty="0">
                <a:solidFill>
                  <a:srgbClr val="374151"/>
                </a:solidFill>
              </a:rPr>
              <a:t>Payoff (A,B) như bảng dưới.</a:t>
            </a:r>
            <a:endParaRPr lang="en-US" sz="1800" dirty="0"/>
          </a:p>
        </p:txBody>
      </p:sp>
      <p:sp>
        <p:nvSpPr>
          <p:cNvPr id="5" name="Text 3"/>
          <p:cNvSpPr/>
          <p:nvPr/>
        </p:nvSpPr>
        <p:spPr>
          <a:xfrm>
            <a:off x="594360" y="1691640"/>
            <a:ext cx="6400800" cy="274320"/>
          </a:xfrm>
          <a:prstGeom prst="rect">
            <a:avLst/>
          </a:prstGeom>
          <a:noFill/>
          <a:ln/>
        </p:spPr>
        <p:txBody>
          <a:bodyPr wrap="square" rtlCol="0" anchor="ctr"/>
          <a:lstStyle/>
          <a:p>
            <a:pPr marL="0" indent="0">
              <a:buNone/>
            </a:pPr>
            <a:r>
              <a:rPr lang="en-US" sz="1500" b="1" dirty="0">
                <a:solidFill>
                  <a:srgbClr val="111827"/>
                </a:solidFill>
              </a:rPr>
              <a:t>Ma trận payoff (A,B)</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 y="2011680"/>
          <a:ext cx="6400800" cy="1508760"/>
        </p:xfrm>
        <a:graphic>
          <a:graphicData uri="http://schemas.openxmlformats.org/drawingml/2006/table">
            <a:tbl>
              <a:tblPr/>
              <a:tblGrid>
                <a:gridCol w="1792224">
                  <a:extLst>
                    <a:ext uri="{9D8B030D-6E8A-4147-A177-3AD203B41FA5}">
                      <a16:colId xmlns:a16="http://schemas.microsoft.com/office/drawing/2014/main" val="20000"/>
                    </a:ext>
                  </a:extLst>
                </a:gridCol>
                <a:gridCol w="2304288">
                  <a:extLst>
                    <a:ext uri="{9D8B030D-6E8A-4147-A177-3AD203B41FA5}">
                      <a16:colId xmlns:a16="http://schemas.microsoft.com/office/drawing/2014/main" val="20001"/>
                    </a:ext>
                  </a:extLst>
                </a:gridCol>
                <a:gridCol w="2304288">
                  <a:extLst>
                    <a:ext uri="{9D8B030D-6E8A-4147-A177-3AD203B41FA5}">
                      <a16:colId xmlns:a16="http://schemas.microsoft.com/office/drawing/2014/main" val="20002"/>
                    </a:ext>
                  </a:extLst>
                </a:gridCol>
              </a:tblGrid>
              <a:tr h="502920">
                <a:tc>
                  <a:txBody>
                    <a:bodyPr/>
                    <a:lstStyle/>
                    <a:p>
                      <a:pPr marL="0" indent="0" algn="ctr">
                        <a:buNone/>
                      </a:pP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B: S</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B: K</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02920">
                <a:tc>
                  <a:txBody>
                    <a:bodyPr/>
                    <a:lstStyle/>
                    <a:p>
                      <a:pPr marL="0" indent="0" algn="ctr">
                        <a:buNone/>
                      </a:pPr>
                      <a:r>
                        <a:rPr lang="en-US" sz="1400" dirty="0">
                          <a:solidFill>
                            <a:srgbClr val="111827"/>
                          </a:solidFill>
                        </a:rPr>
                        <a:t>A: S</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(3, 3)</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(1, 4)</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400" dirty="0">
                          <a:solidFill>
                            <a:srgbClr val="111827"/>
                          </a:solidFill>
                        </a:rPr>
                        <a:t>A: K</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(4, 1)</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(2, 2)</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Shape 4"/>
          <p:cNvSpPr/>
          <p:nvPr/>
        </p:nvSpPr>
        <p:spPr>
          <a:xfrm>
            <a:off x="7498080" y="2011680"/>
            <a:ext cx="4099255" cy="297180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8" name="Shape 5"/>
          <p:cNvSpPr/>
          <p:nvPr/>
        </p:nvSpPr>
        <p:spPr>
          <a:xfrm>
            <a:off x="7498080" y="2011680"/>
            <a:ext cx="109728" cy="2971800"/>
          </a:xfrm>
          <a:prstGeom prst="rect">
            <a:avLst/>
          </a:prstGeom>
          <a:solidFill>
            <a:srgbClr val="1F9D8A"/>
          </a:solidFill>
          <a:ln w="12700">
            <a:solidFill>
              <a:srgbClr val="1F9D8A"/>
            </a:solidFill>
            <a:prstDash val="solid"/>
          </a:ln>
        </p:spPr>
      </p:sp>
      <p:sp>
        <p:nvSpPr>
          <p:cNvPr id="9" name="Text 6"/>
          <p:cNvSpPr/>
          <p:nvPr/>
        </p:nvSpPr>
        <p:spPr>
          <a:xfrm>
            <a:off x="7726680" y="2176272"/>
            <a:ext cx="3779215" cy="320040"/>
          </a:xfrm>
          <a:prstGeom prst="rect">
            <a:avLst/>
          </a:prstGeom>
          <a:noFill/>
          <a:ln/>
        </p:spPr>
        <p:txBody>
          <a:bodyPr wrap="square" rtlCol="0" anchor="ctr"/>
          <a:lstStyle/>
          <a:p>
            <a:pPr marL="0" indent="0">
              <a:buNone/>
            </a:pPr>
            <a:r>
              <a:rPr lang="en-US" sz="1800" b="1" dirty="0">
                <a:solidFill>
                  <a:srgbClr val="111827"/>
                </a:solidFill>
              </a:rPr>
              <a:t>Yêu cầu</a:t>
            </a:r>
            <a:endParaRPr lang="en-US" sz="1800" dirty="0"/>
          </a:p>
        </p:txBody>
      </p:sp>
      <p:sp>
        <p:nvSpPr>
          <p:cNvPr id="6" name="Text 7"/>
          <p:cNvSpPr/>
          <p:nvPr/>
        </p:nvSpPr>
        <p:spPr>
          <a:xfrm>
            <a:off x="7818120" y="2542032"/>
            <a:ext cx="3596335" cy="228600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1) A có chiến lược trội không? B có không?</a:t>
            </a:r>
            <a:endParaRPr lang="en-US" sz="1500" dirty="0"/>
          </a:p>
          <a:p>
            <a:pPr marL="190500" indent="-190500">
              <a:lnSpc>
                <a:spcPct val="120000"/>
              </a:lnSpc>
              <a:buSzPct val="100000"/>
              <a:buChar char="•"/>
            </a:pPr>
            <a:r>
              <a:rPr lang="en-US" sz="1500" dirty="0">
                <a:solidFill>
                  <a:srgbClr val="374151"/>
                </a:solidFill>
              </a:rPr>
              <a:t>2) Tìm (các) Nash equilibrium thuần.</a:t>
            </a:r>
            <a:endParaRPr lang="en-US" sz="1500" dirty="0"/>
          </a:p>
          <a:p>
            <a:pPr marL="190500" indent="-190500">
              <a:lnSpc>
                <a:spcPct val="120000"/>
              </a:lnSpc>
              <a:buSzPct val="100000"/>
              <a:buChar char="•"/>
            </a:pPr>
            <a:r>
              <a:rPr lang="en-US" sz="1500" dirty="0">
                <a:solidFill>
                  <a:srgbClr val="374151"/>
                </a:solidFill>
              </a:rPr>
              <a:t>3) Nếu đây là game trong lớp (chia sẻ “hint”), bạn sẽ chỉnh luật chơi thế nào?</a:t>
            </a:r>
            <a:endParaRPr lang="en-US" sz="1500" dirty="0"/>
          </a:p>
        </p:txBody>
      </p:sp>
      <p:sp>
        <p:nvSpPr>
          <p:cNvPr id="11" name="Text 8"/>
          <p:cNvSpPr/>
          <p:nvPr/>
        </p:nvSpPr>
        <p:spPr>
          <a:xfrm>
            <a:off x="594360" y="6355080"/>
            <a:ext cx="11002975" cy="274320"/>
          </a:xfrm>
          <a:prstGeom prst="rect">
            <a:avLst/>
          </a:prstGeom>
          <a:noFill/>
          <a:ln/>
        </p:spPr>
        <p:txBody>
          <a:bodyPr wrap="square" rtlCol="0" anchor="ctr"/>
          <a:lstStyle/>
          <a:p>
            <a:pPr marL="0" indent="0">
              <a:buNone/>
            </a:pPr>
            <a:r>
              <a:rPr lang="en-US" sz="1400" i="1" dirty="0">
                <a:solidFill>
                  <a:srgbClr val="6B7280"/>
                </a:solidFill>
              </a:rPr>
              <a:t>Gợi ý: đánh dấu best response theo từng cột/hàng.</a:t>
            </a:r>
            <a:endParaRPr lang="en-US" sz="1400" dirty="0"/>
          </a:p>
        </p:txBody>
      </p:sp>
      <p:sp>
        <p:nvSpPr>
          <p:cNvPr id="12" name="Text 9"/>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9</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Lời giải bài 1</a:t>
            </a:r>
            <a:endParaRPr lang="en-US" sz="2200" dirty="0"/>
          </a:p>
        </p:txBody>
      </p:sp>
      <p:sp>
        <p:nvSpPr>
          <p:cNvPr id="4" name="Text 2"/>
          <p:cNvSpPr/>
          <p:nvPr/>
        </p:nvSpPr>
        <p:spPr>
          <a:xfrm>
            <a:off x="594360" y="1097280"/>
            <a:ext cx="6766560" cy="3840480"/>
          </a:xfrm>
          <a:prstGeom prst="rect">
            <a:avLst/>
          </a:prstGeom>
          <a:noFill/>
          <a:ln/>
        </p:spPr>
        <p:txBody>
          <a:bodyPr wrap="square" rtlCol="0" anchor="t"/>
          <a:lstStyle/>
          <a:p>
            <a:pPr marL="215900" indent="-215900">
              <a:lnSpc>
                <a:spcPct val="120000"/>
              </a:lnSpc>
              <a:buSzPct val="100000"/>
              <a:buChar char="•"/>
            </a:pPr>
            <a:r>
              <a:rPr lang="en-US" sz="1700" dirty="0">
                <a:solidFill>
                  <a:srgbClr val="374151"/>
                </a:solidFill>
              </a:rPr>
              <a:t>So sánh payoff của A theo từng cột (B cố định):</a:t>
            </a:r>
            <a:endParaRPr lang="en-US" sz="1700" dirty="0"/>
          </a:p>
          <a:p>
            <a:pPr marL="215900" indent="-215900">
              <a:lnSpc>
                <a:spcPct val="120000"/>
              </a:lnSpc>
              <a:buSzPct val="100000"/>
              <a:buChar char="•"/>
            </a:pPr>
            <a:r>
              <a:rPr lang="en-US" sz="1700" dirty="0">
                <a:solidFill>
                  <a:srgbClr val="374151"/>
                </a:solidFill>
              </a:rPr>
              <a:t>• Nếu B chọn S: A được 3 (chọn S) vs 4 (chọn K) → A chọn K.</a:t>
            </a:r>
            <a:endParaRPr lang="en-US" sz="1700" dirty="0"/>
          </a:p>
          <a:p>
            <a:pPr marL="215900" indent="-215900">
              <a:lnSpc>
                <a:spcPct val="120000"/>
              </a:lnSpc>
              <a:buSzPct val="100000"/>
              <a:buChar char="•"/>
            </a:pPr>
            <a:r>
              <a:rPr lang="en-US" sz="1700" dirty="0">
                <a:solidFill>
                  <a:srgbClr val="374151"/>
                </a:solidFill>
              </a:rPr>
              <a:t>• Nếu B chọn K: A được 1 (S) vs 2 (K) → A chọn K.</a:t>
            </a:r>
            <a:endParaRPr lang="en-US" sz="1700" dirty="0"/>
          </a:p>
          <a:p>
            <a:pPr marL="215900" indent="-215900">
              <a:lnSpc>
                <a:spcPct val="120000"/>
              </a:lnSpc>
              <a:buSzPct val="100000"/>
              <a:buChar char="•"/>
            </a:pPr>
            <a:r>
              <a:rPr lang="en-US" sz="1700" dirty="0">
                <a:solidFill>
                  <a:srgbClr val="374151"/>
                </a:solidFill>
              </a:rPr>
              <a:t>⇒ K là chiến lược trội của A. Tương tự, K là chiến lược trội của B.</a:t>
            </a:r>
            <a:endParaRPr lang="en-US" sz="1700" dirty="0"/>
          </a:p>
          <a:p>
            <a:pPr marL="215900" indent="-215900">
              <a:lnSpc>
                <a:spcPct val="120000"/>
              </a:lnSpc>
              <a:buSzPct val="100000"/>
              <a:buChar char="•"/>
            </a:pPr>
            <a:r>
              <a:rPr lang="en-US" sz="1700" dirty="0">
                <a:solidFill>
                  <a:srgbClr val="374151"/>
                </a:solidFill>
              </a:rPr>
              <a:t>Nash equilibrium: (K, K) với payoff (2,2).</a:t>
            </a:r>
            <a:endParaRPr lang="en-US" sz="1700" dirty="0"/>
          </a:p>
        </p:txBody>
      </p:sp>
      <p:sp>
        <p:nvSpPr>
          <p:cNvPr id="5" name="Shape 3"/>
          <p:cNvSpPr/>
          <p:nvPr/>
        </p:nvSpPr>
        <p:spPr>
          <a:xfrm>
            <a:off x="7406640" y="1234440"/>
            <a:ext cx="4190695" cy="489204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6" name="Shape 4"/>
          <p:cNvSpPr/>
          <p:nvPr/>
        </p:nvSpPr>
        <p:spPr>
          <a:xfrm>
            <a:off x="7406640" y="1234440"/>
            <a:ext cx="109728" cy="4892040"/>
          </a:xfrm>
          <a:prstGeom prst="rect">
            <a:avLst/>
          </a:prstGeom>
          <a:solidFill>
            <a:srgbClr val="F59E0B"/>
          </a:solidFill>
          <a:ln w="12700">
            <a:solidFill>
              <a:srgbClr val="F59E0B"/>
            </a:solidFill>
            <a:prstDash val="solid"/>
          </a:ln>
        </p:spPr>
      </p:sp>
      <p:sp>
        <p:nvSpPr>
          <p:cNvPr id="7" name="Text 5"/>
          <p:cNvSpPr/>
          <p:nvPr/>
        </p:nvSpPr>
        <p:spPr>
          <a:xfrm>
            <a:off x="7635240" y="1399032"/>
            <a:ext cx="3870655" cy="320040"/>
          </a:xfrm>
          <a:prstGeom prst="rect">
            <a:avLst/>
          </a:prstGeom>
          <a:noFill/>
          <a:ln/>
        </p:spPr>
        <p:txBody>
          <a:bodyPr wrap="square" rtlCol="0" anchor="ctr"/>
          <a:lstStyle/>
          <a:p>
            <a:pPr marL="0" indent="0">
              <a:buNone/>
            </a:pPr>
            <a:r>
              <a:rPr lang="en-US" sz="1800" b="1" dirty="0">
                <a:solidFill>
                  <a:srgbClr val="111827"/>
                </a:solidFill>
              </a:rPr>
              <a:t>Hàm ý thiết kế</a:t>
            </a:r>
            <a:endParaRPr lang="en-US" sz="1800" dirty="0"/>
          </a:p>
        </p:txBody>
      </p:sp>
      <p:sp>
        <p:nvSpPr>
          <p:cNvPr id="8" name="Text 6"/>
          <p:cNvSpPr/>
          <p:nvPr/>
        </p:nvSpPr>
        <p:spPr>
          <a:xfrm>
            <a:off x="7726680" y="1764792"/>
            <a:ext cx="3687775" cy="420624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Muốn khuyến khích chia sẻ (S): tăng lợi ích của S hoặc tăng chi phí của K.</a:t>
            </a:r>
            <a:endParaRPr lang="en-US" sz="1500" dirty="0"/>
          </a:p>
          <a:p>
            <a:pPr marL="190500" indent="-190500">
              <a:lnSpc>
                <a:spcPct val="120000"/>
              </a:lnSpc>
              <a:buSzPct val="100000"/>
              <a:buChar char="•"/>
            </a:pPr>
            <a:r>
              <a:rPr lang="en-US" sz="1500" dirty="0">
                <a:solidFill>
                  <a:srgbClr val="374151"/>
                </a:solidFill>
              </a:rPr>
              <a:t>Ví dụ: điểm thưởng cho “đóng góp hữu ích”, hệ thống log đóng góp, hoặc chia điểm nhóm theo đóng góp.</a:t>
            </a:r>
            <a:endParaRPr lang="en-US" sz="1500" dirty="0"/>
          </a:p>
          <a:p>
            <a:pPr marL="190500" indent="-190500">
              <a:lnSpc>
                <a:spcPct val="120000"/>
              </a:lnSpc>
              <a:buSzPct val="100000"/>
              <a:buChar char="•"/>
            </a:pPr>
            <a:r>
              <a:rPr lang="en-US" sz="1500" dirty="0">
                <a:solidFill>
                  <a:srgbClr val="374151"/>
                </a:solidFill>
              </a:rPr>
              <a:t>Tránh ép buộc quá mức: cần cơ chế chống spam/đóng góp chất lượng thấp.</a:t>
            </a:r>
            <a:endParaRPr lang="en-US" sz="1500" dirty="0"/>
          </a:p>
        </p:txBody>
      </p:sp>
      <p:sp>
        <p:nvSpPr>
          <p:cNvPr id="9" name="Text 7"/>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10</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Mixed strategies (MS): khi người chơi ngẫu nhiên hoá</a:t>
            </a:r>
            <a:endParaRPr lang="en-US" sz="2200" dirty="0"/>
          </a:p>
        </p:txBody>
      </p:sp>
      <p:sp>
        <p:nvSpPr>
          <p:cNvPr id="4" name="Text 2"/>
          <p:cNvSpPr/>
          <p:nvPr/>
        </p:nvSpPr>
        <p:spPr>
          <a:xfrm>
            <a:off x="594360" y="1097280"/>
            <a:ext cx="6675120" cy="2011680"/>
          </a:xfrm>
          <a:prstGeom prst="rect">
            <a:avLst/>
          </a:prstGeom>
          <a:noFill/>
          <a:ln/>
        </p:spPr>
        <p:txBody>
          <a:bodyPr wrap="square" rtlCol="0" anchor="t"/>
          <a:lstStyle/>
          <a:p>
            <a:pPr marL="228600" indent="-228600">
              <a:lnSpc>
                <a:spcPct val="120000"/>
              </a:lnSpc>
              <a:buSzPct val="100000"/>
              <a:buChar char="•"/>
            </a:pPr>
            <a:r>
              <a:rPr lang="en-US" sz="1800" dirty="0">
                <a:solidFill>
                  <a:srgbClr val="374151"/>
                </a:solidFill>
              </a:rPr>
              <a:t>Mixed strategy: phân phối xác suất trên các chiến lược thuần.</a:t>
            </a:r>
            <a:endParaRPr lang="en-US" sz="1800" dirty="0"/>
          </a:p>
          <a:p>
            <a:pPr marL="228600" indent="-228600">
              <a:lnSpc>
                <a:spcPct val="120000"/>
              </a:lnSpc>
              <a:buSzPct val="100000"/>
              <a:buChar char="•"/>
            </a:pPr>
            <a:r>
              <a:rPr lang="en-US" sz="1800" dirty="0">
                <a:solidFill>
                  <a:srgbClr val="374151"/>
                </a:solidFill>
              </a:rPr>
              <a:t>Payoff trở thành kỳ vọng: E[uᵢ] = Σ xác suất × payoff.</a:t>
            </a:r>
            <a:endParaRPr lang="en-US" sz="1800" dirty="0"/>
          </a:p>
          <a:p>
            <a:pPr marL="228600" indent="-228600">
              <a:lnSpc>
                <a:spcPct val="120000"/>
              </a:lnSpc>
              <a:buSzPct val="100000"/>
              <a:buChar char="•"/>
            </a:pPr>
            <a:r>
              <a:rPr lang="en-US" sz="1800" dirty="0">
                <a:solidFill>
                  <a:srgbClr val="374151"/>
                </a:solidFill>
              </a:rPr>
              <a:t>MSNE: mỗi người chỉ đặt xác suất dương lên các chiến lược đem lại payoff kỳ vọng tối đa (best response).</a:t>
            </a:r>
            <a:endParaRPr lang="en-US" sz="1800" dirty="0"/>
          </a:p>
        </p:txBody>
      </p:sp>
      <p:sp>
        <p:nvSpPr>
          <p:cNvPr id="5" name="Shape 3"/>
          <p:cNvSpPr/>
          <p:nvPr/>
        </p:nvSpPr>
        <p:spPr>
          <a:xfrm>
            <a:off x="7406640" y="1143000"/>
            <a:ext cx="4190695" cy="256032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6" name="Shape 4"/>
          <p:cNvSpPr/>
          <p:nvPr/>
        </p:nvSpPr>
        <p:spPr>
          <a:xfrm>
            <a:off x="7406640" y="1143000"/>
            <a:ext cx="109728" cy="2560320"/>
          </a:xfrm>
          <a:prstGeom prst="rect">
            <a:avLst/>
          </a:prstGeom>
          <a:solidFill>
            <a:srgbClr val="1F9D8A"/>
          </a:solidFill>
          <a:ln w="12700">
            <a:solidFill>
              <a:srgbClr val="1F9D8A"/>
            </a:solidFill>
            <a:prstDash val="solid"/>
          </a:ln>
        </p:spPr>
      </p:sp>
      <p:sp>
        <p:nvSpPr>
          <p:cNvPr id="7" name="Text 5"/>
          <p:cNvSpPr/>
          <p:nvPr/>
        </p:nvSpPr>
        <p:spPr>
          <a:xfrm>
            <a:off x="7635240" y="1307592"/>
            <a:ext cx="3870655" cy="320040"/>
          </a:xfrm>
          <a:prstGeom prst="rect">
            <a:avLst/>
          </a:prstGeom>
          <a:noFill/>
          <a:ln/>
        </p:spPr>
        <p:txBody>
          <a:bodyPr wrap="square" rtlCol="0" anchor="ctr"/>
          <a:lstStyle/>
          <a:p>
            <a:pPr marL="0" indent="0">
              <a:buNone/>
            </a:pPr>
            <a:r>
              <a:rPr lang="en-US" sz="1800" b="1" dirty="0">
                <a:solidFill>
                  <a:srgbClr val="111827"/>
                </a:solidFill>
              </a:rPr>
              <a:t>Tại sao hữu ích trong EdTech?</a:t>
            </a:r>
            <a:endParaRPr lang="en-US" sz="1800" dirty="0"/>
          </a:p>
        </p:txBody>
      </p:sp>
      <p:sp>
        <p:nvSpPr>
          <p:cNvPr id="8" name="Text 6"/>
          <p:cNvSpPr/>
          <p:nvPr/>
        </p:nvSpPr>
        <p:spPr>
          <a:xfrm>
            <a:off x="7726680" y="1673352"/>
            <a:ext cx="3687775" cy="187452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Ngẫu nhiên hoá kiểm tra (quiz) → giảm gian lận.</a:t>
            </a:r>
            <a:endParaRPr lang="en-US" sz="1500" dirty="0"/>
          </a:p>
          <a:p>
            <a:pPr marL="190500" indent="-190500">
              <a:lnSpc>
                <a:spcPct val="120000"/>
              </a:lnSpc>
              <a:buSzPct val="100000"/>
              <a:buChar char="•"/>
            </a:pPr>
            <a:r>
              <a:rPr lang="en-US" sz="1500" dirty="0">
                <a:solidFill>
                  <a:srgbClr val="374151"/>
                </a:solidFill>
              </a:rPr>
              <a:t>Loot/độ hiếm (cẩn thận đạo đức) → điều chỉnh hành vi quay lại học.</a:t>
            </a:r>
            <a:endParaRPr lang="en-US" sz="1500" dirty="0"/>
          </a:p>
          <a:p>
            <a:pPr marL="190500" indent="-190500">
              <a:lnSpc>
                <a:spcPct val="120000"/>
              </a:lnSpc>
              <a:buSzPct val="100000"/>
              <a:buChar char="•"/>
            </a:pPr>
            <a:r>
              <a:rPr lang="en-US" sz="1500" dirty="0">
                <a:solidFill>
                  <a:srgbClr val="374151"/>
                </a:solidFill>
              </a:rPr>
              <a:t>Matchmaking ngẫu nhiên → giảm “bắt tay” (collusion).</a:t>
            </a:r>
            <a:endParaRPr lang="en-US" sz="1500" dirty="0"/>
          </a:p>
        </p:txBody>
      </p:sp>
      <p:sp>
        <p:nvSpPr>
          <p:cNvPr id="9" name="Shape 7"/>
          <p:cNvSpPr/>
          <p:nvPr/>
        </p:nvSpPr>
        <p:spPr>
          <a:xfrm>
            <a:off x="594360" y="3474720"/>
            <a:ext cx="10972800" cy="2377440"/>
          </a:xfrm>
          <a:prstGeom prst="roundRect">
            <a:avLst/>
          </a:prstGeom>
          <a:solidFill>
            <a:srgbClr val="F8FAFC"/>
          </a:solidFill>
          <a:ln w="12700">
            <a:solidFill>
              <a:srgbClr val="CBD5E1"/>
            </a:solidFill>
            <a:prstDash val="solid"/>
          </a:ln>
        </p:spPr>
      </p:sp>
      <p:sp>
        <p:nvSpPr>
          <p:cNvPr id="10" name="Text 8"/>
          <p:cNvSpPr/>
          <p:nvPr/>
        </p:nvSpPr>
        <p:spPr>
          <a:xfrm>
            <a:off x="914400" y="3703320"/>
            <a:ext cx="10332720" cy="1920240"/>
          </a:xfrm>
          <a:prstGeom prst="rect">
            <a:avLst/>
          </a:prstGeom>
          <a:noFill/>
          <a:ln/>
        </p:spPr>
        <p:txBody>
          <a:bodyPr wrap="square" rtlCol="0" anchor="ctr"/>
          <a:lstStyle/>
          <a:p>
            <a:pPr marL="0" indent="0">
              <a:buNone/>
            </a:pPr>
            <a:r>
              <a:rPr lang="en-US" sz="1800" dirty="0">
                <a:solidFill>
                  <a:srgbClr val="111827"/>
                </a:solidFill>
              </a:rPr>
              <a:t>Mẹo tính nhanh MSNE (2×2):</a:t>
            </a:r>
            <a:endParaRPr lang="en-US" sz="1800" dirty="0"/>
          </a:p>
          <a:p>
            <a:pPr marL="0" indent="0">
              <a:buNone/>
            </a:pPr>
            <a:r>
              <a:rPr lang="en-US" sz="1800" dirty="0">
                <a:solidFill>
                  <a:srgbClr val="111827"/>
                </a:solidFill>
              </a:rPr>
              <a:t>Chọn p sao cho đối phương “thờ ơ” giữa 2 lựa chọn (indifference).</a:t>
            </a:r>
            <a:endParaRPr lang="en-US" sz="1800" dirty="0"/>
          </a:p>
        </p:txBody>
      </p:sp>
      <p:sp>
        <p:nvSpPr>
          <p:cNvPr id="12" name="Text 9"/>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11</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Bài tập 2: tìm MSNE (ngẫu nhiên hoá để “không đoán được”)</a:t>
            </a:r>
            <a:endParaRPr lang="en-US" sz="2200" dirty="0"/>
          </a:p>
        </p:txBody>
      </p:sp>
      <p:sp>
        <p:nvSpPr>
          <p:cNvPr id="4" name="Text 2"/>
          <p:cNvSpPr/>
          <p:nvPr/>
        </p:nvSpPr>
        <p:spPr>
          <a:xfrm>
            <a:off x="594360" y="960120"/>
            <a:ext cx="11002975" cy="594360"/>
          </a:xfrm>
          <a:prstGeom prst="rect">
            <a:avLst/>
          </a:prstGeom>
          <a:noFill/>
          <a:ln/>
        </p:spPr>
        <p:txBody>
          <a:bodyPr wrap="square" rtlCol="0" anchor="ctr"/>
          <a:lstStyle/>
          <a:p>
            <a:pPr marL="0" indent="0">
              <a:buNone/>
            </a:pPr>
            <a:r>
              <a:rPr lang="en-US" sz="1500" dirty="0">
                <a:solidFill>
                  <a:srgbClr val="374151"/>
                </a:solidFill>
              </a:rPr>
              <a:t>Bối cảnh: Hệ thống (A) chọn kiểm tra: Q = Quiz ngẫu nhiên, N = Không quiz. Người học (B) chọn: H = Học thật, C = Copy.</a:t>
            </a:r>
            <a:endParaRPr lang="en-US" sz="1500" dirty="0"/>
          </a:p>
        </p:txBody>
      </p:sp>
      <p:sp>
        <p:nvSpPr>
          <p:cNvPr id="5" name="Text 3"/>
          <p:cNvSpPr/>
          <p:nvPr/>
        </p:nvSpPr>
        <p:spPr>
          <a:xfrm>
            <a:off x="594360" y="1463040"/>
            <a:ext cx="6400800" cy="274320"/>
          </a:xfrm>
          <a:prstGeom prst="rect">
            <a:avLst/>
          </a:prstGeom>
          <a:noFill/>
          <a:ln/>
        </p:spPr>
        <p:txBody>
          <a:bodyPr wrap="square" rtlCol="0" anchor="ctr"/>
          <a:lstStyle/>
          <a:p>
            <a:pPr marL="0" indent="0">
              <a:buNone/>
            </a:pPr>
            <a:r>
              <a:rPr lang="en-US" sz="1500" b="1" dirty="0">
                <a:solidFill>
                  <a:srgbClr val="111827"/>
                </a:solidFill>
              </a:rPr>
              <a:t>Payoff (A,B) — số minh hoạ</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6400800" cy="1508760"/>
        </p:xfrm>
        <a:graphic>
          <a:graphicData uri="http://schemas.openxmlformats.org/drawingml/2006/table">
            <a:tbl>
              <a:tblPr/>
              <a:tblGrid>
                <a:gridCol w="1792224">
                  <a:extLst>
                    <a:ext uri="{9D8B030D-6E8A-4147-A177-3AD203B41FA5}">
                      <a16:colId xmlns:a16="http://schemas.microsoft.com/office/drawing/2014/main" val="20000"/>
                    </a:ext>
                  </a:extLst>
                </a:gridCol>
                <a:gridCol w="2304288">
                  <a:extLst>
                    <a:ext uri="{9D8B030D-6E8A-4147-A177-3AD203B41FA5}">
                      <a16:colId xmlns:a16="http://schemas.microsoft.com/office/drawing/2014/main" val="20001"/>
                    </a:ext>
                  </a:extLst>
                </a:gridCol>
                <a:gridCol w="2304288">
                  <a:extLst>
                    <a:ext uri="{9D8B030D-6E8A-4147-A177-3AD203B41FA5}">
                      <a16:colId xmlns:a16="http://schemas.microsoft.com/office/drawing/2014/main" val="20002"/>
                    </a:ext>
                  </a:extLst>
                </a:gridCol>
              </a:tblGrid>
              <a:tr h="502920">
                <a:tc>
                  <a:txBody>
                    <a:bodyPr/>
                    <a:lstStyle/>
                    <a:p>
                      <a:pPr marL="0" indent="0" algn="ctr">
                        <a:buNone/>
                      </a:pP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B: H</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B: C</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02920">
                <a:tc>
                  <a:txBody>
                    <a:bodyPr/>
                    <a:lstStyle/>
                    <a:p>
                      <a:pPr marL="0" indent="0" algn="ctr">
                        <a:buNone/>
                      </a:pPr>
                      <a:r>
                        <a:rPr lang="en-US" sz="1400" dirty="0">
                          <a:solidFill>
                            <a:srgbClr val="111827"/>
                          </a:solidFill>
                        </a:rPr>
                        <a:t>A: Q</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(2, 2)</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(0, -1)</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400" dirty="0">
                          <a:solidFill>
                            <a:srgbClr val="111827"/>
                          </a:solidFill>
                        </a:rPr>
                        <a:t>A: N</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(0, 3)</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(1, 1)</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Shape 4"/>
          <p:cNvSpPr/>
          <p:nvPr/>
        </p:nvSpPr>
        <p:spPr>
          <a:xfrm>
            <a:off x="7498080" y="1783080"/>
            <a:ext cx="4099255" cy="306324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8" name="Shape 5"/>
          <p:cNvSpPr/>
          <p:nvPr/>
        </p:nvSpPr>
        <p:spPr>
          <a:xfrm>
            <a:off x="7498080" y="1783080"/>
            <a:ext cx="109728" cy="3063240"/>
          </a:xfrm>
          <a:prstGeom prst="rect">
            <a:avLst/>
          </a:prstGeom>
          <a:solidFill>
            <a:srgbClr val="1F9D8A"/>
          </a:solidFill>
          <a:ln w="12700">
            <a:solidFill>
              <a:srgbClr val="1F9D8A"/>
            </a:solidFill>
            <a:prstDash val="solid"/>
          </a:ln>
        </p:spPr>
      </p:sp>
      <p:sp>
        <p:nvSpPr>
          <p:cNvPr id="9" name="Text 6"/>
          <p:cNvSpPr/>
          <p:nvPr/>
        </p:nvSpPr>
        <p:spPr>
          <a:xfrm>
            <a:off x="7726680" y="1947672"/>
            <a:ext cx="3779215" cy="320040"/>
          </a:xfrm>
          <a:prstGeom prst="rect">
            <a:avLst/>
          </a:prstGeom>
          <a:noFill/>
          <a:ln/>
        </p:spPr>
        <p:txBody>
          <a:bodyPr wrap="square" rtlCol="0" anchor="ctr"/>
          <a:lstStyle/>
          <a:p>
            <a:pPr marL="0" indent="0">
              <a:buNone/>
            </a:pPr>
            <a:r>
              <a:rPr lang="en-US" sz="1800" b="1" dirty="0">
                <a:solidFill>
                  <a:srgbClr val="111827"/>
                </a:solidFill>
              </a:rPr>
              <a:t>Yêu cầu</a:t>
            </a:r>
            <a:endParaRPr lang="en-US" sz="1800" dirty="0"/>
          </a:p>
        </p:txBody>
      </p:sp>
      <p:sp>
        <p:nvSpPr>
          <p:cNvPr id="10" name="Text 7"/>
          <p:cNvSpPr/>
          <p:nvPr/>
        </p:nvSpPr>
        <p:spPr>
          <a:xfrm>
            <a:off x="7818120" y="2313432"/>
            <a:ext cx="3596335" cy="237744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1) Có NE thuần không? Nếu không, tìm MSNE.</a:t>
            </a:r>
            <a:endParaRPr lang="en-US" sz="1500" dirty="0"/>
          </a:p>
          <a:p>
            <a:pPr marL="190500" indent="-190500">
              <a:lnSpc>
                <a:spcPct val="120000"/>
              </a:lnSpc>
              <a:buSzPct val="100000"/>
              <a:buChar char="•"/>
            </a:pPr>
            <a:r>
              <a:rPr lang="en-US" sz="1500" dirty="0">
                <a:solidFill>
                  <a:srgbClr val="374151"/>
                </a:solidFill>
              </a:rPr>
              <a:t>2) Tính p = P(A chơi Q) và q = P(B chơi H).</a:t>
            </a:r>
            <a:endParaRPr lang="en-US" sz="1500" dirty="0"/>
          </a:p>
          <a:p>
            <a:pPr marL="190500" indent="-190500">
              <a:lnSpc>
                <a:spcPct val="120000"/>
              </a:lnSpc>
              <a:buSzPct val="100000"/>
              <a:buChar char="•"/>
            </a:pPr>
            <a:r>
              <a:rPr lang="en-US" sz="1500" dirty="0">
                <a:solidFill>
                  <a:srgbClr val="374151"/>
                </a:solidFill>
              </a:rPr>
              <a:t>3) Diễn giải: quiz nên xuất hiện bao nhiêu % để hành vi “copy” kém hấp dẫn?</a:t>
            </a:r>
            <a:endParaRPr lang="en-US" sz="1500" dirty="0"/>
          </a:p>
        </p:txBody>
      </p:sp>
      <p:sp>
        <p:nvSpPr>
          <p:cNvPr id="11" name="Text 8"/>
          <p:cNvSpPr/>
          <p:nvPr/>
        </p:nvSpPr>
        <p:spPr>
          <a:xfrm>
            <a:off x="594360" y="6355080"/>
            <a:ext cx="11002975" cy="274320"/>
          </a:xfrm>
          <a:prstGeom prst="rect">
            <a:avLst/>
          </a:prstGeom>
          <a:noFill/>
          <a:ln/>
        </p:spPr>
        <p:txBody>
          <a:bodyPr wrap="square" rtlCol="0" anchor="ctr"/>
          <a:lstStyle/>
          <a:p>
            <a:pPr marL="0" indent="0">
              <a:buNone/>
            </a:pPr>
            <a:r>
              <a:rPr lang="en-US" sz="1300" i="1" dirty="0">
                <a:solidFill>
                  <a:srgbClr val="6B7280"/>
                </a:solidFill>
              </a:rPr>
              <a:t>Gợi ý: đặt kỳ vọng payoff của B khi chọn H = payoff khi chọn C → tìm p. Tương tự tìm q.</a:t>
            </a:r>
            <a:endParaRPr lang="en-US" sz="1300" dirty="0"/>
          </a:p>
        </p:txBody>
      </p:sp>
      <p:sp>
        <p:nvSpPr>
          <p:cNvPr id="12" name="Text 9"/>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12</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Lời giải bài 2 (MSNE)</a:t>
            </a:r>
            <a:endParaRPr lang="en-US" sz="2200" dirty="0"/>
          </a:p>
        </p:txBody>
      </p:sp>
      <p:sp>
        <p:nvSpPr>
          <p:cNvPr id="4" name="Text 2"/>
          <p:cNvSpPr/>
          <p:nvPr/>
        </p:nvSpPr>
        <p:spPr>
          <a:xfrm>
            <a:off x="594360" y="1051560"/>
            <a:ext cx="6858000" cy="4754880"/>
          </a:xfrm>
          <a:prstGeom prst="rect">
            <a:avLst/>
          </a:prstGeom>
          <a:noFill/>
          <a:ln/>
        </p:spPr>
        <p:txBody>
          <a:bodyPr wrap="square" rtlCol="0" anchor="t"/>
          <a:lstStyle/>
          <a:p>
            <a:pPr marL="203200" indent="-203200">
              <a:lnSpc>
                <a:spcPct val="120000"/>
              </a:lnSpc>
              <a:buSzPct val="100000"/>
              <a:buChar char="•"/>
            </a:pPr>
            <a:r>
              <a:rPr lang="en-US" sz="1600" dirty="0">
                <a:solidFill>
                  <a:srgbClr val="374151"/>
                </a:solidFill>
              </a:rPr>
              <a:t>Gọi p = P(A chơi Q). Khi đó payoff kỳ vọng của B:</a:t>
            </a:r>
            <a:endParaRPr lang="en-US" sz="1600" dirty="0"/>
          </a:p>
          <a:p>
            <a:pPr marL="203200" indent="-203200">
              <a:lnSpc>
                <a:spcPct val="120000"/>
              </a:lnSpc>
              <a:buSzPct val="100000"/>
              <a:buChar char="•"/>
            </a:pPr>
            <a:r>
              <a:rPr lang="en-US" sz="1600" dirty="0">
                <a:solidFill>
                  <a:srgbClr val="374151"/>
                </a:solidFill>
              </a:rPr>
              <a:t>• Nếu chọn H:  E[u_B(H)] = p·2 + (1-p)·3 = 3 - p.</a:t>
            </a:r>
            <a:endParaRPr lang="en-US" sz="1600" dirty="0"/>
          </a:p>
          <a:p>
            <a:pPr marL="203200" indent="-203200">
              <a:lnSpc>
                <a:spcPct val="120000"/>
              </a:lnSpc>
              <a:buSzPct val="100000"/>
              <a:buChar char="•"/>
            </a:pPr>
            <a:r>
              <a:rPr lang="en-US" sz="1600" dirty="0">
                <a:solidFill>
                  <a:srgbClr val="374151"/>
                </a:solidFill>
              </a:rPr>
              <a:t>• Nếu chọn C:  E[u_B(C)] = p·(-1) + (1-p)·1 = 1 - 2p.</a:t>
            </a:r>
            <a:endParaRPr lang="en-US" sz="1600" dirty="0"/>
          </a:p>
          <a:p>
            <a:pPr marL="203200" indent="-203200">
              <a:lnSpc>
                <a:spcPct val="120000"/>
              </a:lnSpc>
              <a:buSzPct val="100000"/>
              <a:buChar char="•"/>
            </a:pPr>
            <a:r>
              <a:rPr lang="en-US" sz="1600" dirty="0">
                <a:solidFill>
                  <a:srgbClr val="374151"/>
                </a:solidFill>
              </a:rPr>
              <a:t>MSNE yêu cầu B thờ ơ: 3 - p = 1 - 2p ⇒ p = -2  (không hợp lệ).</a:t>
            </a:r>
            <a:endParaRPr lang="en-US" sz="1600" dirty="0"/>
          </a:p>
          <a:p>
            <a:pPr marL="203200" indent="-203200">
              <a:lnSpc>
                <a:spcPct val="120000"/>
              </a:lnSpc>
              <a:buSzPct val="100000"/>
              <a:buChar char="•"/>
            </a:pPr>
            <a:r>
              <a:rPr lang="en-US" sz="1600" dirty="0">
                <a:solidFill>
                  <a:srgbClr val="374151"/>
                </a:solidFill>
              </a:rPr>
              <a:t>Vậy không có MSNE nội bộ theo cách này → kiểm tra lại: B sẽ luôn thích H vì H &gt; C với mọi p∈[0,1].</a:t>
            </a:r>
            <a:endParaRPr lang="en-US" sz="1600" dirty="0"/>
          </a:p>
          <a:p>
            <a:pPr marL="203200" indent="-203200">
              <a:lnSpc>
                <a:spcPct val="120000"/>
              </a:lnSpc>
              <a:buSzPct val="100000"/>
              <a:buChar char="•"/>
            </a:pPr>
            <a:r>
              <a:rPr lang="en-US" sz="1600" dirty="0">
                <a:solidFill>
                  <a:srgbClr val="374151"/>
                </a:solidFill>
              </a:rPr>
              <a:t>⇒ NE thuần: (N, H) vì A không cần quiz khi B học thật. (Nếu muốn copy xảy ra, cần số liệu khác/thiết kế khác.)</a:t>
            </a:r>
            <a:endParaRPr lang="en-US" sz="1600" dirty="0"/>
          </a:p>
        </p:txBody>
      </p:sp>
      <p:sp>
        <p:nvSpPr>
          <p:cNvPr id="5" name="Shape 3"/>
          <p:cNvSpPr/>
          <p:nvPr/>
        </p:nvSpPr>
        <p:spPr>
          <a:xfrm>
            <a:off x="7406640" y="1234440"/>
            <a:ext cx="4190695" cy="489204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6" name="Shape 4"/>
          <p:cNvSpPr/>
          <p:nvPr/>
        </p:nvSpPr>
        <p:spPr>
          <a:xfrm>
            <a:off x="7406640" y="1234440"/>
            <a:ext cx="109728" cy="4892040"/>
          </a:xfrm>
          <a:prstGeom prst="rect">
            <a:avLst/>
          </a:prstGeom>
          <a:solidFill>
            <a:srgbClr val="F59E0B"/>
          </a:solidFill>
          <a:ln w="12700">
            <a:solidFill>
              <a:srgbClr val="F59E0B"/>
            </a:solidFill>
            <a:prstDash val="solid"/>
          </a:ln>
        </p:spPr>
      </p:sp>
      <p:sp>
        <p:nvSpPr>
          <p:cNvPr id="7" name="Text 5"/>
          <p:cNvSpPr/>
          <p:nvPr/>
        </p:nvSpPr>
        <p:spPr>
          <a:xfrm>
            <a:off x="7635240" y="1399032"/>
            <a:ext cx="3870655" cy="320040"/>
          </a:xfrm>
          <a:prstGeom prst="rect">
            <a:avLst/>
          </a:prstGeom>
          <a:noFill/>
          <a:ln/>
        </p:spPr>
        <p:txBody>
          <a:bodyPr wrap="square" rtlCol="0" anchor="ctr"/>
          <a:lstStyle/>
          <a:p>
            <a:pPr marL="0" indent="0">
              <a:buNone/>
            </a:pPr>
            <a:r>
              <a:rPr lang="en-US" sz="1800" b="1" dirty="0">
                <a:solidFill>
                  <a:srgbClr val="111827"/>
                </a:solidFill>
              </a:rPr>
              <a:t>Bài học thiết kế</a:t>
            </a:r>
            <a:endParaRPr lang="en-US" sz="1800" dirty="0"/>
          </a:p>
        </p:txBody>
      </p:sp>
      <p:sp>
        <p:nvSpPr>
          <p:cNvPr id="8" name="Text 6"/>
          <p:cNvSpPr/>
          <p:nvPr/>
        </p:nvSpPr>
        <p:spPr>
          <a:xfrm>
            <a:off x="7726680" y="1764792"/>
            <a:ext cx="3687775" cy="420624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Nếu u_B(H) luôn cao hơn u_B(C), thì “copy” bị loại (dominated) → tốt.</a:t>
            </a:r>
            <a:endParaRPr lang="en-US" sz="1500" dirty="0"/>
          </a:p>
          <a:p>
            <a:pPr marL="190500" indent="-190500">
              <a:lnSpc>
                <a:spcPct val="120000"/>
              </a:lnSpc>
              <a:buSzPct val="100000"/>
              <a:buChar char="•"/>
            </a:pPr>
            <a:r>
              <a:rPr lang="en-US" sz="1500" dirty="0">
                <a:solidFill>
                  <a:srgbClr val="374151"/>
                </a:solidFill>
              </a:rPr>
              <a:t>Để đạt điều này: tăng lợi ích học thật (phản hồi, tiến bộ), hoặc tăng rủi ro/chi phí copy (ngân hàng câu hỏi, random, oral check).</a:t>
            </a:r>
            <a:endParaRPr lang="en-US" sz="1500" dirty="0"/>
          </a:p>
          <a:p>
            <a:pPr marL="190500" indent="-190500">
              <a:lnSpc>
                <a:spcPct val="120000"/>
              </a:lnSpc>
              <a:buSzPct val="100000"/>
              <a:buChar char="•"/>
            </a:pPr>
            <a:r>
              <a:rPr lang="en-US" sz="1500" dirty="0">
                <a:solidFill>
                  <a:srgbClr val="374151"/>
                </a:solidFill>
              </a:rPr>
              <a:t>Khi bạn muốn minh hoạ MSNE thật sự, hãy chọn payoff sao cho đôi bên có động lực ngẫu nhiên hoá (kiểu “matching pennies”).</a:t>
            </a:r>
            <a:endParaRPr lang="en-US" sz="1500" dirty="0"/>
          </a:p>
        </p:txBody>
      </p:sp>
      <p:sp>
        <p:nvSpPr>
          <p:cNvPr id="10" name="Text 7"/>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13</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Extensive-form games: trò chơi theo thời gian</a:t>
            </a:r>
            <a:endParaRPr lang="en-US" sz="2200" dirty="0"/>
          </a:p>
        </p:txBody>
      </p:sp>
      <p:sp>
        <p:nvSpPr>
          <p:cNvPr id="4" name="Text 2"/>
          <p:cNvSpPr/>
          <p:nvPr/>
        </p:nvSpPr>
        <p:spPr>
          <a:xfrm>
            <a:off x="594360" y="1097280"/>
            <a:ext cx="6583680" cy="2011680"/>
          </a:xfrm>
          <a:prstGeom prst="rect">
            <a:avLst/>
          </a:prstGeom>
          <a:noFill/>
          <a:ln/>
        </p:spPr>
        <p:txBody>
          <a:bodyPr wrap="square" rtlCol="0" anchor="t"/>
          <a:lstStyle/>
          <a:p>
            <a:pPr marL="228600" indent="-228600">
              <a:lnSpc>
                <a:spcPct val="120000"/>
              </a:lnSpc>
              <a:buSzPct val="100000"/>
              <a:buChar char="•"/>
            </a:pPr>
            <a:r>
              <a:rPr lang="en-US" sz="1800" dirty="0">
                <a:solidFill>
                  <a:srgbClr val="374151"/>
                </a:solidFill>
              </a:rPr>
              <a:t>Nhiều thiết kế EdTech là tuần tự: hệ thống ra luật → người học phản ứng → hệ thống cập nhật.</a:t>
            </a:r>
            <a:endParaRPr lang="en-US" sz="1800" dirty="0"/>
          </a:p>
          <a:p>
            <a:pPr marL="228600" indent="-228600">
              <a:lnSpc>
                <a:spcPct val="120000"/>
              </a:lnSpc>
              <a:buSzPct val="100000"/>
              <a:buChar char="•"/>
            </a:pPr>
            <a:r>
              <a:rPr lang="en-US" sz="1800" dirty="0">
                <a:solidFill>
                  <a:srgbClr val="374151"/>
                </a:solidFill>
              </a:rPr>
              <a:t>Extensive form biểu diễn: thứ tự hành động, thông tin ai biết gì, và payoff ở lá.</a:t>
            </a:r>
            <a:endParaRPr lang="en-US" sz="1800" dirty="0"/>
          </a:p>
          <a:p>
            <a:pPr marL="228600" indent="-228600">
              <a:lnSpc>
                <a:spcPct val="120000"/>
              </a:lnSpc>
              <a:buSzPct val="100000"/>
              <a:buChar char="•"/>
            </a:pPr>
            <a:r>
              <a:rPr lang="en-US" sz="1800" dirty="0">
                <a:solidFill>
                  <a:srgbClr val="374151"/>
                </a:solidFill>
              </a:rPr>
              <a:t>Khái niệm quan trọng: subgame perfect equilibrium (SPE).</a:t>
            </a:r>
            <a:endParaRPr lang="en-US" sz="1800" dirty="0"/>
          </a:p>
        </p:txBody>
      </p:sp>
      <p:sp>
        <p:nvSpPr>
          <p:cNvPr id="5" name="Shape 3"/>
          <p:cNvSpPr/>
          <p:nvPr/>
        </p:nvSpPr>
        <p:spPr>
          <a:xfrm>
            <a:off x="594360" y="3291840"/>
            <a:ext cx="10972800" cy="2651760"/>
          </a:xfrm>
          <a:prstGeom prst="roundRect">
            <a:avLst/>
          </a:prstGeom>
          <a:solidFill>
            <a:srgbClr val="F8FAFC"/>
          </a:solidFill>
          <a:ln w="12700">
            <a:solidFill>
              <a:srgbClr val="CBD5E1"/>
            </a:solidFill>
            <a:prstDash val="solid"/>
          </a:ln>
        </p:spPr>
      </p:sp>
      <p:sp>
        <p:nvSpPr>
          <p:cNvPr id="6" name="Text 4"/>
          <p:cNvSpPr/>
          <p:nvPr/>
        </p:nvSpPr>
        <p:spPr>
          <a:xfrm>
            <a:off x="914400" y="3566160"/>
            <a:ext cx="10332720" cy="2103120"/>
          </a:xfrm>
          <a:prstGeom prst="rect">
            <a:avLst/>
          </a:prstGeom>
          <a:noFill/>
          <a:ln/>
        </p:spPr>
        <p:txBody>
          <a:bodyPr wrap="square" rtlCol="0" anchor="ctr"/>
          <a:lstStyle/>
          <a:p>
            <a:pPr marL="0" indent="0">
              <a:buNone/>
            </a:pPr>
            <a:r>
              <a:rPr lang="en-US" sz="2000" dirty="0">
                <a:solidFill>
                  <a:srgbClr val="111827"/>
                </a:solidFill>
              </a:rPr>
              <a:t>Backward induction (ý tưởng):</a:t>
            </a:r>
            <a:endParaRPr lang="en-US" sz="2000" dirty="0"/>
          </a:p>
          <a:p>
            <a:pPr marL="0" indent="0">
              <a:buNone/>
            </a:pPr>
            <a:r>
              <a:rPr lang="en-US" sz="2000" dirty="0">
                <a:solidFill>
                  <a:srgbClr val="111827"/>
                </a:solidFill>
              </a:rPr>
              <a:t>Giải từ cuối (lá) quay ngược về gốc,</a:t>
            </a:r>
            <a:endParaRPr lang="en-US" sz="2000" dirty="0"/>
          </a:p>
          <a:p>
            <a:pPr marL="0" indent="0">
              <a:buNone/>
            </a:pPr>
            <a:r>
              <a:rPr lang="en-US" sz="2000" dirty="0">
                <a:solidFill>
                  <a:srgbClr val="111827"/>
                </a:solidFill>
              </a:rPr>
              <a:t>luôn chọn hành động tối ưu ở mỗi nút.</a:t>
            </a:r>
            <a:endParaRPr lang="en-US" sz="2000" dirty="0"/>
          </a:p>
        </p:txBody>
      </p:sp>
      <p:sp>
        <p:nvSpPr>
          <p:cNvPr id="8" name="Text 5"/>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14</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err="1">
                <a:solidFill>
                  <a:srgbClr val="FFFFFF"/>
                </a:solidFill>
              </a:rPr>
              <a:t>Ví</a:t>
            </a:r>
            <a:r>
              <a:rPr lang="en-US" sz="2200" b="1" dirty="0">
                <a:solidFill>
                  <a:srgbClr val="FFFFFF"/>
                </a:solidFill>
              </a:rPr>
              <a:t> </a:t>
            </a:r>
            <a:r>
              <a:rPr lang="en-US" sz="2200" b="1" dirty="0" err="1">
                <a:solidFill>
                  <a:srgbClr val="FFFFFF"/>
                </a:solidFill>
              </a:rPr>
              <a:t>dụ</a:t>
            </a:r>
            <a:r>
              <a:rPr lang="en-US" sz="2200" b="1" dirty="0">
                <a:solidFill>
                  <a:srgbClr val="FFFFFF"/>
                </a:solidFill>
              </a:rPr>
              <a:t>  backward induction &amp; SPE (game tuần tự)</a:t>
            </a:r>
            <a:endParaRPr lang="en-US" sz="2200" dirty="0"/>
          </a:p>
        </p:txBody>
      </p:sp>
      <p:sp>
        <p:nvSpPr>
          <p:cNvPr id="4" name="Text 2"/>
          <p:cNvSpPr/>
          <p:nvPr/>
        </p:nvSpPr>
        <p:spPr>
          <a:xfrm>
            <a:off x="594360" y="960120"/>
            <a:ext cx="11002975" cy="365760"/>
          </a:xfrm>
          <a:prstGeom prst="rect">
            <a:avLst/>
          </a:prstGeom>
          <a:noFill/>
          <a:ln/>
        </p:spPr>
        <p:txBody>
          <a:bodyPr wrap="square" rtlCol="0" anchor="ctr"/>
          <a:lstStyle/>
          <a:p>
            <a:pPr marL="0" indent="0">
              <a:buNone/>
            </a:pPr>
            <a:r>
              <a:rPr lang="en-US" sz="1800" b="1" dirty="0">
                <a:solidFill>
                  <a:srgbClr val="111827"/>
                </a:solidFill>
              </a:rPr>
              <a:t>Thiết kế đánh giá trong game học:</a:t>
            </a:r>
            <a:endParaRPr lang="en-US" sz="1800" dirty="0"/>
          </a:p>
        </p:txBody>
      </p:sp>
      <p:sp>
        <p:nvSpPr>
          <p:cNvPr id="5" name="Text 3"/>
          <p:cNvSpPr/>
          <p:nvPr/>
        </p:nvSpPr>
        <p:spPr>
          <a:xfrm>
            <a:off x="594360" y="1325880"/>
            <a:ext cx="7040880" cy="1188720"/>
          </a:xfrm>
          <a:prstGeom prst="rect">
            <a:avLst/>
          </a:prstGeom>
          <a:noFill/>
          <a:ln/>
        </p:spPr>
        <p:txBody>
          <a:bodyPr wrap="square" rtlCol="0" anchor="t"/>
          <a:lstStyle/>
          <a:p>
            <a:pPr marL="203200" indent="-203200">
              <a:lnSpc>
                <a:spcPct val="120000"/>
              </a:lnSpc>
              <a:buSzPct val="100000"/>
              <a:buChar char="•"/>
            </a:pPr>
            <a:r>
              <a:rPr lang="en-US" sz="1600" dirty="0">
                <a:solidFill>
                  <a:srgbClr val="374151"/>
                </a:solidFill>
              </a:rPr>
              <a:t>Bước 1: Hệ thống chọn cơ chế: R = Thưởng lớn nếu làm bài thật; S = Thưởng nhỏ.</a:t>
            </a:r>
            <a:endParaRPr lang="en-US" sz="1600" dirty="0"/>
          </a:p>
          <a:p>
            <a:pPr marL="203200" indent="-203200">
              <a:lnSpc>
                <a:spcPct val="120000"/>
              </a:lnSpc>
              <a:buSzPct val="100000"/>
              <a:buChar char="•"/>
            </a:pPr>
            <a:r>
              <a:rPr lang="en-US" sz="1600" dirty="0">
                <a:solidFill>
                  <a:srgbClr val="374151"/>
                </a:solidFill>
              </a:rPr>
              <a:t>Bước 2: Người học chọn: E = Nỗ lực thật; C = Copy/làm đối phó.</a:t>
            </a:r>
            <a:endParaRPr lang="en-US" sz="1600" dirty="0"/>
          </a:p>
          <a:p>
            <a:pPr marL="203200" indent="-203200">
              <a:lnSpc>
                <a:spcPct val="120000"/>
              </a:lnSpc>
              <a:buSzPct val="100000"/>
              <a:buChar char="•"/>
            </a:pPr>
            <a:r>
              <a:rPr lang="en-US" sz="1600" dirty="0">
                <a:solidFill>
                  <a:srgbClr val="374151"/>
                </a:solidFill>
              </a:rPr>
              <a:t>Payoff (Hệ thống, Người học) cho từng kết quả như sau:</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 y="2697480"/>
          <a:ext cx="6858000" cy="2286000"/>
        </p:xfrm>
        <a:graphic>
          <a:graphicData uri="http://schemas.openxmlformats.org/drawingml/2006/table">
            <a:tbl>
              <a:tblPr/>
              <a:tblGrid>
                <a:gridCol w="10972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57200">
                <a:tc>
                  <a:txBody>
                    <a:bodyPr/>
                    <a:lstStyle/>
                    <a:p>
                      <a:pPr marL="0" indent="0">
                        <a:buNone/>
                      </a:pPr>
                      <a:r>
                        <a:rPr lang="en-US" sz="1400" dirty="0">
                          <a:solidFill>
                            <a:srgbClr val="000000"/>
                          </a:solidFill>
                        </a:rPr>
                        <a:t>Cơ chế</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Người học</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Payoff (Sys, Learner)</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000000"/>
                          </a:solidFill>
                        </a:rPr>
                        <a:t>R</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E</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(4, 2)</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dirty="0">
                          <a:solidFill>
                            <a:srgbClr val="000000"/>
                          </a:solidFill>
                        </a:rPr>
                        <a:t>R</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C</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(0, 3)</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400" dirty="0">
                          <a:solidFill>
                            <a:srgbClr val="000000"/>
                          </a:solidFill>
                        </a:rPr>
                        <a:t>S</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E</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(2, 1)</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400" dirty="0">
                          <a:solidFill>
                            <a:srgbClr val="000000"/>
                          </a:solidFill>
                        </a:rPr>
                        <a:t>S</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C</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(1, 2)</a:t>
                      </a:r>
                      <a:endParaRPr lang="en-US" sz="1400" dirty="0"/>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4"/>
          <p:cNvSpPr/>
          <p:nvPr/>
        </p:nvSpPr>
        <p:spPr>
          <a:xfrm>
            <a:off x="7498080" y="1325880"/>
            <a:ext cx="4099255" cy="356616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8" name="Shape 5"/>
          <p:cNvSpPr/>
          <p:nvPr/>
        </p:nvSpPr>
        <p:spPr>
          <a:xfrm>
            <a:off x="7498080" y="1325880"/>
            <a:ext cx="109728" cy="3566160"/>
          </a:xfrm>
          <a:prstGeom prst="rect">
            <a:avLst/>
          </a:prstGeom>
          <a:solidFill>
            <a:srgbClr val="1F9D8A"/>
          </a:solidFill>
          <a:ln w="12700">
            <a:solidFill>
              <a:srgbClr val="1F9D8A"/>
            </a:solidFill>
            <a:prstDash val="solid"/>
          </a:ln>
        </p:spPr>
      </p:sp>
      <p:sp>
        <p:nvSpPr>
          <p:cNvPr id="9" name="Text 6"/>
          <p:cNvSpPr/>
          <p:nvPr/>
        </p:nvSpPr>
        <p:spPr>
          <a:xfrm>
            <a:off x="7726680" y="1490472"/>
            <a:ext cx="3779215" cy="320040"/>
          </a:xfrm>
          <a:prstGeom prst="rect">
            <a:avLst/>
          </a:prstGeom>
          <a:noFill/>
          <a:ln/>
        </p:spPr>
        <p:txBody>
          <a:bodyPr wrap="square" rtlCol="0" anchor="ctr"/>
          <a:lstStyle/>
          <a:p>
            <a:pPr marL="0" indent="0">
              <a:buNone/>
            </a:pPr>
            <a:r>
              <a:rPr lang="en-US" sz="1800" b="1" dirty="0">
                <a:solidFill>
                  <a:srgbClr val="111827"/>
                </a:solidFill>
              </a:rPr>
              <a:t>Yêu cầu</a:t>
            </a:r>
            <a:endParaRPr lang="en-US" sz="1800" dirty="0"/>
          </a:p>
        </p:txBody>
      </p:sp>
      <p:sp>
        <p:nvSpPr>
          <p:cNvPr id="10" name="Text 7"/>
          <p:cNvSpPr/>
          <p:nvPr/>
        </p:nvSpPr>
        <p:spPr>
          <a:xfrm>
            <a:off x="7818120" y="1856232"/>
            <a:ext cx="3596335" cy="288036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1) Dùng backward induction để tìm SPE.</a:t>
            </a:r>
            <a:endParaRPr lang="en-US" sz="1500" dirty="0"/>
          </a:p>
          <a:p>
            <a:pPr marL="190500" indent="-190500">
              <a:lnSpc>
                <a:spcPct val="120000"/>
              </a:lnSpc>
              <a:buSzPct val="100000"/>
              <a:buChar char="•"/>
            </a:pPr>
            <a:r>
              <a:rPr lang="en-US" sz="1500" dirty="0">
                <a:solidFill>
                  <a:srgbClr val="374151"/>
                </a:solidFill>
              </a:rPr>
              <a:t>2) Hệ thống nên chọn R hay S?</a:t>
            </a:r>
            <a:endParaRPr lang="en-US" sz="1500" dirty="0"/>
          </a:p>
          <a:p>
            <a:pPr marL="190500" indent="-190500">
              <a:lnSpc>
                <a:spcPct val="120000"/>
              </a:lnSpc>
              <a:buSzPct val="100000"/>
              <a:buChar char="•"/>
            </a:pPr>
            <a:r>
              <a:rPr lang="en-US" sz="1500" dirty="0">
                <a:solidFill>
                  <a:srgbClr val="374151"/>
                </a:solidFill>
              </a:rPr>
              <a:t>3) Bạn đề xuất 1 thay đổi cơ chế để khiến người học chọn E ngay cả khi thưởng R?</a:t>
            </a:r>
            <a:endParaRPr lang="en-US" sz="1500" dirty="0"/>
          </a:p>
        </p:txBody>
      </p:sp>
      <p:sp>
        <p:nvSpPr>
          <p:cNvPr id="11" name="Text 8"/>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15</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Lời giải bài 3 (SPE)</a:t>
            </a:r>
            <a:endParaRPr lang="en-US" sz="2200" dirty="0"/>
          </a:p>
        </p:txBody>
      </p:sp>
      <p:sp>
        <p:nvSpPr>
          <p:cNvPr id="4" name="Text 2"/>
          <p:cNvSpPr/>
          <p:nvPr/>
        </p:nvSpPr>
        <p:spPr>
          <a:xfrm>
            <a:off x="594360" y="1097280"/>
            <a:ext cx="6949440" cy="4663440"/>
          </a:xfrm>
          <a:prstGeom prst="rect">
            <a:avLst/>
          </a:prstGeom>
          <a:noFill/>
          <a:ln/>
        </p:spPr>
        <p:txBody>
          <a:bodyPr wrap="square" rtlCol="0" anchor="t"/>
          <a:lstStyle/>
          <a:p>
            <a:pPr marL="203200" indent="-203200">
              <a:lnSpc>
                <a:spcPct val="120000"/>
              </a:lnSpc>
              <a:buSzPct val="100000"/>
              <a:buChar char="•"/>
            </a:pPr>
            <a:r>
              <a:rPr lang="en-US" sz="1600" dirty="0">
                <a:solidFill>
                  <a:srgbClr val="374151"/>
                </a:solidFill>
              </a:rPr>
              <a:t>Xét lựa chọn của người học ở bước 2:</a:t>
            </a:r>
            <a:endParaRPr lang="en-US" sz="1600" dirty="0"/>
          </a:p>
          <a:p>
            <a:pPr marL="203200" indent="-203200">
              <a:lnSpc>
                <a:spcPct val="120000"/>
              </a:lnSpc>
              <a:buSzPct val="100000"/>
              <a:buChar char="•"/>
            </a:pPr>
            <a:r>
              <a:rPr lang="en-US" sz="1600" dirty="0">
                <a:solidFill>
                  <a:srgbClr val="374151"/>
                </a:solidFill>
              </a:rPr>
              <a:t>• Nếu hệ thống chọn R: người học so sánh E (2) vs C (3) → chọn C.</a:t>
            </a:r>
            <a:endParaRPr lang="en-US" sz="1600" dirty="0"/>
          </a:p>
          <a:p>
            <a:pPr marL="203200" indent="-203200">
              <a:lnSpc>
                <a:spcPct val="120000"/>
              </a:lnSpc>
              <a:buSzPct val="100000"/>
              <a:buChar char="•"/>
            </a:pPr>
            <a:r>
              <a:rPr lang="en-US" sz="1600" dirty="0">
                <a:solidFill>
                  <a:srgbClr val="374151"/>
                </a:solidFill>
              </a:rPr>
              <a:t>• Nếu hệ thống chọn S: người học so sánh E (1) vs C (2) → chọn C.</a:t>
            </a:r>
            <a:endParaRPr lang="en-US" sz="1600" dirty="0"/>
          </a:p>
          <a:p>
            <a:pPr marL="203200" indent="-203200">
              <a:lnSpc>
                <a:spcPct val="120000"/>
              </a:lnSpc>
              <a:buSzPct val="100000"/>
              <a:buChar char="•"/>
            </a:pPr>
            <a:r>
              <a:rPr lang="en-US" sz="1600" dirty="0">
                <a:solidFill>
                  <a:srgbClr val="374151"/>
                </a:solidFill>
              </a:rPr>
              <a:t>⇒ Người học luôn chọn C (copy/đối phó) trong ví dụ này.</a:t>
            </a:r>
            <a:endParaRPr lang="en-US" sz="1600" dirty="0"/>
          </a:p>
          <a:p>
            <a:pPr marL="203200" indent="-203200">
              <a:lnSpc>
                <a:spcPct val="120000"/>
              </a:lnSpc>
              <a:buSzPct val="100000"/>
              <a:buChar char="•"/>
            </a:pPr>
            <a:r>
              <a:rPr lang="en-US" sz="1600" dirty="0">
                <a:solidFill>
                  <a:srgbClr val="374151"/>
                </a:solidFill>
              </a:rPr>
              <a:t>Quay lại bước 1: hệ thống biết vậy nên so payoff của mình:</a:t>
            </a:r>
            <a:endParaRPr lang="en-US" sz="1600" dirty="0"/>
          </a:p>
          <a:p>
            <a:pPr marL="203200" indent="-203200">
              <a:lnSpc>
                <a:spcPct val="120000"/>
              </a:lnSpc>
              <a:buSzPct val="100000"/>
              <a:buChar char="•"/>
            </a:pPr>
            <a:r>
              <a:rPr lang="en-US" sz="1600" dirty="0">
                <a:solidFill>
                  <a:srgbClr val="374151"/>
                </a:solidFill>
              </a:rPr>
              <a:t>• Chọn R → payoff hệ thống = 0 (vì outcome R,C).</a:t>
            </a:r>
            <a:endParaRPr lang="en-US" sz="1600" dirty="0"/>
          </a:p>
          <a:p>
            <a:pPr marL="203200" indent="-203200">
              <a:lnSpc>
                <a:spcPct val="120000"/>
              </a:lnSpc>
              <a:buSzPct val="100000"/>
              <a:buChar char="•"/>
            </a:pPr>
            <a:r>
              <a:rPr lang="en-US" sz="1600" dirty="0">
                <a:solidFill>
                  <a:srgbClr val="374151"/>
                </a:solidFill>
              </a:rPr>
              <a:t>• Chọn S → payoff hệ thống = 1 (outcome S,C).</a:t>
            </a:r>
            <a:endParaRPr lang="en-US" sz="1600" dirty="0"/>
          </a:p>
          <a:p>
            <a:pPr marL="203200" indent="-203200">
              <a:lnSpc>
                <a:spcPct val="120000"/>
              </a:lnSpc>
              <a:buSzPct val="100000"/>
              <a:buChar char="•"/>
            </a:pPr>
            <a:r>
              <a:rPr lang="en-US" sz="1600" dirty="0">
                <a:solidFill>
                  <a:srgbClr val="374151"/>
                </a:solidFill>
              </a:rPr>
              <a:t>⇒ SPE: (S, C).</a:t>
            </a:r>
            <a:endParaRPr lang="en-US" sz="1600" dirty="0"/>
          </a:p>
        </p:txBody>
      </p:sp>
      <p:sp>
        <p:nvSpPr>
          <p:cNvPr id="5" name="Shape 3"/>
          <p:cNvSpPr/>
          <p:nvPr/>
        </p:nvSpPr>
        <p:spPr>
          <a:xfrm>
            <a:off x="7406640" y="1234440"/>
            <a:ext cx="4190695" cy="489204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6" name="Shape 4"/>
          <p:cNvSpPr/>
          <p:nvPr/>
        </p:nvSpPr>
        <p:spPr>
          <a:xfrm>
            <a:off x="7406640" y="1234440"/>
            <a:ext cx="109728" cy="4892040"/>
          </a:xfrm>
          <a:prstGeom prst="rect">
            <a:avLst/>
          </a:prstGeom>
          <a:solidFill>
            <a:srgbClr val="F59E0B"/>
          </a:solidFill>
          <a:ln w="12700">
            <a:solidFill>
              <a:srgbClr val="F59E0B"/>
            </a:solidFill>
            <a:prstDash val="solid"/>
          </a:ln>
        </p:spPr>
      </p:sp>
      <p:sp>
        <p:nvSpPr>
          <p:cNvPr id="7" name="Text 5"/>
          <p:cNvSpPr/>
          <p:nvPr/>
        </p:nvSpPr>
        <p:spPr>
          <a:xfrm>
            <a:off x="7635240" y="1399032"/>
            <a:ext cx="3870655" cy="320040"/>
          </a:xfrm>
          <a:prstGeom prst="rect">
            <a:avLst/>
          </a:prstGeom>
          <a:noFill/>
          <a:ln/>
        </p:spPr>
        <p:txBody>
          <a:bodyPr wrap="square" rtlCol="0" anchor="ctr"/>
          <a:lstStyle/>
          <a:p>
            <a:pPr marL="0" indent="0">
              <a:buNone/>
            </a:pPr>
            <a:r>
              <a:rPr lang="en-US" sz="1800" b="1" dirty="0">
                <a:solidFill>
                  <a:srgbClr val="111827"/>
                </a:solidFill>
              </a:rPr>
              <a:t>Cách “sửa game” để E thành best response</a:t>
            </a:r>
            <a:endParaRPr lang="en-US" sz="1800" dirty="0"/>
          </a:p>
        </p:txBody>
      </p:sp>
      <p:sp>
        <p:nvSpPr>
          <p:cNvPr id="8" name="Text 6"/>
          <p:cNvSpPr/>
          <p:nvPr/>
        </p:nvSpPr>
        <p:spPr>
          <a:xfrm>
            <a:off x="7726680" y="1764792"/>
            <a:ext cx="3687775" cy="420624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Tăng payoff của E: phản hồi tức thì, unlock nội dung/đặc quyền chỉ khi hoàn thành thật.</a:t>
            </a:r>
            <a:endParaRPr lang="en-US" sz="1500" dirty="0"/>
          </a:p>
          <a:p>
            <a:pPr marL="190500" indent="-190500">
              <a:lnSpc>
                <a:spcPct val="120000"/>
              </a:lnSpc>
              <a:buSzPct val="100000"/>
              <a:buChar char="•"/>
            </a:pPr>
            <a:r>
              <a:rPr lang="en-US" sz="1500" dirty="0">
                <a:solidFill>
                  <a:srgbClr val="374151"/>
                </a:solidFill>
              </a:rPr>
              <a:t>Giảm payoff của C: random oral check, ngân hàng đề lớn, phát hiện đạo văn, yêu cầu giải thích.</a:t>
            </a:r>
            <a:endParaRPr lang="en-US" sz="1500" dirty="0"/>
          </a:p>
          <a:p>
            <a:pPr marL="190500" indent="-190500">
              <a:lnSpc>
                <a:spcPct val="120000"/>
              </a:lnSpc>
              <a:buSzPct val="100000"/>
              <a:buChar char="•"/>
            </a:pPr>
            <a:r>
              <a:rPr lang="en-US" sz="1500" dirty="0">
                <a:solidFill>
                  <a:srgbClr val="374151"/>
                </a:solidFill>
              </a:rPr>
              <a:t>Thêm bước “cam kết”: người học chọn mức thử thách trước (self-selection) + thưởng tương ứng.</a:t>
            </a:r>
            <a:endParaRPr lang="en-US" sz="1500" dirty="0"/>
          </a:p>
        </p:txBody>
      </p:sp>
      <p:sp>
        <p:nvSpPr>
          <p:cNvPr id="10" name="Text 7"/>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16</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Repeated games: hợp tác bền vững &amp; “streak”</a:t>
            </a:r>
            <a:endParaRPr lang="en-US" sz="2200" dirty="0"/>
          </a:p>
        </p:txBody>
      </p:sp>
      <p:sp>
        <p:nvSpPr>
          <p:cNvPr id="4" name="Text 2"/>
          <p:cNvSpPr/>
          <p:nvPr/>
        </p:nvSpPr>
        <p:spPr>
          <a:xfrm>
            <a:off x="594360" y="1097280"/>
            <a:ext cx="6858000" cy="1828800"/>
          </a:xfrm>
          <a:prstGeom prst="rect">
            <a:avLst/>
          </a:prstGeom>
          <a:noFill/>
          <a:ln/>
        </p:spPr>
        <p:txBody>
          <a:bodyPr wrap="square" rtlCol="0" anchor="t"/>
          <a:lstStyle/>
          <a:p>
            <a:pPr marL="228600" indent="-228600">
              <a:lnSpc>
                <a:spcPct val="120000"/>
              </a:lnSpc>
              <a:buSzPct val="100000"/>
              <a:buChar char="•"/>
            </a:pPr>
            <a:r>
              <a:rPr lang="en-US" sz="1800" dirty="0">
                <a:solidFill>
                  <a:srgbClr val="374151"/>
                </a:solidFill>
              </a:rPr>
              <a:t>Trong game học, tương tác lặp lại: học theo ngày/tuần, nhóm làm dự án nhiều vòng.</a:t>
            </a:r>
            <a:endParaRPr lang="en-US" sz="1800" dirty="0"/>
          </a:p>
          <a:p>
            <a:pPr marL="228600" indent="-228600">
              <a:lnSpc>
                <a:spcPct val="120000"/>
              </a:lnSpc>
              <a:buSzPct val="100000"/>
              <a:buChar char="•"/>
            </a:pPr>
            <a:r>
              <a:rPr lang="en-US" sz="1800" dirty="0">
                <a:solidFill>
                  <a:srgbClr val="374151"/>
                </a:solidFill>
              </a:rPr>
              <a:t>Chiến lược có thể phụ thuộc lịch sử (reputation, tit-for-tat, grim trigger…).</a:t>
            </a:r>
            <a:endParaRPr lang="en-US" sz="1800" dirty="0"/>
          </a:p>
          <a:p>
            <a:pPr marL="228600" indent="-228600">
              <a:lnSpc>
                <a:spcPct val="120000"/>
              </a:lnSpc>
              <a:buSzPct val="100000"/>
              <a:buChar char="•"/>
            </a:pPr>
            <a:r>
              <a:rPr lang="en-US" sz="1800" dirty="0">
                <a:solidFill>
                  <a:srgbClr val="374151"/>
                </a:solidFill>
              </a:rPr>
              <a:t>Yếu tố mấu chốt: δ (discount factor) — coi trọng tương lai bao nhiêu.</a:t>
            </a:r>
            <a:endParaRPr lang="en-US" sz="1800" dirty="0"/>
          </a:p>
        </p:txBody>
      </p:sp>
      <p:sp>
        <p:nvSpPr>
          <p:cNvPr id="5" name="Shape 3"/>
          <p:cNvSpPr/>
          <p:nvPr/>
        </p:nvSpPr>
        <p:spPr>
          <a:xfrm>
            <a:off x="594360" y="3200400"/>
            <a:ext cx="6858000" cy="2377440"/>
          </a:xfrm>
          <a:prstGeom prst="roundRect">
            <a:avLst/>
          </a:prstGeom>
          <a:solidFill>
            <a:srgbClr val="F8FAFC"/>
          </a:solidFill>
          <a:ln w="12700">
            <a:solidFill>
              <a:srgbClr val="CBD5E1"/>
            </a:solidFill>
            <a:prstDash val="solid"/>
          </a:ln>
        </p:spPr>
      </p:sp>
      <p:sp>
        <p:nvSpPr>
          <p:cNvPr id="6" name="Text 4"/>
          <p:cNvSpPr/>
          <p:nvPr/>
        </p:nvSpPr>
        <p:spPr>
          <a:xfrm>
            <a:off x="914400" y="3520440"/>
            <a:ext cx="6309360" cy="1554480"/>
          </a:xfrm>
          <a:prstGeom prst="rect">
            <a:avLst/>
          </a:prstGeom>
          <a:noFill/>
          <a:ln/>
        </p:spPr>
        <p:txBody>
          <a:bodyPr wrap="square" rtlCol="0" anchor="ctr"/>
          <a:lstStyle/>
          <a:p>
            <a:pPr marL="0" indent="0">
              <a:buNone/>
            </a:pPr>
            <a:r>
              <a:rPr lang="en-US" sz="2000" b="1" dirty="0">
                <a:solidFill>
                  <a:srgbClr val="0B3D91"/>
                </a:solidFill>
              </a:rPr>
              <a:t>Điều kiện hợp tác (minh hoạ Prisoner’s Dilemma, grim trigger):</a:t>
            </a:r>
            <a:endParaRPr lang="en-US" sz="2000" dirty="0"/>
          </a:p>
          <a:p>
            <a:pPr marL="0" indent="0">
              <a:buNone/>
            </a:pPr>
            <a:r>
              <a:rPr lang="en-US" sz="2000" b="1" dirty="0">
                <a:solidFill>
                  <a:srgbClr val="0B3D91"/>
                </a:solidFill>
              </a:rPr>
              <a:t>δ ≥ (T − R) / (T − P)</a:t>
            </a:r>
            <a:endParaRPr lang="en-US" sz="2000" dirty="0"/>
          </a:p>
        </p:txBody>
      </p:sp>
      <p:sp>
        <p:nvSpPr>
          <p:cNvPr id="7" name="Shape 5"/>
          <p:cNvSpPr/>
          <p:nvPr/>
        </p:nvSpPr>
        <p:spPr>
          <a:xfrm>
            <a:off x="7498080" y="1143000"/>
            <a:ext cx="4099255" cy="443484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8" name="Shape 6"/>
          <p:cNvSpPr/>
          <p:nvPr/>
        </p:nvSpPr>
        <p:spPr>
          <a:xfrm>
            <a:off x="7498080" y="1143000"/>
            <a:ext cx="109728" cy="4434840"/>
          </a:xfrm>
          <a:prstGeom prst="rect">
            <a:avLst/>
          </a:prstGeom>
          <a:solidFill>
            <a:srgbClr val="1F9D8A"/>
          </a:solidFill>
          <a:ln w="12700">
            <a:solidFill>
              <a:srgbClr val="1F9D8A"/>
            </a:solidFill>
            <a:prstDash val="solid"/>
          </a:ln>
        </p:spPr>
      </p:sp>
      <p:sp>
        <p:nvSpPr>
          <p:cNvPr id="9" name="Text 7"/>
          <p:cNvSpPr/>
          <p:nvPr/>
        </p:nvSpPr>
        <p:spPr>
          <a:xfrm>
            <a:off x="7726680" y="1307592"/>
            <a:ext cx="3779215" cy="320040"/>
          </a:xfrm>
          <a:prstGeom prst="rect">
            <a:avLst/>
          </a:prstGeom>
          <a:noFill/>
          <a:ln/>
        </p:spPr>
        <p:txBody>
          <a:bodyPr wrap="square" rtlCol="0" anchor="ctr"/>
          <a:lstStyle/>
          <a:p>
            <a:pPr marL="0" indent="0">
              <a:buNone/>
            </a:pPr>
            <a:r>
              <a:rPr lang="en-US" sz="1800" b="1" dirty="0">
                <a:solidFill>
                  <a:srgbClr val="111827"/>
                </a:solidFill>
              </a:rPr>
              <a:t>Dịch sang thiết kế “streak”</a:t>
            </a:r>
            <a:endParaRPr lang="en-US" sz="1800" dirty="0"/>
          </a:p>
        </p:txBody>
      </p:sp>
      <p:sp>
        <p:nvSpPr>
          <p:cNvPr id="10" name="Text 8"/>
          <p:cNvSpPr/>
          <p:nvPr/>
        </p:nvSpPr>
        <p:spPr>
          <a:xfrm>
            <a:off x="7818120" y="1673352"/>
            <a:ext cx="3596335" cy="374904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Streak/chuỗi ngày học làm tăng “giá trị tương lai” (δ) → người học ít phá chuỗi.</a:t>
            </a:r>
            <a:endParaRPr lang="en-US" sz="1500" dirty="0"/>
          </a:p>
          <a:p>
            <a:pPr marL="190500" indent="-190500">
              <a:lnSpc>
                <a:spcPct val="120000"/>
              </a:lnSpc>
              <a:buSzPct val="100000"/>
              <a:buChar char="•"/>
            </a:pPr>
            <a:r>
              <a:rPr lang="en-US" sz="1500" dirty="0">
                <a:solidFill>
                  <a:srgbClr val="374151"/>
                </a:solidFill>
              </a:rPr>
              <a:t>Nhưng phạt mất streak quá mạnh có thể phản tác dụng (bỏ luôn).</a:t>
            </a:r>
            <a:endParaRPr lang="en-US" sz="1500" dirty="0"/>
          </a:p>
          <a:p>
            <a:pPr marL="190500" indent="-190500">
              <a:lnSpc>
                <a:spcPct val="120000"/>
              </a:lnSpc>
              <a:buSzPct val="100000"/>
              <a:buChar char="•"/>
            </a:pPr>
            <a:r>
              <a:rPr lang="en-US" sz="1500" dirty="0">
                <a:solidFill>
                  <a:srgbClr val="374151"/>
                </a:solidFill>
              </a:rPr>
              <a:t>Giải pháp: streak có “bảo hiểm” (freeze), mục tiêu linh hoạt, và phản hồi tích cực.</a:t>
            </a:r>
            <a:endParaRPr lang="en-US" sz="1500" dirty="0"/>
          </a:p>
        </p:txBody>
      </p:sp>
      <p:sp>
        <p:nvSpPr>
          <p:cNvPr id="12" name="Text 9"/>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17</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Góc nhìn “thiết kế cơ chế”: chỉnh luật để đổi equilibrium</a:t>
            </a:r>
            <a:endParaRPr lang="en-US" sz="2200" dirty="0"/>
          </a:p>
        </p:txBody>
      </p:sp>
      <p:sp>
        <p:nvSpPr>
          <p:cNvPr id="4" name="Text 2"/>
          <p:cNvSpPr/>
          <p:nvPr/>
        </p:nvSpPr>
        <p:spPr>
          <a:xfrm>
            <a:off x="594360" y="1097280"/>
            <a:ext cx="6949440" cy="4846320"/>
          </a:xfrm>
          <a:prstGeom prst="rect">
            <a:avLst/>
          </a:prstGeom>
          <a:noFill/>
          <a:ln/>
        </p:spPr>
        <p:txBody>
          <a:bodyPr wrap="square" rtlCol="0" anchor="t"/>
          <a:lstStyle/>
          <a:p>
            <a:pPr marL="215900" indent="-215900">
              <a:lnSpc>
                <a:spcPct val="120000"/>
              </a:lnSpc>
              <a:buSzPct val="100000"/>
              <a:buChar char="•"/>
            </a:pPr>
            <a:r>
              <a:rPr lang="en-US" sz="1700" dirty="0">
                <a:solidFill>
                  <a:srgbClr val="374151"/>
                </a:solidFill>
              </a:rPr>
              <a:t>Mục tiêu: thiết kế quy tắc sao cho hành vi mong muốn là best response (và bền vững).</a:t>
            </a:r>
            <a:endParaRPr lang="en-US" sz="1700" dirty="0"/>
          </a:p>
          <a:p>
            <a:pPr marL="215900" indent="-215900">
              <a:lnSpc>
                <a:spcPct val="120000"/>
              </a:lnSpc>
              <a:buSzPct val="100000"/>
              <a:buChar char="•"/>
            </a:pPr>
            <a:r>
              <a:rPr lang="en-US" sz="1700" dirty="0">
                <a:solidFill>
                  <a:srgbClr val="374151"/>
                </a:solidFill>
              </a:rPr>
              <a:t>4 đòn bẩy phổ biến trong game giáo dục:</a:t>
            </a:r>
            <a:endParaRPr lang="en-US" sz="1700" dirty="0"/>
          </a:p>
          <a:p>
            <a:pPr marL="215900" indent="-215900">
              <a:lnSpc>
                <a:spcPct val="120000"/>
              </a:lnSpc>
              <a:buSzPct val="100000"/>
              <a:buChar char="•"/>
            </a:pPr>
            <a:r>
              <a:rPr lang="en-US" sz="1700" dirty="0">
                <a:solidFill>
                  <a:srgbClr val="374151"/>
                </a:solidFill>
              </a:rPr>
              <a:t>• (1) Thưởng/phạt (transfers): điểm, XP, quyền truy cập.</a:t>
            </a:r>
            <a:endParaRPr lang="en-US" sz="1700" dirty="0"/>
          </a:p>
          <a:p>
            <a:pPr marL="215900" indent="-215900">
              <a:lnSpc>
                <a:spcPct val="120000"/>
              </a:lnSpc>
              <a:buSzPct val="100000"/>
              <a:buChar char="•"/>
            </a:pPr>
            <a:r>
              <a:rPr lang="en-US" sz="1700" dirty="0">
                <a:solidFill>
                  <a:srgbClr val="374151"/>
                </a:solidFill>
              </a:rPr>
              <a:t>• (2) Quan sát/kiểm chứng: log, random check, peer review.</a:t>
            </a:r>
            <a:endParaRPr lang="en-US" sz="1700" dirty="0"/>
          </a:p>
          <a:p>
            <a:pPr marL="215900" indent="-215900">
              <a:lnSpc>
                <a:spcPct val="120000"/>
              </a:lnSpc>
              <a:buSzPct val="100000"/>
              <a:buChar char="•"/>
            </a:pPr>
            <a:r>
              <a:rPr lang="en-US" sz="1700" dirty="0">
                <a:solidFill>
                  <a:srgbClr val="374151"/>
                </a:solidFill>
              </a:rPr>
              <a:t>• (3) Cam kết &amp; hợp đồng: chọn mức thử thách trước, đặt cọc (deposit).</a:t>
            </a:r>
            <a:endParaRPr lang="en-US" sz="1700" dirty="0"/>
          </a:p>
          <a:p>
            <a:pPr marL="215900" indent="-215900">
              <a:lnSpc>
                <a:spcPct val="120000"/>
              </a:lnSpc>
              <a:buSzPct val="100000"/>
              <a:buChar char="•"/>
            </a:pPr>
            <a:r>
              <a:rPr lang="en-US" sz="1700" dirty="0">
                <a:solidFill>
                  <a:srgbClr val="374151"/>
                </a:solidFill>
              </a:rPr>
              <a:t>• (4) Thông tin &amp; tín hiệu: hiển thị tiến độ, uy tín, xếp hạng theo nhóm phù hợp.</a:t>
            </a:r>
            <a:endParaRPr lang="en-US" sz="1700" dirty="0"/>
          </a:p>
        </p:txBody>
      </p:sp>
      <p:sp>
        <p:nvSpPr>
          <p:cNvPr id="5" name="Shape 3"/>
          <p:cNvSpPr/>
          <p:nvPr/>
        </p:nvSpPr>
        <p:spPr>
          <a:xfrm>
            <a:off x="7406640" y="1143000"/>
            <a:ext cx="4190695" cy="292608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6" name="Shape 4"/>
          <p:cNvSpPr/>
          <p:nvPr/>
        </p:nvSpPr>
        <p:spPr>
          <a:xfrm>
            <a:off x="7406640" y="1143000"/>
            <a:ext cx="109728" cy="2926080"/>
          </a:xfrm>
          <a:prstGeom prst="rect">
            <a:avLst/>
          </a:prstGeom>
          <a:solidFill>
            <a:srgbClr val="F59E0B"/>
          </a:solidFill>
          <a:ln w="12700">
            <a:solidFill>
              <a:srgbClr val="F59E0B"/>
            </a:solidFill>
            <a:prstDash val="solid"/>
          </a:ln>
        </p:spPr>
      </p:sp>
      <p:sp>
        <p:nvSpPr>
          <p:cNvPr id="7" name="Text 5"/>
          <p:cNvSpPr/>
          <p:nvPr/>
        </p:nvSpPr>
        <p:spPr>
          <a:xfrm>
            <a:off x="7635240" y="1307592"/>
            <a:ext cx="3870655" cy="320040"/>
          </a:xfrm>
          <a:prstGeom prst="rect">
            <a:avLst/>
          </a:prstGeom>
          <a:noFill/>
          <a:ln/>
        </p:spPr>
        <p:txBody>
          <a:bodyPr wrap="square" rtlCol="0" anchor="ctr"/>
          <a:lstStyle/>
          <a:p>
            <a:pPr marL="0" indent="0">
              <a:buNone/>
            </a:pPr>
            <a:r>
              <a:rPr lang="en-US" sz="1800" b="1" dirty="0">
                <a:solidFill>
                  <a:srgbClr val="111827"/>
                </a:solidFill>
              </a:rPr>
              <a:t>Cẩn trọng (đạo đức &amp; công bằng)</a:t>
            </a:r>
            <a:endParaRPr lang="en-US" sz="1800" dirty="0"/>
          </a:p>
        </p:txBody>
      </p:sp>
      <p:sp>
        <p:nvSpPr>
          <p:cNvPr id="8" name="Text 6"/>
          <p:cNvSpPr/>
          <p:nvPr/>
        </p:nvSpPr>
        <p:spPr>
          <a:xfrm>
            <a:off x="7726680" y="1673352"/>
            <a:ext cx="3687775" cy="224028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Incentive mạnh có thể dẫn đến “chơi hệ thống” (Goodhart).</a:t>
            </a:r>
            <a:endParaRPr lang="en-US" sz="1500" dirty="0"/>
          </a:p>
          <a:p>
            <a:pPr marL="190500" indent="-190500">
              <a:lnSpc>
                <a:spcPct val="120000"/>
              </a:lnSpc>
              <a:buSzPct val="100000"/>
              <a:buChar char="•"/>
            </a:pPr>
            <a:r>
              <a:rPr lang="en-US" sz="1500" dirty="0">
                <a:solidFill>
                  <a:srgbClr val="374151"/>
                </a:solidFill>
              </a:rPr>
              <a:t>Leaderboard có thể làm người yếu nản; cơ chế nên có “đường lui” và mục tiêu cá nhân.</a:t>
            </a:r>
            <a:endParaRPr lang="en-US" sz="1500" dirty="0"/>
          </a:p>
          <a:p>
            <a:pPr marL="190500" indent="-190500">
              <a:lnSpc>
                <a:spcPct val="120000"/>
              </a:lnSpc>
              <a:buSzPct val="100000"/>
              <a:buChar char="•"/>
            </a:pPr>
            <a:r>
              <a:rPr lang="en-US" sz="1500" dirty="0">
                <a:solidFill>
                  <a:srgbClr val="374151"/>
                </a:solidFill>
              </a:rPr>
              <a:t>Tránh thiết kế gây nghiện/đánh bạc hoá phần thưởng.</a:t>
            </a:r>
            <a:endParaRPr lang="en-US" sz="1500" dirty="0"/>
          </a:p>
        </p:txBody>
      </p:sp>
      <p:sp>
        <p:nvSpPr>
          <p:cNvPr id="9" name="Shape 7"/>
          <p:cNvSpPr/>
          <p:nvPr/>
        </p:nvSpPr>
        <p:spPr>
          <a:xfrm>
            <a:off x="7406640" y="4251960"/>
            <a:ext cx="4190695" cy="201168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10" name="Shape 8"/>
          <p:cNvSpPr/>
          <p:nvPr/>
        </p:nvSpPr>
        <p:spPr>
          <a:xfrm>
            <a:off x="7406640" y="4251960"/>
            <a:ext cx="109728" cy="2011680"/>
          </a:xfrm>
          <a:prstGeom prst="rect">
            <a:avLst/>
          </a:prstGeom>
          <a:solidFill>
            <a:srgbClr val="1F9D8A"/>
          </a:solidFill>
          <a:ln w="12700">
            <a:solidFill>
              <a:srgbClr val="1F9D8A"/>
            </a:solidFill>
            <a:prstDash val="solid"/>
          </a:ln>
        </p:spPr>
      </p:sp>
      <p:sp>
        <p:nvSpPr>
          <p:cNvPr id="11" name="Text 9"/>
          <p:cNvSpPr/>
          <p:nvPr/>
        </p:nvSpPr>
        <p:spPr>
          <a:xfrm>
            <a:off x="7635240" y="4416552"/>
            <a:ext cx="3870655" cy="320040"/>
          </a:xfrm>
          <a:prstGeom prst="rect">
            <a:avLst/>
          </a:prstGeom>
          <a:noFill/>
          <a:ln/>
        </p:spPr>
        <p:txBody>
          <a:bodyPr wrap="square" rtlCol="0" anchor="ctr"/>
          <a:lstStyle/>
          <a:p>
            <a:pPr marL="0" indent="0">
              <a:buNone/>
            </a:pPr>
            <a:r>
              <a:rPr lang="en-US" sz="1800" b="1" dirty="0">
                <a:solidFill>
                  <a:srgbClr val="111827"/>
                </a:solidFill>
              </a:rPr>
              <a:t>Ví dụ nhanh</a:t>
            </a:r>
            <a:endParaRPr lang="en-US" sz="1800" dirty="0"/>
          </a:p>
        </p:txBody>
      </p:sp>
      <p:sp>
        <p:nvSpPr>
          <p:cNvPr id="12" name="Text 10"/>
          <p:cNvSpPr/>
          <p:nvPr/>
        </p:nvSpPr>
        <p:spPr>
          <a:xfrm>
            <a:off x="7726680" y="4782312"/>
            <a:ext cx="3687775" cy="132588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Muốn “làm bài đều” → thưởng nhỏ nhưng đều + nhắc nhở + streak có bảo hiểm.</a:t>
            </a:r>
            <a:endParaRPr lang="en-US" sz="1500" dirty="0"/>
          </a:p>
          <a:p>
            <a:pPr marL="190500" indent="-190500">
              <a:lnSpc>
                <a:spcPct val="120000"/>
              </a:lnSpc>
              <a:buSzPct val="100000"/>
              <a:buChar char="•"/>
            </a:pPr>
            <a:r>
              <a:rPr lang="en-US" sz="1500" dirty="0">
                <a:solidFill>
                  <a:srgbClr val="374151"/>
                </a:solidFill>
              </a:rPr>
              <a:t>Muốn “hợp tác thật” → thưởng nhóm + điểm cá nhân dựa trên đóng góp + phản hồi nhanh.</a:t>
            </a:r>
            <a:endParaRPr lang="en-US" sz="1500" dirty="0"/>
          </a:p>
        </p:txBody>
      </p:sp>
      <p:sp>
        <p:nvSpPr>
          <p:cNvPr id="13" name="Text 11"/>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18</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Mẫu ứng dụng trong thiết kế game cơ (core loop)</a:t>
            </a:r>
            <a:endParaRPr lang="en-US" sz="2200" dirty="0"/>
          </a:p>
        </p:txBody>
      </p:sp>
      <p:sp>
        <p:nvSpPr>
          <p:cNvPr id="4" name="Text 2"/>
          <p:cNvSpPr/>
          <p:nvPr/>
        </p:nvSpPr>
        <p:spPr>
          <a:xfrm>
            <a:off x="594360" y="1005840"/>
            <a:ext cx="11002975" cy="365760"/>
          </a:xfrm>
          <a:prstGeom prst="rect">
            <a:avLst/>
          </a:prstGeom>
          <a:noFill/>
          <a:ln/>
        </p:spPr>
        <p:txBody>
          <a:bodyPr wrap="square" rtlCol="0" anchor="ctr"/>
          <a:lstStyle/>
          <a:p>
            <a:pPr marL="0" indent="0">
              <a:buNone/>
            </a:pPr>
            <a:r>
              <a:rPr lang="en-US" sz="1800" b="1" dirty="0">
                <a:solidFill>
                  <a:srgbClr val="111827"/>
                </a:solidFill>
              </a:rPr>
              <a:t>Chuyển “mục tiêu học” → “hành vi” → “equilibrium” → “mechanic”</a:t>
            </a:r>
            <a:endParaRPr lang="en-US" sz="1800" dirty="0"/>
          </a:p>
        </p:txBody>
      </p:sp>
      <p:sp>
        <p:nvSpPr>
          <p:cNvPr id="5" name="Text 3"/>
          <p:cNvSpPr/>
          <p:nvPr/>
        </p:nvSpPr>
        <p:spPr>
          <a:xfrm>
            <a:off x="594360" y="1463040"/>
            <a:ext cx="6858000" cy="2468880"/>
          </a:xfrm>
          <a:prstGeom prst="rect">
            <a:avLst/>
          </a:prstGeom>
          <a:noFill/>
          <a:ln/>
        </p:spPr>
        <p:txBody>
          <a:bodyPr wrap="square" rtlCol="0" anchor="t"/>
          <a:lstStyle/>
          <a:p>
            <a:pPr marL="215900" indent="-215900">
              <a:lnSpc>
                <a:spcPct val="120000"/>
              </a:lnSpc>
              <a:buSzPct val="100000"/>
              <a:buChar char="•"/>
            </a:pPr>
            <a:r>
              <a:rPr lang="en-US" sz="1700" dirty="0">
                <a:solidFill>
                  <a:srgbClr val="374151"/>
                </a:solidFill>
              </a:rPr>
              <a:t>Core loop: (1) Nhận nhiệm vụ → (2) Hành động học → (3) Phản hồi/Thưởng → (4) Tiến triển.</a:t>
            </a:r>
            <a:endParaRPr lang="en-US" sz="1700" dirty="0"/>
          </a:p>
          <a:p>
            <a:pPr marL="215900" indent="-215900">
              <a:lnSpc>
                <a:spcPct val="120000"/>
              </a:lnSpc>
              <a:buSzPct val="100000"/>
              <a:buChar char="•"/>
            </a:pPr>
            <a:r>
              <a:rPr lang="en-US" sz="1700" dirty="0">
                <a:solidFill>
                  <a:srgbClr val="374151"/>
                </a:solidFill>
              </a:rPr>
              <a:t>Game theory giúp kiểm tra: ở bước (2) người chơi có “đường tắt” không?</a:t>
            </a:r>
            <a:endParaRPr lang="en-US" sz="1700" dirty="0"/>
          </a:p>
          <a:p>
            <a:pPr marL="215900" indent="-215900">
              <a:lnSpc>
                <a:spcPct val="120000"/>
              </a:lnSpc>
              <a:buSzPct val="100000"/>
              <a:buChar char="•"/>
            </a:pPr>
            <a:r>
              <a:rPr lang="en-US" sz="1700" dirty="0">
                <a:solidFill>
                  <a:srgbClr val="374151"/>
                </a:solidFill>
              </a:rPr>
              <a:t>Nếu có đường tắt → nó trở thành best response → equilibrium xấu.</a:t>
            </a:r>
            <a:endParaRPr lang="en-US" sz="1700" dirty="0"/>
          </a:p>
          <a:p>
            <a:pPr marL="215900" indent="-215900">
              <a:lnSpc>
                <a:spcPct val="120000"/>
              </a:lnSpc>
              <a:buSzPct val="100000"/>
              <a:buChar char="•"/>
            </a:pPr>
            <a:r>
              <a:rPr lang="en-US" sz="1700" dirty="0">
                <a:solidFill>
                  <a:srgbClr val="374151"/>
                </a:solidFill>
              </a:rPr>
              <a:t>Thiết kế mechanic để đường tắt bị dominated hoặc kém hấp dẫn (expected payoff thấp).</a:t>
            </a:r>
            <a:endParaRPr lang="en-US" sz="1700" dirty="0"/>
          </a:p>
        </p:txBody>
      </p:sp>
      <p:sp>
        <p:nvSpPr>
          <p:cNvPr id="6" name="Shape 4"/>
          <p:cNvSpPr/>
          <p:nvPr/>
        </p:nvSpPr>
        <p:spPr>
          <a:xfrm>
            <a:off x="7406640" y="1463040"/>
            <a:ext cx="4190695" cy="448056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7" name="Shape 5"/>
          <p:cNvSpPr/>
          <p:nvPr/>
        </p:nvSpPr>
        <p:spPr>
          <a:xfrm>
            <a:off x="7406640" y="1463040"/>
            <a:ext cx="109728" cy="4480560"/>
          </a:xfrm>
          <a:prstGeom prst="rect">
            <a:avLst/>
          </a:prstGeom>
          <a:solidFill>
            <a:srgbClr val="1F9D8A"/>
          </a:solidFill>
          <a:ln w="12700">
            <a:solidFill>
              <a:srgbClr val="1F9D8A"/>
            </a:solidFill>
            <a:prstDash val="solid"/>
          </a:ln>
        </p:spPr>
      </p:sp>
      <p:sp>
        <p:nvSpPr>
          <p:cNvPr id="8" name="Text 6"/>
          <p:cNvSpPr/>
          <p:nvPr/>
        </p:nvSpPr>
        <p:spPr>
          <a:xfrm>
            <a:off x="7635240" y="1627632"/>
            <a:ext cx="3870655" cy="320040"/>
          </a:xfrm>
          <a:prstGeom prst="rect">
            <a:avLst/>
          </a:prstGeom>
          <a:noFill/>
          <a:ln/>
        </p:spPr>
        <p:txBody>
          <a:bodyPr wrap="square" rtlCol="0" anchor="ctr"/>
          <a:lstStyle/>
          <a:p>
            <a:pPr marL="0" indent="0">
              <a:buNone/>
            </a:pPr>
            <a:r>
              <a:rPr lang="en-US" sz="1800" b="1" dirty="0">
                <a:solidFill>
                  <a:srgbClr val="111827"/>
                </a:solidFill>
              </a:rPr>
              <a:t>4 pattern rất hay gặp</a:t>
            </a:r>
            <a:endParaRPr lang="en-US" sz="1800" dirty="0"/>
          </a:p>
        </p:txBody>
      </p:sp>
      <p:sp>
        <p:nvSpPr>
          <p:cNvPr id="9" name="Text 7"/>
          <p:cNvSpPr/>
          <p:nvPr/>
        </p:nvSpPr>
        <p:spPr>
          <a:xfrm>
            <a:off x="7726680" y="1993392"/>
            <a:ext cx="3687775" cy="379476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Anti-free-riding: log đóng góp + chia thưởng theo đóng góp.</a:t>
            </a:r>
            <a:endParaRPr lang="en-US" sz="1500" dirty="0"/>
          </a:p>
          <a:p>
            <a:pPr marL="190500" indent="-190500">
              <a:lnSpc>
                <a:spcPct val="120000"/>
              </a:lnSpc>
              <a:buSzPct val="100000"/>
              <a:buChar char="•"/>
            </a:pPr>
            <a:r>
              <a:rPr lang="en-US" sz="1500" dirty="0">
                <a:solidFill>
                  <a:srgbClr val="374151"/>
                </a:solidFill>
              </a:rPr>
              <a:t>Anti-cheat: random hoá + xác thực ngắn (oral/mini task).</a:t>
            </a:r>
            <a:endParaRPr lang="en-US" sz="1500" dirty="0"/>
          </a:p>
          <a:p>
            <a:pPr marL="190500" indent="-190500">
              <a:lnSpc>
                <a:spcPct val="120000"/>
              </a:lnSpc>
              <a:buSzPct val="100000"/>
              <a:buChar char="•"/>
            </a:pPr>
            <a:r>
              <a:rPr lang="en-US" sz="1500" dirty="0">
                <a:solidFill>
                  <a:srgbClr val="374151"/>
                </a:solidFill>
              </a:rPr>
              <a:t>Co-op thật: nhiệm vụ “bổ sung kỹ năng” (complementarity) thay vì chia nhỏ giống nhau.</a:t>
            </a:r>
            <a:endParaRPr lang="en-US" sz="1500" dirty="0"/>
          </a:p>
          <a:p>
            <a:pPr marL="190500" indent="-190500">
              <a:lnSpc>
                <a:spcPct val="120000"/>
              </a:lnSpc>
              <a:buSzPct val="100000"/>
              <a:buChar char="•"/>
            </a:pPr>
            <a:r>
              <a:rPr lang="en-US" sz="1500" dirty="0">
                <a:solidFill>
                  <a:srgbClr val="374151"/>
                </a:solidFill>
              </a:rPr>
              <a:t>Retention an toàn: streak linh hoạt + mục tiêu cá nhân hoá.</a:t>
            </a:r>
            <a:endParaRPr lang="en-US" sz="1500" dirty="0"/>
          </a:p>
        </p:txBody>
      </p:sp>
      <p:sp>
        <p:nvSpPr>
          <p:cNvPr id="10" name="Text 8"/>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19</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Studio 10–15 phút: thiết kế cơ chế cho game học</a:t>
            </a:r>
            <a:endParaRPr lang="en-US" sz="2200" dirty="0"/>
          </a:p>
        </p:txBody>
      </p:sp>
      <p:sp>
        <p:nvSpPr>
          <p:cNvPr id="4" name="Text 2"/>
          <p:cNvSpPr/>
          <p:nvPr/>
        </p:nvSpPr>
        <p:spPr>
          <a:xfrm>
            <a:off x="594360" y="1005840"/>
            <a:ext cx="11002975" cy="365760"/>
          </a:xfrm>
          <a:prstGeom prst="rect">
            <a:avLst/>
          </a:prstGeom>
          <a:noFill/>
          <a:ln/>
        </p:spPr>
        <p:txBody>
          <a:bodyPr wrap="square" rtlCol="0" anchor="ctr"/>
          <a:lstStyle/>
          <a:p>
            <a:pPr marL="0" indent="0">
              <a:buNone/>
            </a:pPr>
            <a:r>
              <a:rPr lang="en-US" sz="2000" b="1" dirty="0">
                <a:solidFill>
                  <a:srgbClr val="111827"/>
                </a:solidFill>
              </a:rPr>
              <a:t>Bài thiết kế (làm nhóm 3–4):</a:t>
            </a:r>
            <a:endParaRPr lang="en-US" sz="2000" dirty="0"/>
          </a:p>
        </p:txBody>
      </p:sp>
      <p:sp>
        <p:nvSpPr>
          <p:cNvPr id="5" name="Text 3"/>
          <p:cNvSpPr/>
          <p:nvPr/>
        </p:nvSpPr>
        <p:spPr>
          <a:xfrm>
            <a:off x="594360" y="1417320"/>
            <a:ext cx="6949440" cy="5212080"/>
          </a:xfrm>
          <a:prstGeom prst="rect">
            <a:avLst/>
          </a:prstGeom>
          <a:noFill/>
          <a:ln/>
        </p:spPr>
        <p:txBody>
          <a:bodyPr wrap="square" rtlCol="0" anchor="t"/>
          <a:lstStyle/>
          <a:p>
            <a:pPr marL="203200" indent="-203200">
              <a:lnSpc>
                <a:spcPct val="120000"/>
              </a:lnSpc>
              <a:buSzPct val="100000"/>
              <a:buChar char="•"/>
            </a:pPr>
            <a:r>
              <a:rPr lang="en-US" sz="1600" dirty="0">
                <a:solidFill>
                  <a:srgbClr val="374151"/>
                </a:solidFill>
              </a:rPr>
              <a:t>Chọn 1 hành vi mục tiêu: (a) ôn cách quãng; (b) tự giải trước khi xem lời giải; (c) góp ý cho bạn; (d) làm bài nhóm công bằng.</a:t>
            </a:r>
            <a:endParaRPr lang="en-US" sz="1600" dirty="0"/>
          </a:p>
          <a:p>
            <a:pPr marL="203200" indent="-203200">
              <a:lnSpc>
                <a:spcPct val="120000"/>
              </a:lnSpc>
              <a:buSzPct val="100000"/>
              <a:buChar char="•"/>
            </a:pPr>
            <a:r>
              <a:rPr lang="en-US" sz="1600" dirty="0">
                <a:solidFill>
                  <a:srgbClr val="374151"/>
                </a:solidFill>
              </a:rPr>
              <a:t>B1) Xác định người chơi N (ít nhất 2) và chiến lược Sᵢ.</a:t>
            </a:r>
            <a:endParaRPr lang="en-US" sz="1600" dirty="0"/>
          </a:p>
          <a:p>
            <a:pPr marL="203200" indent="-203200">
              <a:lnSpc>
                <a:spcPct val="120000"/>
              </a:lnSpc>
              <a:buSzPct val="100000"/>
              <a:buChar char="•"/>
            </a:pPr>
            <a:r>
              <a:rPr lang="en-US" sz="1600" dirty="0">
                <a:solidFill>
                  <a:srgbClr val="374151"/>
                </a:solidFill>
              </a:rPr>
              <a:t>B2) Vẽ payoff matrix 2×2 hoặc game tree (tuần tự) mô tả tình trạng hiện tại.</a:t>
            </a:r>
            <a:endParaRPr lang="en-US" sz="1600" dirty="0"/>
          </a:p>
          <a:p>
            <a:pPr marL="203200" indent="-203200">
              <a:lnSpc>
                <a:spcPct val="120000"/>
              </a:lnSpc>
              <a:buSzPct val="100000"/>
              <a:buChar char="•"/>
            </a:pPr>
            <a:r>
              <a:rPr lang="en-US" sz="1600" dirty="0">
                <a:solidFill>
                  <a:srgbClr val="374151"/>
                </a:solidFill>
              </a:rPr>
              <a:t>B3) Dự đoán equilibrium hiện tại (xấu hay tốt?).</a:t>
            </a:r>
            <a:endParaRPr lang="en-US" sz="1600" dirty="0"/>
          </a:p>
          <a:p>
            <a:pPr marL="203200" indent="-203200">
              <a:lnSpc>
                <a:spcPct val="120000"/>
              </a:lnSpc>
              <a:buSzPct val="100000"/>
              <a:buChar char="•"/>
            </a:pPr>
            <a:r>
              <a:rPr lang="en-US" sz="1600" dirty="0">
                <a:solidFill>
                  <a:srgbClr val="374151"/>
                </a:solidFill>
              </a:rPr>
              <a:t>B4) Đề xuất 1–2 mechanic để dịch payoff sao cho equilibrium mong muốn xuất hiện.</a:t>
            </a:r>
            <a:endParaRPr lang="en-US" sz="1600" dirty="0"/>
          </a:p>
          <a:p>
            <a:pPr marL="203200" indent="-203200">
              <a:lnSpc>
                <a:spcPct val="120000"/>
              </a:lnSpc>
              <a:buSzPct val="100000"/>
              <a:buChar char="•"/>
            </a:pPr>
            <a:r>
              <a:rPr lang="en-US" sz="1600" dirty="0">
                <a:solidFill>
                  <a:srgbClr val="374151"/>
                </a:solidFill>
              </a:rPr>
              <a:t>B5) Nêu rủi ro phụ (Goodhart, công bằng, “spam” mechanic) và cách giảm rủi ro.</a:t>
            </a:r>
            <a:endParaRPr lang="en-US" sz="1600" dirty="0"/>
          </a:p>
        </p:txBody>
      </p:sp>
      <p:sp>
        <p:nvSpPr>
          <p:cNvPr id="6" name="Shape 4"/>
          <p:cNvSpPr/>
          <p:nvPr/>
        </p:nvSpPr>
        <p:spPr>
          <a:xfrm>
            <a:off x="7406640" y="1600200"/>
            <a:ext cx="4190695" cy="192024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7" name="Shape 5"/>
          <p:cNvSpPr/>
          <p:nvPr/>
        </p:nvSpPr>
        <p:spPr>
          <a:xfrm>
            <a:off x="7406640" y="1600200"/>
            <a:ext cx="109728" cy="1920240"/>
          </a:xfrm>
          <a:prstGeom prst="rect">
            <a:avLst/>
          </a:prstGeom>
          <a:solidFill>
            <a:srgbClr val="F59E0B"/>
          </a:solidFill>
          <a:ln w="12700">
            <a:solidFill>
              <a:srgbClr val="F59E0B"/>
            </a:solidFill>
            <a:prstDash val="solid"/>
          </a:ln>
        </p:spPr>
      </p:sp>
      <p:sp>
        <p:nvSpPr>
          <p:cNvPr id="8" name="Text 6"/>
          <p:cNvSpPr/>
          <p:nvPr/>
        </p:nvSpPr>
        <p:spPr>
          <a:xfrm>
            <a:off x="7635240" y="1764792"/>
            <a:ext cx="3870655" cy="320040"/>
          </a:xfrm>
          <a:prstGeom prst="rect">
            <a:avLst/>
          </a:prstGeom>
          <a:noFill/>
          <a:ln/>
        </p:spPr>
        <p:txBody>
          <a:bodyPr wrap="square" rtlCol="0" anchor="ctr"/>
          <a:lstStyle/>
          <a:p>
            <a:pPr marL="0" indent="0">
              <a:buNone/>
            </a:pPr>
            <a:r>
              <a:rPr lang="en-US" sz="1800" b="1" dirty="0">
                <a:solidFill>
                  <a:srgbClr val="111827"/>
                </a:solidFill>
              </a:rPr>
              <a:t>Nộp (1 slide)</a:t>
            </a:r>
            <a:endParaRPr lang="en-US" sz="1800" dirty="0"/>
          </a:p>
        </p:txBody>
      </p:sp>
      <p:sp>
        <p:nvSpPr>
          <p:cNvPr id="9" name="Text 7"/>
          <p:cNvSpPr/>
          <p:nvPr/>
        </p:nvSpPr>
        <p:spPr>
          <a:xfrm>
            <a:off x="7726680" y="2130552"/>
            <a:ext cx="3687775" cy="123444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Ảnh payoff matrix/game tree + 3 gạch đầu dòng: equilibrium hiện tại, mechanic đề xuất, rủi ro &amp; giảm thiểu.</a:t>
            </a:r>
            <a:endParaRPr lang="en-US" sz="1500" dirty="0"/>
          </a:p>
        </p:txBody>
      </p:sp>
      <p:sp>
        <p:nvSpPr>
          <p:cNvPr id="10" name="Shape 8"/>
          <p:cNvSpPr/>
          <p:nvPr/>
        </p:nvSpPr>
        <p:spPr>
          <a:xfrm>
            <a:off x="7406640" y="3703320"/>
            <a:ext cx="4190695" cy="274320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11" name="Shape 9"/>
          <p:cNvSpPr/>
          <p:nvPr/>
        </p:nvSpPr>
        <p:spPr>
          <a:xfrm>
            <a:off x="7406640" y="3703320"/>
            <a:ext cx="109728" cy="2743200"/>
          </a:xfrm>
          <a:prstGeom prst="rect">
            <a:avLst/>
          </a:prstGeom>
          <a:solidFill>
            <a:srgbClr val="1F9D8A"/>
          </a:solidFill>
          <a:ln w="12700">
            <a:solidFill>
              <a:srgbClr val="1F9D8A"/>
            </a:solidFill>
            <a:prstDash val="solid"/>
          </a:ln>
        </p:spPr>
      </p:sp>
      <p:sp>
        <p:nvSpPr>
          <p:cNvPr id="12" name="Text 10"/>
          <p:cNvSpPr/>
          <p:nvPr/>
        </p:nvSpPr>
        <p:spPr>
          <a:xfrm>
            <a:off x="7635240" y="3867912"/>
            <a:ext cx="3870655" cy="320040"/>
          </a:xfrm>
          <a:prstGeom prst="rect">
            <a:avLst/>
          </a:prstGeom>
          <a:noFill/>
          <a:ln/>
        </p:spPr>
        <p:txBody>
          <a:bodyPr wrap="square" rtlCol="0" anchor="ctr"/>
          <a:lstStyle/>
          <a:p>
            <a:pPr marL="0" indent="0">
              <a:buNone/>
            </a:pPr>
            <a:r>
              <a:rPr lang="en-US" sz="1800" b="1" dirty="0">
                <a:solidFill>
                  <a:srgbClr val="111827"/>
                </a:solidFill>
              </a:rPr>
              <a:t>Gợi ý mechanic hợp lệ</a:t>
            </a:r>
            <a:endParaRPr lang="en-US" sz="1800" dirty="0"/>
          </a:p>
        </p:txBody>
      </p:sp>
      <p:sp>
        <p:nvSpPr>
          <p:cNvPr id="13" name="Text 11"/>
          <p:cNvSpPr/>
          <p:nvPr/>
        </p:nvSpPr>
        <p:spPr>
          <a:xfrm>
            <a:off x="7726680" y="4233672"/>
            <a:ext cx="3687775" cy="205740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Random quiz / oral check</a:t>
            </a:r>
            <a:endParaRPr lang="en-US" sz="1500" dirty="0"/>
          </a:p>
          <a:p>
            <a:pPr marL="190500" indent="-190500">
              <a:lnSpc>
                <a:spcPct val="120000"/>
              </a:lnSpc>
              <a:buSzPct val="100000"/>
              <a:buChar char="•"/>
            </a:pPr>
            <a:r>
              <a:rPr lang="en-US" sz="1500" dirty="0">
                <a:solidFill>
                  <a:srgbClr val="374151"/>
                </a:solidFill>
              </a:rPr>
              <a:t>Contribution meter</a:t>
            </a:r>
            <a:endParaRPr lang="en-US" sz="1500" dirty="0"/>
          </a:p>
          <a:p>
            <a:pPr marL="190500" indent="-190500">
              <a:lnSpc>
                <a:spcPct val="120000"/>
              </a:lnSpc>
              <a:buSzPct val="100000"/>
              <a:buChar char="•"/>
            </a:pPr>
            <a:r>
              <a:rPr lang="en-US" sz="1500" dirty="0">
                <a:solidFill>
                  <a:srgbClr val="374151"/>
                </a:solidFill>
              </a:rPr>
              <a:t>Unlock nội dung</a:t>
            </a:r>
            <a:endParaRPr lang="en-US" sz="1500" dirty="0"/>
          </a:p>
          <a:p>
            <a:pPr marL="190500" indent="-190500">
              <a:lnSpc>
                <a:spcPct val="120000"/>
              </a:lnSpc>
              <a:buSzPct val="100000"/>
              <a:buChar char="•"/>
            </a:pPr>
            <a:r>
              <a:rPr lang="en-US" sz="1500" dirty="0">
                <a:solidFill>
                  <a:srgbClr val="374151"/>
                </a:solidFill>
              </a:rPr>
              <a:t>Badge theo chất lượng (không chỉ số lượng)</a:t>
            </a:r>
            <a:endParaRPr lang="en-US" sz="1500" dirty="0"/>
          </a:p>
          <a:p>
            <a:pPr marL="190500" indent="-190500">
              <a:lnSpc>
                <a:spcPct val="120000"/>
              </a:lnSpc>
              <a:buSzPct val="100000"/>
              <a:buChar char="•"/>
            </a:pPr>
            <a:r>
              <a:rPr lang="en-US" sz="1500" dirty="0">
                <a:solidFill>
                  <a:srgbClr val="374151"/>
                </a:solidFill>
              </a:rPr>
              <a:t>Streak có “freeze”</a:t>
            </a:r>
            <a:endParaRPr lang="en-US" sz="1500" dirty="0"/>
          </a:p>
        </p:txBody>
      </p:sp>
      <p:sp>
        <p:nvSpPr>
          <p:cNvPr id="14" name="Text 12"/>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20</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Mẫu đáp án studio (ví dụ): “tự giải trước khi xem lời giải”</a:t>
            </a:r>
            <a:endParaRPr lang="en-US" sz="2200" dirty="0"/>
          </a:p>
        </p:txBody>
      </p:sp>
      <p:sp>
        <p:nvSpPr>
          <p:cNvPr id="4" name="Text 2"/>
          <p:cNvSpPr/>
          <p:nvPr/>
        </p:nvSpPr>
        <p:spPr>
          <a:xfrm>
            <a:off x="594360" y="960120"/>
            <a:ext cx="11002975" cy="502920"/>
          </a:xfrm>
          <a:prstGeom prst="rect">
            <a:avLst/>
          </a:prstGeom>
          <a:noFill/>
          <a:ln/>
        </p:spPr>
        <p:txBody>
          <a:bodyPr wrap="square" rtlCol="0" anchor="ctr"/>
          <a:lstStyle/>
          <a:p>
            <a:pPr marL="0" indent="0">
              <a:buNone/>
            </a:pPr>
            <a:r>
              <a:rPr lang="en-US" sz="1400" dirty="0">
                <a:solidFill>
                  <a:srgbClr val="374151"/>
                </a:solidFill>
              </a:rPr>
              <a:t>Người chơi: Người học (A) và Hệ thống (B). A chọn: Try (T) / Skip (S). B chọn: Lock hint 5 phút (L) / Open ngay (O).</a:t>
            </a:r>
            <a:endParaRPr lang="en-US" sz="1400" dirty="0"/>
          </a:p>
        </p:txBody>
      </p:sp>
      <p:sp>
        <p:nvSpPr>
          <p:cNvPr id="5" name="Text 3"/>
          <p:cNvSpPr/>
          <p:nvPr/>
        </p:nvSpPr>
        <p:spPr>
          <a:xfrm>
            <a:off x="594360" y="1325880"/>
            <a:ext cx="6400800" cy="274320"/>
          </a:xfrm>
          <a:prstGeom prst="rect">
            <a:avLst/>
          </a:prstGeom>
          <a:noFill/>
          <a:ln/>
        </p:spPr>
        <p:txBody>
          <a:bodyPr wrap="square" rtlCol="0" anchor="ctr"/>
          <a:lstStyle/>
          <a:p>
            <a:pPr marL="0" indent="0">
              <a:buNone/>
            </a:pPr>
            <a:r>
              <a:rPr lang="en-US" sz="1500" b="1" dirty="0">
                <a:solidFill>
                  <a:srgbClr val="111827"/>
                </a:solidFill>
              </a:rPr>
              <a:t>Payoff minh hoạ (System, Learner)</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94360" y="1645920"/>
          <a:ext cx="6400800" cy="1508760"/>
        </p:xfrm>
        <a:graphic>
          <a:graphicData uri="http://schemas.openxmlformats.org/drawingml/2006/table">
            <a:tbl>
              <a:tblPr/>
              <a:tblGrid>
                <a:gridCol w="1792224">
                  <a:extLst>
                    <a:ext uri="{9D8B030D-6E8A-4147-A177-3AD203B41FA5}">
                      <a16:colId xmlns:a16="http://schemas.microsoft.com/office/drawing/2014/main" val="20000"/>
                    </a:ext>
                  </a:extLst>
                </a:gridCol>
                <a:gridCol w="2304288">
                  <a:extLst>
                    <a:ext uri="{9D8B030D-6E8A-4147-A177-3AD203B41FA5}">
                      <a16:colId xmlns:a16="http://schemas.microsoft.com/office/drawing/2014/main" val="20001"/>
                    </a:ext>
                  </a:extLst>
                </a:gridCol>
                <a:gridCol w="2304288">
                  <a:extLst>
                    <a:ext uri="{9D8B030D-6E8A-4147-A177-3AD203B41FA5}">
                      <a16:colId xmlns:a16="http://schemas.microsoft.com/office/drawing/2014/main" val="20002"/>
                    </a:ext>
                  </a:extLst>
                </a:gridCol>
              </a:tblGrid>
              <a:tr h="502920">
                <a:tc>
                  <a:txBody>
                    <a:bodyPr/>
                    <a:lstStyle/>
                    <a:p>
                      <a:pPr marL="0" indent="0" algn="ctr">
                        <a:buNone/>
                      </a:pP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B: L</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B: O</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02920">
                <a:tc>
                  <a:txBody>
                    <a:bodyPr/>
                    <a:lstStyle/>
                    <a:p>
                      <a:pPr marL="0" indent="0" algn="ctr">
                        <a:buNone/>
                      </a:pPr>
                      <a:r>
                        <a:rPr lang="en-US" sz="1400" dirty="0">
                          <a:solidFill>
                            <a:srgbClr val="111827"/>
                          </a:solidFill>
                        </a:rPr>
                        <a:t>A: T</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(3, 2)</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(1, 3)</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400" dirty="0">
                          <a:solidFill>
                            <a:srgbClr val="111827"/>
                          </a:solidFill>
                        </a:rPr>
                        <a:t>A: S</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(1, 1)</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rPr>
                        <a:t>(0, 3)</a:t>
                      </a:r>
                      <a:endParaRPr lang="en-US" sz="14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594360" y="4251960"/>
            <a:ext cx="6766560" cy="1920240"/>
          </a:xfrm>
          <a:prstGeom prst="rect">
            <a:avLst/>
          </a:prstGeom>
          <a:noFill/>
          <a:ln/>
        </p:spPr>
        <p:txBody>
          <a:bodyPr wrap="square" rtlCol="0" anchor="t"/>
          <a:lstStyle/>
          <a:p>
            <a:pPr marL="203200" indent="-203200">
              <a:lnSpc>
                <a:spcPct val="120000"/>
              </a:lnSpc>
              <a:buSzPct val="100000"/>
              <a:buChar char="•"/>
            </a:pPr>
            <a:r>
              <a:rPr lang="en-US" sz="1600" dirty="0">
                <a:solidFill>
                  <a:srgbClr val="374151"/>
                </a:solidFill>
              </a:rPr>
              <a:t>Dự đoán: nếu O (mở ngay), người học có xu hướng S (skip) → học nông.</a:t>
            </a:r>
            <a:endParaRPr lang="en-US" sz="1600" dirty="0"/>
          </a:p>
          <a:p>
            <a:pPr marL="203200" indent="-203200">
              <a:lnSpc>
                <a:spcPct val="120000"/>
              </a:lnSpc>
              <a:buSzPct val="100000"/>
              <a:buChar char="•"/>
            </a:pPr>
            <a:r>
              <a:rPr lang="en-US" sz="1600" dirty="0">
                <a:solidFill>
                  <a:srgbClr val="374151"/>
                </a:solidFill>
              </a:rPr>
              <a:t>Mechanic: L (khoá gợi ý ngắn) + “gợi ý từng bước” chỉ mở khi thử 1 lần.</a:t>
            </a:r>
            <a:endParaRPr lang="en-US" sz="1600" dirty="0"/>
          </a:p>
          <a:p>
            <a:pPr marL="203200" indent="-203200">
              <a:lnSpc>
                <a:spcPct val="120000"/>
              </a:lnSpc>
              <a:buSzPct val="100000"/>
              <a:buChar char="•"/>
            </a:pPr>
            <a:r>
              <a:rPr lang="en-US" sz="1600" dirty="0">
                <a:solidFill>
                  <a:srgbClr val="374151"/>
                </a:solidFill>
              </a:rPr>
              <a:t>Giảm rủi ro: cho “skip token” giới hạn để tránh bực bội, và cá nhân hoá theo mức độ.</a:t>
            </a:r>
            <a:endParaRPr lang="en-US" sz="1600" dirty="0"/>
          </a:p>
        </p:txBody>
      </p:sp>
      <p:sp>
        <p:nvSpPr>
          <p:cNvPr id="8" name="Shape 5"/>
          <p:cNvSpPr/>
          <p:nvPr/>
        </p:nvSpPr>
        <p:spPr>
          <a:xfrm>
            <a:off x="7406640" y="1828800"/>
            <a:ext cx="4190695" cy="192024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9" name="Shape 6"/>
          <p:cNvSpPr/>
          <p:nvPr/>
        </p:nvSpPr>
        <p:spPr>
          <a:xfrm>
            <a:off x="7406640" y="1828800"/>
            <a:ext cx="109728" cy="1920240"/>
          </a:xfrm>
          <a:prstGeom prst="rect">
            <a:avLst/>
          </a:prstGeom>
          <a:solidFill>
            <a:srgbClr val="1F9D8A"/>
          </a:solidFill>
          <a:ln w="12700">
            <a:solidFill>
              <a:srgbClr val="1F9D8A"/>
            </a:solidFill>
            <a:prstDash val="solid"/>
          </a:ln>
        </p:spPr>
      </p:sp>
      <p:sp>
        <p:nvSpPr>
          <p:cNvPr id="10" name="Text 7"/>
          <p:cNvSpPr/>
          <p:nvPr/>
        </p:nvSpPr>
        <p:spPr>
          <a:xfrm>
            <a:off x="7635240" y="1993392"/>
            <a:ext cx="3870655" cy="320040"/>
          </a:xfrm>
          <a:prstGeom prst="rect">
            <a:avLst/>
          </a:prstGeom>
          <a:noFill/>
          <a:ln/>
        </p:spPr>
        <p:txBody>
          <a:bodyPr wrap="square" rtlCol="0" anchor="ctr"/>
          <a:lstStyle/>
          <a:p>
            <a:pPr marL="0" indent="0">
              <a:buNone/>
            </a:pPr>
            <a:r>
              <a:rPr lang="en-US" sz="1800" b="1" dirty="0">
                <a:solidFill>
                  <a:srgbClr val="111827"/>
                </a:solidFill>
              </a:rPr>
              <a:t>Điểm chốt</a:t>
            </a:r>
            <a:endParaRPr lang="en-US" sz="1800" dirty="0"/>
          </a:p>
        </p:txBody>
      </p:sp>
      <p:sp>
        <p:nvSpPr>
          <p:cNvPr id="11" name="Text 8"/>
          <p:cNvSpPr/>
          <p:nvPr/>
        </p:nvSpPr>
        <p:spPr>
          <a:xfrm>
            <a:off x="7726680" y="2359152"/>
            <a:ext cx="3687775" cy="123444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Bạn đang thay đổi payoff kỳ vọng của “đường tắt” (skip) — làm nó kém hấp dẫn hoặc không còn tối ưu.</a:t>
            </a:r>
            <a:endParaRPr lang="en-US" sz="1500" dirty="0"/>
          </a:p>
        </p:txBody>
      </p:sp>
      <p:sp>
        <p:nvSpPr>
          <p:cNvPr id="12" name="Text 9"/>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21</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1156C-FD59-4462-5366-B93B5006E5D9}"/>
              </a:ext>
            </a:extLst>
          </p:cNvPr>
          <p:cNvSpPr>
            <a:spLocks noGrp="1"/>
          </p:cNvSpPr>
          <p:nvPr>
            <p:ph type="title"/>
          </p:nvPr>
        </p:nvSpPr>
        <p:spPr/>
        <p:txBody>
          <a:bodyPr/>
          <a:lstStyle/>
          <a:p>
            <a:r>
              <a:rPr lang="en-US" dirty="0"/>
              <a:t>Q</a:t>
            </a:r>
            <a:r>
              <a:rPr lang="vi-VN" dirty="0"/>
              <a:t>uy trình </a:t>
            </a:r>
            <a:r>
              <a:rPr lang="en-US" dirty="0"/>
              <a:t>6 </a:t>
            </a:r>
            <a:r>
              <a:rPr lang="en-US" dirty="0" err="1"/>
              <a:t>bước</a:t>
            </a:r>
            <a:r>
              <a:rPr lang="en-US" dirty="0"/>
              <a:t> </a:t>
            </a:r>
            <a:r>
              <a:rPr lang="vi-VN" dirty="0"/>
              <a:t>giải một bài toán trò chơ</a:t>
            </a:r>
            <a:r>
              <a:rPr lang="en-US" dirty="0" err="1"/>
              <a:t>i</a:t>
            </a:r>
            <a:endParaRPr lang="en-US" dirty="0"/>
          </a:p>
        </p:txBody>
      </p:sp>
      <p:sp>
        <p:nvSpPr>
          <p:cNvPr id="4" name="Rectangle 1">
            <a:extLst>
              <a:ext uri="{FF2B5EF4-FFF2-40B4-BE49-F238E27FC236}">
                <a16:creationId xmlns:a16="http://schemas.microsoft.com/office/drawing/2014/main" id="{D85EE712-FC50-AF12-930B-9BA130B6D5E0}"/>
              </a:ext>
            </a:extLst>
          </p:cNvPr>
          <p:cNvSpPr>
            <a:spLocks noGrp="1" noChangeArrowheads="1"/>
          </p:cNvSpPr>
          <p:nvPr>
            <p:ph idx="1"/>
          </p:nvPr>
        </p:nvSpPr>
        <p:spPr bwMode="auto">
          <a:xfrm>
            <a:off x="314960" y="2058289"/>
            <a:ext cx="5344733" cy="280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1" i="0" u="none" strike="noStrike" cap="none" normalizeH="0" baseline="0" dirty="0" err="1">
                <a:ln>
                  <a:noFill/>
                </a:ln>
                <a:solidFill>
                  <a:schemeClr val="tx1"/>
                </a:solidFill>
                <a:effectLst/>
                <a:latin typeface="Arial" panose="020B0604020202020204" pitchFamily="34" charset="0"/>
              </a:rPr>
              <a:t>Xác</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định</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người</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chơi</a:t>
            </a:r>
            <a:r>
              <a:rPr kumimoji="0" lang="en-US" altLang="en-US" sz="2000" b="0" i="0" u="none" strike="noStrike" cap="none" normalizeH="0" baseline="0" dirty="0">
                <a:ln>
                  <a:noFill/>
                </a:ln>
                <a:solidFill>
                  <a:schemeClr val="tx1"/>
                </a:solidFill>
                <a:effectLst/>
                <a:latin typeface="Arial" panose="020B0604020202020204" pitchFamily="34" charset="0"/>
              </a:rPr>
              <a:t> N</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1" i="0" u="none" strike="noStrike" cap="none" normalizeH="0" baseline="0" dirty="0" err="1">
                <a:ln>
                  <a:noFill/>
                </a:ln>
                <a:solidFill>
                  <a:schemeClr val="tx1"/>
                </a:solidFill>
                <a:effectLst/>
                <a:latin typeface="Arial" panose="020B0604020202020204" pitchFamily="34" charset="0"/>
              </a:rPr>
              <a:t>Xác</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định</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chiến</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lược</a:t>
            </a:r>
            <a:r>
              <a:rPr kumimoji="0" lang="en-US" altLang="en-US" sz="2000" b="0" i="0" u="none" strike="noStrike" cap="none" normalizeH="0" baseline="0" dirty="0">
                <a:ln>
                  <a:noFill/>
                </a:ln>
                <a:solidFill>
                  <a:schemeClr val="tx1"/>
                </a:solidFill>
                <a:effectLst/>
                <a:latin typeface="Arial" panose="020B0604020202020204" pitchFamily="34" charset="0"/>
              </a:rPr>
              <a:t> Si</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1" i="0" u="none" strike="noStrike" cap="none" normalizeH="0" baseline="0" dirty="0" err="1">
                <a:ln>
                  <a:noFill/>
                </a:ln>
                <a:solidFill>
                  <a:schemeClr val="tx1"/>
                </a:solidFill>
                <a:effectLst/>
                <a:latin typeface="Arial" panose="020B0604020202020204" pitchFamily="34" charset="0"/>
              </a:rPr>
              <a:t>Gán</a:t>
            </a:r>
            <a:r>
              <a:rPr kumimoji="0" lang="en-US" altLang="en-US" sz="2000" b="1" i="0" u="none" strike="noStrike" cap="none" normalizeH="0" baseline="0" dirty="0">
                <a:ln>
                  <a:noFill/>
                </a:ln>
                <a:solidFill>
                  <a:schemeClr val="tx1"/>
                </a:solidFill>
                <a:effectLst/>
                <a:latin typeface="Arial" panose="020B0604020202020204" pitchFamily="34" charset="0"/>
              </a:rPr>
              <a:t> payoff</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cho</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từng</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tổ</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hợp</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chiến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lược</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1" i="0" u="none" strike="noStrike" cap="none" normalizeH="0" baseline="0" dirty="0" err="1">
                <a:ln>
                  <a:noFill/>
                </a:ln>
                <a:solidFill>
                  <a:schemeClr val="tx1"/>
                </a:solidFill>
                <a:effectLst/>
                <a:latin typeface="Arial" panose="020B0604020202020204" pitchFamily="34" charset="0"/>
              </a:rPr>
              <a:t>Viết</a:t>
            </a:r>
            <a:r>
              <a:rPr kumimoji="0" lang="en-US" altLang="en-US" sz="2000" b="1" i="0" u="none" strike="noStrike" cap="none" normalizeH="0" baseline="0" dirty="0">
                <a:ln>
                  <a:noFill/>
                </a:ln>
                <a:solidFill>
                  <a:schemeClr val="tx1"/>
                </a:solidFill>
                <a:effectLst/>
                <a:latin typeface="Arial" panose="020B0604020202020204" pitchFamily="34" charset="0"/>
              </a:rPr>
              <a:t> ma </a:t>
            </a:r>
            <a:r>
              <a:rPr kumimoji="0" lang="en-US" altLang="en-US" sz="2000" b="1" i="0" u="none" strike="noStrike" cap="none" normalizeH="0" baseline="0" dirty="0" err="1">
                <a:ln>
                  <a:noFill/>
                </a:ln>
                <a:solidFill>
                  <a:schemeClr val="tx1"/>
                </a:solidFill>
                <a:effectLst/>
                <a:latin typeface="Arial" panose="020B0604020202020204" pitchFamily="34" charset="0"/>
              </a:rPr>
              <a:t>trận</a:t>
            </a:r>
            <a:r>
              <a:rPr kumimoji="0" lang="en-US" altLang="en-US" sz="2000" b="1" i="0" u="none" strike="noStrike" cap="none" normalizeH="0" baseline="0" dirty="0">
                <a:ln>
                  <a:noFill/>
                </a:ln>
                <a:solidFill>
                  <a:schemeClr val="tx1"/>
                </a:solidFill>
                <a:effectLst/>
                <a:latin typeface="Arial" panose="020B0604020202020204" pitchFamily="34" charset="0"/>
              </a:rPr>
              <a:t> payoff</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1" i="0" u="none" strike="noStrike" cap="none" normalizeH="0" baseline="0" dirty="0" err="1">
                <a:ln>
                  <a:noFill/>
                </a:ln>
                <a:solidFill>
                  <a:schemeClr val="tx1"/>
                </a:solidFill>
                <a:effectLst/>
                <a:latin typeface="Arial" panose="020B0604020202020204" pitchFamily="34" charset="0"/>
              </a:rPr>
              <a:t>Tìm</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phản</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ứng</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tốt</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nhất</a:t>
            </a:r>
            <a:r>
              <a:rPr kumimoji="0" lang="en-US" altLang="en-US" sz="2000" b="0" i="0" u="none" strike="noStrike" cap="none" normalizeH="0" baseline="0" dirty="0">
                <a:ln>
                  <a:noFill/>
                </a:ln>
                <a:solidFill>
                  <a:schemeClr val="tx1"/>
                </a:solidFill>
                <a:effectLst/>
                <a:latin typeface="Arial" panose="020B0604020202020204" pitchFamily="34" charset="0"/>
              </a:rPr>
              <a:t> (best responses)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1" i="0" u="none" strike="noStrike" cap="none" normalizeH="0" baseline="0" dirty="0" err="1">
                <a:ln>
                  <a:noFill/>
                </a:ln>
                <a:solidFill>
                  <a:schemeClr val="tx1"/>
                </a:solidFill>
                <a:effectLst/>
                <a:latin typeface="Arial" panose="020B0604020202020204" pitchFamily="34" charset="0"/>
              </a:rPr>
              <a:t>Lấy</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giao</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điểm</a:t>
            </a:r>
            <a:r>
              <a:rPr kumimoji="0" lang="en-US" altLang="en-US" sz="2000" b="1" i="0" u="none" strike="noStrike" cap="none" normalizeH="0" baseline="0" dirty="0">
                <a:ln>
                  <a:noFill/>
                </a:ln>
                <a:solidFill>
                  <a:schemeClr val="tx1"/>
                </a:solidFill>
                <a:effectLst/>
                <a:latin typeface="Arial" panose="020B0604020202020204" pitchFamily="34" charset="0"/>
              </a:rPr>
              <a:t> → </a:t>
            </a:r>
            <a:r>
              <a:rPr kumimoji="0" lang="en-US" altLang="en-US" sz="2000" b="1" i="0" u="none" strike="noStrike" cap="none" normalizeH="0" baseline="0" dirty="0" err="1">
                <a:ln>
                  <a:noFill/>
                </a:ln>
                <a:solidFill>
                  <a:schemeClr val="tx1"/>
                </a:solidFill>
                <a:effectLst/>
                <a:latin typeface="Arial" panose="020B0604020202020204" pitchFamily="34" charset="0"/>
              </a:rPr>
              <a:t>cân</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bằng</a:t>
            </a:r>
            <a:r>
              <a:rPr kumimoji="0" lang="en-US" altLang="en-US" sz="2000" b="1" i="0" u="none" strike="noStrike" cap="none" normalizeH="0" baseline="0" dirty="0">
                <a:ln>
                  <a:noFill/>
                </a:ln>
                <a:solidFill>
                  <a:schemeClr val="tx1"/>
                </a:solidFill>
                <a:effectLst/>
                <a:latin typeface="Arial" panose="020B0604020202020204" pitchFamily="34" charset="0"/>
              </a:rPr>
              <a:t> Nash</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58ED55EA-C11B-4DA3-AE06-DE6560B1F43E}"/>
              </a:ext>
            </a:extLst>
          </p:cNvPr>
          <p:cNvSpPr txBox="1"/>
          <p:nvPr/>
        </p:nvSpPr>
        <p:spPr>
          <a:xfrm>
            <a:off x="7498080" y="1873623"/>
            <a:ext cx="6004560" cy="369332"/>
          </a:xfrm>
          <a:prstGeom prst="rect">
            <a:avLst/>
          </a:prstGeom>
          <a:noFill/>
        </p:spPr>
        <p:txBody>
          <a:bodyPr wrap="square">
            <a:spAutoFit/>
          </a:bodyPr>
          <a:lstStyle/>
          <a:p>
            <a:r>
              <a:rPr lang="en-US" b="1" dirty="0"/>
              <a:t>Công </a:t>
            </a:r>
            <a:r>
              <a:rPr lang="en-US" b="1" dirty="0" err="1"/>
              <a:t>thức</a:t>
            </a:r>
            <a:endParaRPr lang="en-US" b="1" dirty="0"/>
          </a:p>
        </p:txBody>
      </p:sp>
      <p:pic>
        <p:nvPicPr>
          <p:cNvPr id="10" name="Picture 9">
            <a:extLst>
              <a:ext uri="{FF2B5EF4-FFF2-40B4-BE49-F238E27FC236}">
                <a16:creationId xmlns:a16="http://schemas.microsoft.com/office/drawing/2014/main" id="{4B105A49-F7B4-B76B-A21A-6763F9C16982}"/>
              </a:ext>
            </a:extLst>
          </p:cNvPr>
          <p:cNvPicPr>
            <a:picLocks noChangeAspect="1"/>
          </p:cNvPicPr>
          <p:nvPr/>
        </p:nvPicPr>
        <p:blipFill>
          <a:blip r:embed="rId2"/>
          <a:stretch>
            <a:fillRect/>
          </a:stretch>
        </p:blipFill>
        <p:spPr>
          <a:xfrm>
            <a:off x="5781675" y="2330767"/>
            <a:ext cx="6410325" cy="2867025"/>
          </a:xfrm>
          <a:prstGeom prst="rect">
            <a:avLst/>
          </a:prstGeom>
        </p:spPr>
      </p:pic>
    </p:spTree>
    <p:extLst>
      <p:ext uri="{BB962C8B-B14F-4D97-AF65-F5344CB8AC3E}">
        <p14:creationId xmlns:p14="http://schemas.microsoft.com/office/powerpoint/2010/main" val="16250905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4A47-9646-7BE6-B44C-19F827868AC6}"/>
              </a:ext>
            </a:extLst>
          </p:cNvPr>
          <p:cNvSpPr>
            <a:spLocks noGrp="1"/>
          </p:cNvSpPr>
          <p:nvPr>
            <p:ph type="title"/>
          </p:nvPr>
        </p:nvSpPr>
        <p:spPr>
          <a:xfrm>
            <a:off x="538480" y="274638"/>
            <a:ext cx="10972800" cy="1143000"/>
          </a:xfrm>
        </p:spPr>
        <p:txBody>
          <a:bodyPr/>
          <a:lstStyle/>
          <a:p>
            <a:r>
              <a:rPr lang="en-US" b="1" dirty="0" err="1"/>
              <a:t>Ví</a:t>
            </a:r>
            <a:r>
              <a:rPr lang="en-US" b="1" dirty="0"/>
              <a:t> </a:t>
            </a:r>
            <a:r>
              <a:rPr lang="en-US" b="1" dirty="0" err="1"/>
              <a:t>dụ</a:t>
            </a:r>
            <a:endParaRPr lang="en-US" b="1" dirty="0"/>
          </a:p>
        </p:txBody>
      </p:sp>
      <p:sp>
        <p:nvSpPr>
          <p:cNvPr id="3" name="Content Placeholder 2">
            <a:extLst>
              <a:ext uri="{FF2B5EF4-FFF2-40B4-BE49-F238E27FC236}">
                <a16:creationId xmlns:a16="http://schemas.microsoft.com/office/drawing/2014/main" id="{0D0F394C-8680-A2CE-2690-60FA7BB1FC63}"/>
              </a:ext>
            </a:extLst>
          </p:cNvPr>
          <p:cNvSpPr>
            <a:spLocks noGrp="1"/>
          </p:cNvSpPr>
          <p:nvPr>
            <p:ph idx="1"/>
          </p:nvPr>
        </p:nvSpPr>
        <p:spPr>
          <a:xfrm>
            <a:off x="609600" y="1417639"/>
            <a:ext cx="10830560" cy="3276282"/>
          </a:xfrm>
        </p:spPr>
        <p:txBody>
          <a:bodyPr/>
          <a:lstStyle/>
          <a:p>
            <a:r>
              <a:rPr lang="vi-VN" sz="2400" b="1" dirty="0"/>
              <a:t>Bối cảnh</a:t>
            </a:r>
          </a:p>
          <a:p>
            <a:r>
              <a:rPr lang="vi-VN" sz="2400" dirty="0"/>
              <a:t>Có 2 sinh viên</a:t>
            </a:r>
            <a:r>
              <a:rPr lang="en-US" sz="2400" dirty="0"/>
              <a:t> </a:t>
            </a:r>
            <a:r>
              <a:rPr lang="vi-VN" sz="2400" b="1" dirty="0"/>
              <a:t>A</a:t>
            </a:r>
            <a:r>
              <a:rPr lang="vi-VN" sz="2400" dirty="0"/>
              <a:t> và </a:t>
            </a:r>
            <a:r>
              <a:rPr lang="vi-VN" sz="2400" b="1" dirty="0"/>
              <a:t>B</a:t>
            </a:r>
            <a:r>
              <a:rPr lang="en-US" sz="2400" b="1" dirty="0"/>
              <a:t> </a:t>
            </a:r>
            <a:r>
              <a:rPr lang="en-US" sz="2400" dirty="0" err="1"/>
              <a:t>làm</a:t>
            </a:r>
            <a:r>
              <a:rPr lang="en-US" sz="2400" dirty="0"/>
              <a:t> </a:t>
            </a:r>
            <a:r>
              <a:rPr lang="en-US" sz="2400" dirty="0" err="1"/>
              <a:t>việc</a:t>
            </a:r>
            <a:r>
              <a:rPr lang="en-US" sz="2400" dirty="0"/>
              <a:t> </a:t>
            </a:r>
            <a:r>
              <a:rPr lang="en-US" sz="2400" dirty="0" err="1"/>
              <a:t>nhóm</a:t>
            </a:r>
            <a:r>
              <a:rPr lang="vi-VN" sz="2400" dirty="0"/>
              <a:t> .</a:t>
            </a:r>
            <a:r>
              <a:rPr lang="en-US" sz="2400" dirty="0"/>
              <a:t>  </a:t>
            </a:r>
            <a:r>
              <a:rPr lang="vi-VN" sz="2400" dirty="0"/>
              <a:t>Mỗi người có 2 lựa chọn:</a:t>
            </a:r>
          </a:p>
          <a:p>
            <a:r>
              <a:rPr lang="vi-VN" sz="2400" b="1" dirty="0"/>
              <a:t>C</a:t>
            </a:r>
            <a:r>
              <a:rPr lang="vi-VN" sz="2400" dirty="0"/>
              <a:t> = Đóng góp thật (Contribute)</a:t>
            </a:r>
          </a:p>
          <a:p>
            <a:r>
              <a:rPr lang="vi-VN" sz="2400" b="1" dirty="0"/>
              <a:t>F</a:t>
            </a:r>
            <a:r>
              <a:rPr lang="vi-VN" sz="2400" dirty="0"/>
              <a:t> = Ăn theo (Free-ride)</a:t>
            </a:r>
          </a:p>
          <a:p>
            <a:r>
              <a:rPr lang="en-US" sz="2400" dirty="0" err="1"/>
              <a:t>Sử</a:t>
            </a:r>
            <a:r>
              <a:rPr lang="en-US" sz="2400" dirty="0"/>
              <a:t> </a:t>
            </a:r>
            <a:r>
              <a:rPr lang="en-US" sz="2400" dirty="0" err="1"/>
              <a:t>dụ</a:t>
            </a:r>
            <a:r>
              <a:rPr lang="vi-VN" sz="2400" dirty="0"/>
              <a:t>ng lý thuyết trò chơi để phân tích: cuối cùng họ sẽ chọn gì?</a:t>
            </a:r>
          </a:p>
          <a:p>
            <a:endParaRPr lang="en-US" sz="2400" dirty="0"/>
          </a:p>
        </p:txBody>
      </p:sp>
    </p:spTree>
    <p:extLst>
      <p:ext uri="{BB962C8B-B14F-4D97-AF65-F5344CB8AC3E}">
        <p14:creationId xmlns:p14="http://schemas.microsoft.com/office/powerpoint/2010/main" val="37250586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C6409-BB36-CFCB-96E9-A29B317E2D5A}"/>
              </a:ext>
            </a:extLst>
          </p:cNvPr>
          <p:cNvSpPr>
            <a:spLocks noGrp="1"/>
          </p:cNvSpPr>
          <p:nvPr>
            <p:ph type="title"/>
          </p:nvPr>
        </p:nvSpPr>
        <p:spPr/>
        <p:txBody>
          <a:bodyPr/>
          <a:lstStyle/>
          <a:p>
            <a:r>
              <a:rPr lang="en-US" dirty="0" err="1"/>
              <a:t>Giải</a:t>
            </a:r>
            <a:endParaRPr lang="en-US" dirty="0"/>
          </a:p>
        </p:txBody>
      </p:sp>
      <p:sp>
        <p:nvSpPr>
          <p:cNvPr id="5" name="TextBox 4">
            <a:extLst>
              <a:ext uri="{FF2B5EF4-FFF2-40B4-BE49-F238E27FC236}">
                <a16:creationId xmlns:a16="http://schemas.microsoft.com/office/drawing/2014/main" id="{5959D9D7-5CD2-D372-2DA5-A4C95ADCA2D6}"/>
              </a:ext>
            </a:extLst>
          </p:cNvPr>
          <p:cNvSpPr txBox="1"/>
          <p:nvPr/>
        </p:nvSpPr>
        <p:spPr>
          <a:xfrm>
            <a:off x="751840" y="1649214"/>
            <a:ext cx="6096000" cy="369332"/>
          </a:xfrm>
          <a:prstGeom prst="rect">
            <a:avLst/>
          </a:prstGeom>
          <a:noFill/>
        </p:spPr>
        <p:txBody>
          <a:bodyPr wrap="square">
            <a:spAutoFit/>
          </a:bodyPr>
          <a:lstStyle/>
          <a:p>
            <a:r>
              <a:rPr lang="vi-VN" b="1" dirty="0"/>
              <a:t>Bước 1: Xác định người chơi (Players)</a:t>
            </a:r>
            <a:endParaRPr lang="en-US" b="1" dirty="0"/>
          </a:p>
        </p:txBody>
      </p:sp>
      <p:pic>
        <p:nvPicPr>
          <p:cNvPr id="7" name="Picture 6">
            <a:extLst>
              <a:ext uri="{FF2B5EF4-FFF2-40B4-BE49-F238E27FC236}">
                <a16:creationId xmlns:a16="http://schemas.microsoft.com/office/drawing/2014/main" id="{0EA5C9AD-66EB-53ED-8DAB-56FF53D1DA34}"/>
              </a:ext>
            </a:extLst>
          </p:cNvPr>
          <p:cNvPicPr>
            <a:picLocks noChangeAspect="1"/>
          </p:cNvPicPr>
          <p:nvPr/>
        </p:nvPicPr>
        <p:blipFill>
          <a:blip r:embed="rId2"/>
          <a:stretch>
            <a:fillRect/>
          </a:stretch>
        </p:blipFill>
        <p:spPr>
          <a:xfrm>
            <a:off x="3041967" y="2250122"/>
            <a:ext cx="1247775" cy="390525"/>
          </a:xfrm>
          <a:prstGeom prst="rect">
            <a:avLst/>
          </a:prstGeom>
        </p:spPr>
      </p:pic>
      <p:sp>
        <p:nvSpPr>
          <p:cNvPr id="9" name="TextBox 8">
            <a:extLst>
              <a:ext uri="{FF2B5EF4-FFF2-40B4-BE49-F238E27FC236}">
                <a16:creationId xmlns:a16="http://schemas.microsoft.com/office/drawing/2014/main" id="{7B82B608-2DBE-87E4-0D59-40DD08ED88C5}"/>
              </a:ext>
            </a:extLst>
          </p:cNvPr>
          <p:cNvSpPr txBox="1"/>
          <p:nvPr/>
        </p:nvSpPr>
        <p:spPr>
          <a:xfrm>
            <a:off x="904240" y="2250122"/>
            <a:ext cx="6096000" cy="369332"/>
          </a:xfrm>
          <a:prstGeom prst="rect">
            <a:avLst/>
          </a:prstGeom>
          <a:noFill/>
        </p:spPr>
        <p:txBody>
          <a:bodyPr wrap="square">
            <a:spAutoFit/>
          </a:bodyPr>
          <a:lstStyle/>
          <a:p>
            <a:r>
              <a:rPr lang="vi-VN" dirty="0"/>
              <a:t>Tập người chơi:</a:t>
            </a:r>
            <a:endParaRPr lang="en-US" dirty="0"/>
          </a:p>
        </p:txBody>
      </p:sp>
      <p:sp>
        <p:nvSpPr>
          <p:cNvPr id="11" name="TextBox 10">
            <a:extLst>
              <a:ext uri="{FF2B5EF4-FFF2-40B4-BE49-F238E27FC236}">
                <a16:creationId xmlns:a16="http://schemas.microsoft.com/office/drawing/2014/main" id="{4D1DA959-733D-C446-0C4E-CE8F0BF52083}"/>
              </a:ext>
            </a:extLst>
          </p:cNvPr>
          <p:cNvSpPr txBox="1"/>
          <p:nvPr/>
        </p:nvSpPr>
        <p:spPr>
          <a:xfrm>
            <a:off x="751840" y="2851030"/>
            <a:ext cx="6096000" cy="369332"/>
          </a:xfrm>
          <a:prstGeom prst="rect">
            <a:avLst/>
          </a:prstGeom>
          <a:noFill/>
        </p:spPr>
        <p:txBody>
          <a:bodyPr wrap="square">
            <a:spAutoFit/>
          </a:bodyPr>
          <a:lstStyle/>
          <a:p>
            <a:r>
              <a:rPr lang="vi-VN" b="1" dirty="0"/>
              <a:t>Bước 2: Xác định chiến lược (Strategies)</a:t>
            </a:r>
            <a:endParaRPr lang="en-US" b="1" dirty="0"/>
          </a:p>
        </p:txBody>
      </p:sp>
      <p:sp>
        <p:nvSpPr>
          <p:cNvPr id="13" name="TextBox 12">
            <a:extLst>
              <a:ext uri="{FF2B5EF4-FFF2-40B4-BE49-F238E27FC236}">
                <a16:creationId xmlns:a16="http://schemas.microsoft.com/office/drawing/2014/main" id="{D25BFCC5-D0AB-8AF6-9DD6-D90B7BFF7EF6}"/>
              </a:ext>
            </a:extLst>
          </p:cNvPr>
          <p:cNvSpPr txBox="1"/>
          <p:nvPr/>
        </p:nvSpPr>
        <p:spPr>
          <a:xfrm>
            <a:off x="904240" y="3227308"/>
            <a:ext cx="6096000" cy="369332"/>
          </a:xfrm>
          <a:prstGeom prst="rect">
            <a:avLst/>
          </a:prstGeom>
          <a:noFill/>
        </p:spPr>
        <p:txBody>
          <a:bodyPr wrap="square">
            <a:spAutoFit/>
          </a:bodyPr>
          <a:lstStyle/>
          <a:p>
            <a:r>
              <a:rPr lang="vi-VN" dirty="0"/>
              <a:t>Mỗi người có cùng tập chiến lược:</a:t>
            </a:r>
            <a:endParaRPr lang="en-US" dirty="0"/>
          </a:p>
        </p:txBody>
      </p:sp>
      <p:pic>
        <p:nvPicPr>
          <p:cNvPr id="15" name="Picture 14">
            <a:extLst>
              <a:ext uri="{FF2B5EF4-FFF2-40B4-BE49-F238E27FC236}">
                <a16:creationId xmlns:a16="http://schemas.microsoft.com/office/drawing/2014/main" id="{6CE2CC40-622D-97AC-CE52-7982C7E8A7F5}"/>
              </a:ext>
            </a:extLst>
          </p:cNvPr>
          <p:cNvPicPr>
            <a:picLocks noChangeAspect="1"/>
          </p:cNvPicPr>
          <p:nvPr/>
        </p:nvPicPr>
        <p:blipFill>
          <a:blip r:embed="rId3"/>
          <a:stretch>
            <a:fillRect/>
          </a:stretch>
        </p:blipFill>
        <p:spPr>
          <a:xfrm>
            <a:off x="1069022" y="3642953"/>
            <a:ext cx="2352675" cy="371475"/>
          </a:xfrm>
          <a:prstGeom prst="rect">
            <a:avLst/>
          </a:prstGeom>
        </p:spPr>
      </p:pic>
      <p:pic>
        <p:nvPicPr>
          <p:cNvPr id="19" name="Picture 18">
            <a:extLst>
              <a:ext uri="{FF2B5EF4-FFF2-40B4-BE49-F238E27FC236}">
                <a16:creationId xmlns:a16="http://schemas.microsoft.com/office/drawing/2014/main" id="{7B9E41B5-CD0C-41AE-D27D-2C17B82E82F5}"/>
              </a:ext>
            </a:extLst>
          </p:cNvPr>
          <p:cNvPicPr>
            <a:picLocks noChangeAspect="1"/>
          </p:cNvPicPr>
          <p:nvPr/>
        </p:nvPicPr>
        <p:blipFill>
          <a:blip r:embed="rId4"/>
          <a:stretch>
            <a:fillRect/>
          </a:stretch>
        </p:blipFill>
        <p:spPr>
          <a:xfrm>
            <a:off x="904240" y="4070583"/>
            <a:ext cx="1685925" cy="600075"/>
          </a:xfrm>
          <a:prstGeom prst="rect">
            <a:avLst/>
          </a:prstGeom>
        </p:spPr>
      </p:pic>
      <p:sp>
        <p:nvSpPr>
          <p:cNvPr id="21" name="TextBox 20">
            <a:extLst>
              <a:ext uri="{FF2B5EF4-FFF2-40B4-BE49-F238E27FC236}">
                <a16:creationId xmlns:a16="http://schemas.microsoft.com/office/drawing/2014/main" id="{787A0113-9F05-7467-7E23-2683E9A611EE}"/>
              </a:ext>
            </a:extLst>
          </p:cNvPr>
          <p:cNvSpPr txBox="1"/>
          <p:nvPr/>
        </p:nvSpPr>
        <p:spPr>
          <a:xfrm>
            <a:off x="6029007" y="1576863"/>
            <a:ext cx="6096000" cy="369332"/>
          </a:xfrm>
          <a:prstGeom prst="rect">
            <a:avLst/>
          </a:prstGeom>
          <a:noFill/>
        </p:spPr>
        <p:txBody>
          <a:bodyPr wrap="square">
            <a:spAutoFit/>
          </a:bodyPr>
          <a:lstStyle/>
          <a:p>
            <a:r>
              <a:rPr lang="vi-VN" b="1" dirty="0"/>
              <a:t>Bước 3: Gán payoff (lợi ích) cho từng trường hợp</a:t>
            </a:r>
            <a:endParaRPr lang="en-US" b="1" dirty="0"/>
          </a:p>
        </p:txBody>
      </p:sp>
      <p:pic>
        <p:nvPicPr>
          <p:cNvPr id="23" name="Picture 22">
            <a:extLst>
              <a:ext uri="{FF2B5EF4-FFF2-40B4-BE49-F238E27FC236}">
                <a16:creationId xmlns:a16="http://schemas.microsoft.com/office/drawing/2014/main" id="{A6E9F85A-8E0D-B271-8614-D44980C48B22}"/>
              </a:ext>
            </a:extLst>
          </p:cNvPr>
          <p:cNvPicPr>
            <a:picLocks noChangeAspect="1"/>
          </p:cNvPicPr>
          <p:nvPr/>
        </p:nvPicPr>
        <p:blipFill>
          <a:blip r:embed="rId5"/>
          <a:stretch>
            <a:fillRect/>
          </a:stretch>
        </p:blipFill>
        <p:spPr>
          <a:xfrm>
            <a:off x="5845492" y="2252185"/>
            <a:ext cx="6048375" cy="3752850"/>
          </a:xfrm>
          <a:prstGeom prst="rect">
            <a:avLst/>
          </a:prstGeom>
        </p:spPr>
      </p:pic>
    </p:spTree>
    <p:extLst>
      <p:ext uri="{BB962C8B-B14F-4D97-AF65-F5344CB8AC3E}">
        <p14:creationId xmlns:p14="http://schemas.microsoft.com/office/powerpoint/2010/main" val="10082117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8590C8-6F57-490C-383D-07BEEE52AFCD}"/>
              </a:ext>
            </a:extLst>
          </p:cNvPr>
          <p:cNvSpPr txBox="1"/>
          <p:nvPr/>
        </p:nvSpPr>
        <p:spPr>
          <a:xfrm>
            <a:off x="255270" y="436726"/>
            <a:ext cx="6096000" cy="369332"/>
          </a:xfrm>
          <a:prstGeom prst="rect">
            <a:avLst/>
          </a:prstGeom>
          <a:noFill/>
        </p:spPr>
        <p:txBody>
          <a:bodyPr wrap="square">
            <a:spAutoFit/>
          </a:bodyPr>
          <a:lstStyle/>
          <a:p>
            <a:r>
              <a:rPr lang="vi-VN" b="1" dirty="0"/>
              <a:t>Bước 4: Viết ma trận payoff (dạng chuẩn tắc)</a:t>
            </a:r>
            <a:endParaRPr lang="en-US" b="1" dirty="0"/>
          </a:p>
        </p:txBody>
      </p:sp>
      <p:pic>
        <p:nvPicPr>
          <p:cNvPr id="7" name="Picture 6">
            <a:extLst>
              <a:ext uri="{FF2B5EF4-FFF2-40B4-BE49-F238E27FC236}">
                <a16:creationId xmlns:a16="http://schemas.microsoft.com/office/drawing/2014/main" id="{82A8438C-8BD1-B58F-D3B3-59F0E4273576}"/>
              </a:ext>
            </a:extLst>
          </p:cNvPr>
          <p:cNvPicPr>
            <a:picLocks noChangeAspect="1"/>
          </p:cNvPicPr>
          <p:nvPr/>
        </p:nvPicPr>
        <p:blipFill>
          <a:blip r:embed="rId2"/>
          <a:stretch>
            <a:fillRect/>
          </a:stretch>
        </p:blipFill>
        <p:spPr>
          <a:xfrm>
            <a:off x="855027" y="1528762"/>
            <a:ext cx="2943225" cy="1266825"/>
          </a:xfrm>
          <a:prstGeom prst="rect">
            <a:avLst/>
          </a:prstGeom>
        </p:spPr>
      </p:pic>
      <p:pic>
        <p:nvPicPr>
          <p:cNvPr id="9" name="Picture 8">
            <a:extLst>
              <a:ext uri="{FF2B5EF4-FFF2-40B4-BE49-F238E27FC236}">
                <a16:creationId xmlns:a16="http://schemas.microsoft.com/office/drawing/2014/main" id="{F812AAF7-A3D3-D0CD-C138-74A1F2926D26}"/>
              </a:ext>
            </a:extLst>
          </p:cNvPr>
          <p:cNvPicPr>
            <a:picLocks noChangeAspect="1"/>
          </p:cNvPicPr>
          <p:nvPr/>
        </p:nvPicPr>
        <p:blipFill>
          <a:blip r:embed="rId3"/>
          <a:stretch>
            <a:fillRect/>
          </a:stretch>
        </p:blipFill>
        <p:spPr>
          <a:xfrm>
            <a:off x="3695700" y="1624011"/>
            <a:ext cx="1600200" cy="1076325"/>
          </a:xfrm>
          <a:prstGeom prst="rect">
            <a:avLst/>
          </a:prstGeom>
        </p:spPr>
      </p:pic>
      <p:sp>
        <p:nvSpPr>
          <p:cNvPr id="11" name="TextBox 10">
            <a:extLst>
              <a:ext uri="{FF2B5EF4-FFF2-40B4-BE49-F238E27FC236}">
                <a16:creationId xmlns:a16="http://schemas.microsoft.com/office/drawing/2014/main" id="{90991AB7-3F08-A504-9E7D-842EF62AE260}"/>
              </a:ext>
            </a:extLst>
          </p:cNvPr>
          <p:cNvSpPr txBox="1"/>
          <p:nvPr/>
        </p:nvSpPr>
        <p:spPr>
          <a:xfrm>
            <a:off x="255270" y="2877919"/>
            <a:ext cx="6096000" cy="369332"/>
          </a:xfrm>
          <a:prstGeom prst="rect">
            <a:avLst/>
          </a:prstGeom>
          <a:noFill/>
        </p:spPr>
        <p:txBody>
          <a:bodyPr wrap="square">
            <a:spAutoFit/>
          </a:bodyPr>
          <a:lstStyle/>
          <a:p>
            <a:r>
              <a:rPr lang="vi-VN" b="1" dirty="0"/>
              <a:t>Bước 5: Tìm phản ứng tốt nhất (Best Response)</a:t>
            </a:r>
            <a:endParaRPr lang="en-US" b="1" dirty="0"/>
          </a:p>
        </p:txBody>
      </p:sp>
      <p:pic>
        <p:nvPicPr>
          <p:cNvPr id="13" name="Picture 12">
            <a:extLst>
              <a:ext uri="{FF2B5EF4-FFF2-40B4-BE49-F238E27FC236}">
                <a16:creationId xmlns:a16="http://schemas.microsoft.com/office/drawing/2014/main" id="{291FA6C2-A69C-B627-EADB-9470552EA580}"/>
              </a:ext>
            </a:extLst>
          </p:cNvPr>
          <p:cNvPicPr>
            <a:picLocks noChangeAspect="1"/>
          </p:cNvPicPr>
          <p:nvPr/>
        </p:nvPicPr>
        <p:blipFill>
          <a:blip r:embed="rId4"/>
          <a:stretch>
            <a:fillRect/>
          </a:stretch>
        </p:blipFill>
        <p:spPr>
          <a:xfrm>
            <a:off x="685800" y="3306599"/>
            <a:ext cx="3009900" cy="628650"/>
          </a:xfrm>
          <a:prstGeom prst="rect">
            <a:avLst/>
          </a:prstGeom>
        </p:spPr>
      </p:pic>
      <p:pic>
        <p:nvPicPr>
          <p:cNvPr id="15" name="Picture 14">
            <a:extLst>
              <a:ext uri="{FF2B5EF4-FFF2-40B4-BE49-F238E27FC236}">
                <a16:creationId xmlns:a16="http://schemas.microsoft.com/office/drawing/2014/main" id="{9690C2D1-CFC1-D7CC-9DAD-91A8A57FAC82}"/>
              </a:ext>
            </a:extLst>
          </p:cNvPr>
          <p:cNvPicPr>
            <a:picLocks noChangeAspect="1"/>
          </p:cNvPicPr>
          <p:nvPr/>
        </p:nvPicPr>
        <p:blipFill>
          <a:blip r:embed="rId5"/>
          <a:stretch>
            <a:fillRect/>
          </a:stretch>
        </p:blipFill>
        <p:spPr>
          <a:xfrm>
            <a:off x="1038225" y="3935249"/>
            <a:ext cx="2305050" cy="666750"/>
          </a:xfrm>
          <a:prstGeom prst="rect">
            <a:avLst/>
          </a:prstGeom>
        </p:spPr>
      </p:pic>
      <p:pic>
        <p:nvPicPr>
          <p:cNvPr id="17" name="Picture 16">
            <a:extLst>
              <a:ext uri="{FF2B5EF4-FFF2-40B4-BE49-F238E27FC236}">
                <a16:creationId xmlns:a16="http://schemas.microsoft.com/office/drawing/2014/main" id="{BA2FCCEA-AD99-2ABE-2DCC-3ED1B120C5BC}"/>
              </a:ext>
            </a:extLst>
          </p:cNvPr>
          <p:cNvPicPr>
            <a:picLocks noChangeAspect="1"/>
          </p:cNvPicPr>
          <p:nvPr/>
        </p:nvPicPr>
        <p:blipFill>
          <a:blip r:embed="rId6"/>
          <a:stretch>
            <a:fillRect/>
          </a:stretch>
        </p:blipFill>
        <p:spPr>
          <a:xfrm>
            <a:off x="3208020" y="4601999"/>
            <a:ext cx="3143250" cy="1819275"/>
          </a:xfrm>
          <a:prstGeom prst="rect">
            <a:avLst/>
          </a:prstGeom>
        </p:spPr>
      </p:pic>
      <p:sp>
        <p:nvSpPr>
          <p:cNvPr id="19" name="TextBox 18">
            <a:extLst>
              <a:ext uri="{FF2B5EF4-FFF2-40B4-BE49-F238E27FC236}">
                <a16:creationId xmlns:a16="http://schemas.microsoft.com/office/drawing/2014/main" id="{91743352-6ECD-EA35-DBB9-5A3BCAA41458}"/>
              </a:ext>
            </a:extLst>
          </p:cNvPr>
          <p:cNvSpPr txBox="1"/>
          <p:nvPr/>
        </p:nvSpPr>
        <p:spPr>
          <a:xfrm>
            <a:off x="3455670" y="4171584"/>
            <a:ext cx="1624330" cy="369332"/>
          </a:xfrm>
          <a:prstGeom prst="rect">
            <a:avLst/>
          </a:prstGeom>
          <a:noFill/>
        </p:spPr>
        <p:txBody>
          <a:bodyPr wrap="square">
            <a:spAutoFit/>
          </a:bodyPr>
          <a:lstStyle/>
          <a:p>
            <a:r>
              <a:rPr lang="en-US" dirty="0" err="1"/>
              <a:t>Hàm</a:t>
            </a:r>
            <a:r>
              <a:rPr lang="en-US" dirty="0"/>
              <a:t> payoff:</a:t>
            </a:r>
          </a:p>
        </p:txBody>
      </p:sp>
      <p:sp>
        <p:nvSpPr>
          <p:cNvPr id="25" name="TextBox 24">
            <a:extLst>
              <a:ext uri="{FF2B5EF4-FFF2-40B4-BE49-F238E27FC236}">
                <a16:creationId xmlns:a16="http://schemas.microsoft.com/office/drawing/2014/main" id="{D4CA9BCB-36CB-E689-ECD4-6103575B456C}"/>
              </a:ext>
            </a:extLst>
          </p:cNvPr>
          <p:cNvSpPr txBox="1"/>
          <p:nvPr/>
        </p:nvSpPr>
        <p:spPr>
          <a:xfrm>
            <a:off x="6418580" y="298226"/>
            <a:ext cx="6334760" cy="276999"/>
          </a:xfrm>
          <a:prstGeom prst="rect">
            <a:avLst/>
          </a:prstGeom>
          <a:noFill/>
        </p:spPr>
        <p:txBody>
          <a:bodyPr wrap="square">
            <a:spAutoFit/>
          </a:bodyPr>
          <a:lstStyle/>
          <a:p>
            <a:r>
              <a:rPr lang="en-US" sz="1200" b="1" dirty="0" err="1">
                <a:solidFill>
                  <a:srgbClr val="FF0000"/>
                </a:solidFill>
                <a:latin typeface="Arial" panose="020B0604020202020204" pitchFamily="34" charset="0"/>
                <a:cs typeface="Arial" panose="020B0604020202020204" pitchFamily="34" charset="0"/>
              </a:rPr>
              <a:t>Phản</a:t>
            </a:r>
            <a:r>
              <a:rPr lang="en-US" sz="1200" b="1" dirty="0">
                <a:solidFill>
                  <a:srgbClr val="FF0000"/>
                </a:solidFill>
                <a:latin typeface="Arial" panose="020B0604020202020204" pitchFamily="34" charset="0"/>
                <a:cs typeface="Arial" panose="020B0604020202020204" pitchFamily="34" charset="0"/>
              </a:rPr>
              <a:t> </a:t>
            </a:r>
            <a:r>
              <a:rPr lang="en-US" sz="1200" b="1" dirty="0" err="1">
                <a:solidFill>
                  <a:srgbClr val="FF0000"/>
                </a:solidFill>
                <a:latin typeface="Arial" panose="020B0604020202020204" pitchFamily="34" charset="0"/>
                <a:cs typeface="Arial" panose="020B0604020202020204" pitchFamily="34" charset="0"/>
              </a:rPr>
              <a:t>ứng</a:t>
            </a:r>
            <a:r>
              <a:rPr lang="en-US" sz="1200" b="1" dirty="0">
                <a:solidFill>
                  <a:srgbClr val="FF0000"/>
                </a:solidFill>
                <a:latin typeface="Arial" panose="020B0604020202020204" pitchFamily="34" charset="0"/>
                <a:cs typeface="Arial" panose="020B0604020202020204" pitchFamily="34" charset="0"/>
              </a:rPr>
              <a:t> </a:t>
            </a:r>
            <a:r>
              <a:rPr lang="en-US" sz="1200" b="1" dirty="0" err="1">
                <a:solidFill>
                  <a:srgbClr val="FF0000"/>
                </a:solidFill>
                <a:latin typeface="Arial" panose="020B0604020202020204" pitchFamily="34" charset="0"/>
                <a:cs typeface="Arial" panose="020B0604020202020204" pitchFamily="34" charset="0"/>
              </a:rPr>
              <a:t>tốt</a:t>
            </a:r>
            <a:r>
              <a:rPr lang="en-US" sz="1200" b="1" dirty="0">
                <a:solidFill>
                  <a:srgbClr val="FF0000"/>
                </a:solidFill>
                <a:latin typeface="Arial" panose="020B0604020202020204" pitchFamily="34" charset="0"/>
                <a:cs typeface="Arial" panose="020B0604020202020204" pitchFamily="34" charset="0"/>
              </a:rPr>
              <a:t> </a:t>
            </a:r>
            <a:r>
              <a:rPr lang="en-US" sz="1200" b="1" dirty="0" err="1">
                <a:solidFill>
                  <a:srgbClr val="FF0000"/>
                </a:solidFill>
                <a:latin typeface="Arial" panose="020B0604020202020204" pitchFamily="34" charset="0"/>
                <a:cs typeface="Arial" panose="020B0604020202020204" pitchFamily="34" charset="0"/>
              </a:rPr>
              <a:t>nhất</a:t>
            </a:r>
            <a:r>
              <a:rPr lang="en-US" sz="1200" b="1" dirty="0">
                <a:solidFill>
                  <a:srgbClr val="FF0000"/>
                </a:solidFill>
                <a:latin typeface="Arial" panose="020B0604020202020204" pitchFamily="34" charset="0"/>
                <a:cs typeface="Arial" panose="020B0604020202020204" pitchFamily="34" charset="0"/>
              </a:rPr>
              <a:t> </a:t>
            </a:r>
            <a:r>
              <a:rPr lang="en-US" sz="1200" b="1" dirty="0" err="1">
                <a:solidFill>
                  <a:srgbClr val="FF0000"/>
                </a:solidFill>
                <a:latin typeface="Arial" panose="020B0604020202020204" pitchFamily="34" charset="0"/>
                <a:cs typeface="Arial" panose="020B0604020202020204" pitchFamily="34" charset="0"/>
              </a:rPr>
              <a:t>của</a:t>
            </a:r>
            <a:r>
              <a:rPr lang="en-US" sz="1200" b="1" dirty="0">
                <a:solidFill>
                  <a:srgbClr val="FF0000"/>
                </a:solidFill>
                <a:latin typeface="Arial" panose="020B0604020202020204" pitchFamily="34" charset="0"/>
                <a:cs typeface="Arial" panose="020B0604020202020204" pitchFamily="34" charset="0"/>
              </a:rPr>
              <a:t> A</a:t>
            </a:r>
          </a:p>
        </p:txBody>
      </p: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9745A7AF-68A8-CB58-1AB1-F046875366F5}"/>
                  </a:ext>
                </a:extLst>
              </p:cNvPr>
              <p:cNvSpPr txBox="1"/>
              <p:nvPr/>
            </p:nvSpPr>
            <p:spPr>
              <a:xfrm>
                <a:off x="6553200" y="641123"/>
                <a:ext cx="6375400" cy="1015663"/>
              </a:xfrm>
              <a:prstGeom prst="rect">
                <a:avLst/>
              </a:prstGeom>
              <a:noFill/>
            </p:spPr>
            <p:txBody>
              <a:bodyPr wrap="square">
                <a:spAutoFit/>
              </a:bodyPr>
              <a:lstStyle/>
              <a:p>
                <a:pPr>
                  <a:buNone/>
                </a:pPr>
                <a:r>
                  <a:rPr lang="vi-VN" sz="1200" b="1" dirty="0">
                    <a:latin typeface="Arial" panose="020B0604020202020204" pitchFamily="34" charset="0"/>
                    <a:cs typeface="Arial" panose="020B0604020202020204" pitchFamily="34" charset="0"/>
                  </a:rPr>
                  <a:t>Trường hợp 1: B chọn C</a:t>
                </a:r>
              </a:p>
              <a:p>
                <a:pPr>
                  <a:buNone/>
                </a:pPr>
                <a:r>
                  <a:rPr lang="vi-VN" sz="1200" dirty="0">
                    <a:latin typeface="Arial" panose="020B0604020202020204" pitchFamily="34" charset="0"/>
                    <a:cs typeface="Arial" panose="020B0604020202020204" pitchFamily="34" charset="0"/>
                  </a:rPr>
                  <a:t>Nhìn cột </a:t>
                </a:r>
                <a14:m>
                  <m:oMath xmlns:m="http://schemas.openxmlformats.org/officeDocument/2006/math">
                    <m:r>
                      <a:rPr lang="vi-VN" sz="1200" i="1">
                        <a:latin typeface="Cambria Math" panose="02040503050406030204" pitchFamily="18" charset="0"/>
                      </a:rPr>
                      <m:t>𝐵</m:t>
                    </m:r>
                    <m:r>
                      <a:rPr lang="vi-VN" sz="1200" i="0">
                        <a:latin typeface="Cambria Math" panose="02040503050406030204" pitchFamily="18" charset="0"/>
                      </a:rPr>
                      <m:t>:</m:t>
                    </m:r>
                    <m:r>
                      <a:rPr lang="vi-VN" sz="1200" i="1">
                        <a:latin typeface="Cambria Math" panose="02040503050406030204" pitchFamily="18" charset="0"/>
                      </a:rPr>
                      <m:t>𝐶</m:t>
                    </m:r>
                  </m:oMath>
                </a14:m>
                <a:r>
                  <a:rPr lang="vi-VN" sz="1200" dirty="0">
                    <a:latin typeface="Arial" panose="020B0604020202020204" pitchFamily="34" charset="0"/>
                    <a:cs typeface="Arial" panose="020B0604020202020204" pitchFamily="34" charset="0"/>
                  </a:rPr>
                  <a:t>:</a:t>
                </a:r>
              </a:p>
              <a:p>
                <a:pPr>
                  <a:buFont typeface="Arial" panose="020B0604020202020204" pitchFamily="34" charset="0"/>
                  <a:buChar char="•"/>
                </a:pPr>
                <a:r>
                  <a:rPr lang="vi-VN" sz="1200" dirty="0">
                    <a:latin typeface="Arial" panose="020B0604020202020204" pitchFamily="34" charset="0"/>
                    <a:cs typeface="Arial" panose="020B0604020202020204" pitchFamily="34" charset="0"/>
                  </a:rPr>
                  <a:t>Nếu A chọn C → A được </a:t>
                </a:r>
                <a:r>
                  <a:rPr lang="vi-VN" sz="1200" b="1" dirty="0">
                    <a:latin typeface="Arial" panose="020B0604020202020204" pitchFamily="34" charset="0"/>
                    <a:cs typeface="Arial" panose="020B0604020202020204" pitchFamily="34" charset="0"/>
                  </a:rPr>
                  <a:t>8</a:t>
                </a:r>
                <a:endParaRPr lang="vi-VN" sz="1200" dirty="0">
                  <a:latin typeface="Arial" panose="020B0604020202020204" pitchFamily="34" charset="0"/>
                  <a:cs typeface="Arial" panose="020B0604020202020204" pitchFamily="34" charset="0"/>
                </a:endParaRPr>
              </a:p>
              <a:p>
                <a:pPr>
                  <a:buFont typeface="Arial" panose="020B0604020202020204" pitchFamily="34" charset="0"/>
                  <a:buChar char="•"/>
                </a:pPr>
                <a:r>
                  <a:rPr lang="vi-VN" sz="1200" dirty="0">
                    <a:latin typeface="Arial" panose="020B0604020202020204" pitchFamily="34" charset="0"/>
                    <a:cs typeface="Arial" panose="020B0604020202020204" pitchFamily="34" charset="0"/>
                  </a:rPr>
                  <a:t>Nếu A chọn F → A được </a:t>
                </a:r>
                <a:r>
                  <a:rPr lang="vi-VN" sz="1200" b="1" dirty="0">
                    <a:latin typeface="Arial" panose="020B0604020202020204" pitchFamily="34" charset="0"/>
                    <a:cs typeface="Arial" panose="020B0604020202020204" pitchFamily="34" charset="0"/>
                  </a:rPr>
                  <a:t>10</a:t>
                </a:r>
                <a:endParaRPr lang="vi-VN" sz="1200" dirty="0">
                  <a:latin typeface="Arial" panose="020B0604020202020204" pitchFamily="34" charset="0"/>
                  <a:cs typeface="Arial" panose="020B0604020202020204" pitchFamily="34" charset="0"/>
                </a:endParaRPr>
              </a:p>
              <a:p>
                <a:pPr>
                  <a:buNone/>
                </a:pPr>
                <a:r>
                  <a:rPr lang="en-US" sz="1200" dirty="0">
                    <a:latin typeface="Arial" panose="020B0604020202020204" pitchFamily="34" charset="0"/>
                    <a:cs typeface="Arial" panose="020B0604020202020204" pitchFamily="34" charset="0"/>
                  </a:rPr>
                  <a:t> </a:t>
                </a:r>
                <a:r>
                  <a:rPr lang="vi-VN" sz="1200" b="1" dirty="0">
                    <a:solidFill>
                      <a:srgbClr val="C00000"/>
                    </a:solidFill>
                    <a:latin typeface="Arial" panose="020B0604020202020204" pitchFamily="34" charset="0"/>
                    <a:cs typeface="Arial" panose="020B0604020202020204" pitchFamily="34" charset="0"/>
                  </a:rPr>
                  <a:t>A chọn F (vì </a:t>
                </a:r>
                <a14:m>
                  <m:oMath xmlns:m="http://schemas.openxmlformats.org/officeDocument/2006/math">
                    <m:r>
                      <a:rPr lang="vi-VN" sz="1200" b="1" i="1">
                        <a:solidFill>
                          <a:srgbClr val="C00000"/>
                        </a:solidFill>
                        <a:latin typeface="Cambria Math" panose="02040503050406030204" pitchFamily="18" charset="0"/>
                      </a:rPr>
                      <m:t>𝟏𝟎</m:t>
                    </m:r>
                    <m:r>
                      <a:rPr lang="vi-VN" sz="1200" b="1" i="0">
                        <a:solidFill>
                          <a:srgbClr val="C00000"/>
                        </a:solidFill>
                        <a:latin typeface="Cambria Math" panose="02040503050406030204" pitchFamily="18" charset="0"/>
                      </a:rPr>
                      <m:t>&gt;</m:t>
                    </m:r>
                    <m:r>
                      <a:rPr lang="vi-VN" sz="1200" b="1" i="0">
                        <a:solidFill>
                          <a:srgbClr val="C00000"/>
                        </a:solidFill>
                        <a:latin typeface="Cambria Math" panose="02040503050406030204" pitchFamily="18" charset="0"/>
                      </a:rPr>
                      <m:t>𝟖</m:t>
                    </m:r>
                  </m:oMath>
                </a14:m>
                <a:r>
                  <a:rPr lang="vi-VN" sz="1200" dirty="0">
                    <a:latin typeface="Arial" panose="020B0604020202020204" pitchFamily="34" charset="0"/>
                    <a:cs typeface="Arial" panose="020B0604020202020204" pitchFamily="34" charset="0"/>
                  </a:rPr>
                  <a:t>)</a:t>
                </a:r>
              </a:p>
            </p:txBody>
          </p:sp>
        </mc:Choice>
        <mc:Fallback>
          <p:sp>
            <p:nvSpPr>
              <p:cNvPr id="27" name="TextBox 26">
                <a:extLst>
                  <a:ext uri="{FF2B5EF4-FFF2-40B4-BE49-F238E27FC236}">
                    <a16:creationId xmlns:a16="http://schemas.microsoft.com/office/drawing/2014/main" id="{9745A7AF-68A8-CB58-1AB1-F046875366F5}"/>
                  </a:ext>
                </a:extLst>
              </p:cNvPr>
              <p:cNvSpPr txBox="1">
                <a:spLocks noRot="1" noChangeAspect="1" noMove="1" noResize="1" noEditPoints="1" noAdjustHandles="1" noChangeArrowheads="1" noChangeShapeType="1" noTextEdit="1"/>
              </p:cNvSpPr>
              <p:nvPr/>
            </p:nvSpPr>
            <p:spPr>
              <a:xfrm>
                <a:off x="6553200" y="641123"/>
                <a:ext cx="6375400" cy="1015663"/>
              </a:xfrm>
              <a:prstGeom prst="rect">
                <a:avLst/>
              </a:prstGeom>
              <a:blipFill>
                <a:blip r:embed="rId7"/>
                <a:stretch>
                  <a:fillRect t="-599" b="-299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CB76DC08-03A2-20DD-2193-E444BF93E976}"/>
                  </a:ext>
                </a:extLst>
              </p:cNvPr>
              <p:cNvSpPr txBox="1"/>
              <p:nvPr/>
            </p:nvSpPr>
            <p:spPr>
              <a:xfrm>
                <a:off x="6553200" y="1772902"/>
                <a:ext cx="6507480" cy="1015663"/>
              </a:xfrm>
              <a:prstGeom prst="rect">
                <a:avLst/>
              </a:prstGeom>
              <a:noFill/>
            </p:spPr>
            <p:txBody>
              <a:bodyPr wrap="square">
                <a:spAutoFit/>
              </a:bodyPr>
              <a:lstStyle/>
              <a:p>
                <a:pPr>
                  <a:buNone/>
                </a:pPr>
                <a:r>
                  <a:rPr lang="vi-VN" sz="1200" b="1" dirty="0">
                    <a:latin typeface="Arial" panose="020B0604020202020204" pitchFamily="34" charset="0"/>
                    <a:cs typeface="Arial" panose="020B0604020202020204" pitchFamily="34" charset="0"/>
                  </a:rPr>
                  <a:t>Trường hợp 2: B chọn F</a:t>
                </a:r>
              </a:p>
              <a:p>
                <a:pPr>
                  <a:buNone/>
                </a:pPr>
                <a:r>
                  <a:rPr lang="vi-VN" sz="1200" dirty="0">
                    <a:latin typeface="Arial" panose="020B0604020202020204" pitchFamily="34" charset="0"/>
                    <a:cs typeface="Arial" panose="020B0604020202020204" pitchFamily="34" charset="0"/>
                  </a:rPr>
                  <a:t>Nhìn cột </a:t>
                </a:r>
                <a14:m>
                  <m:oMath xmlns:m="http://schemas.openxmlformats.org/officeDocument/2006/math">
                    <m:r>
                      <a:rPr lang="vi-VN" sz="1200" i="1">
                        <a:latin typeface="Cambria Math" panose="02040503050406030204" pitchFamily="18" charset="0"/>
                      </a:rPr>
                      <m:t>𝐵</m:t>
                    </m:r>
                    <m:r>
                      <a:rPr lang="vi-VN" sz="1200" i="0">
                        <a:latin typeface="Cambria Math" panose="02040503050406030204" pitchFamily="18" charset="0"/>
                      </a:rPr>
                      <m:t>:</m:t>
                    </m:r>
                    <m:r>
                      <a:rPr lang="vi-VN" sz="1200" i="1">
                        <a:latin typeface="Cambria Math" panose="02040503050406030204" pitchFamily="18" charset="0"/>
                      </a:rPr>
                      <m:t>𝐹</m:t>
                    </m:r>
                  </m:oMath>
                </a14:m>
                <a:r>
                  <a:rPr lang="vi-VN" sz="1200" dirty="0">
                    <a:latin typeface="Arial" panose="020B0604020202020204" pitchFamily="34" charset="0"/>
                    <a:cs typeface="Arial" panose="020B0604020202020204" pitchFamily="34" charset="0"/>
                  </a:rPr>
                  <a:t>:</a:t>
                </a:r>
              </a:p>
              <a:p>
                <a:pPr>
                  <a:buFont typeface="Arial" panose="020B0604020202020204" pitchFamily="34" charset="0"/>
                  <a:buChar char="•"/>
                </a:pPr>
                <a:r>
                  <a:rPr lang="vi-VN" sz="1200" dirty="0">
                    <a:latin typeface="Arial" panose="020B0604020202020204" pitchFamily="34" charset="0"/>
                    <a:cs typeface="Arial" panose="020B0604020202020204" pitchFamily="34" charset="0"/>
                  </a:rPr>
                  <a:t>Nếu A chọn C → A được </a:t>
                </a:r>
                <a:r>
                  <a:rPr lang="vi-VN" sz="1200" b="1" dirty="0">
                    <a:latin typeface="Arial" panose="020B0604020202020204" pitchFamily="34" charset="0"/>
                    <a:cs typeface="Arial" panose="020B0604020202020204" pitchFamily="34" charset="0"/>
                  </a:rPr>
                  <a:t>2</a:t>
                </a:r>
                <a:endParaRPr lang="vi-VN" sz="1200" dirty="0">
                  <a:latin typeface="Arial" panose="020B0604020202020204" pitchFamily="34" charset="0"/>
                  <a:cs typeface="Arial" panose="020B0604020202020204" pitchFamily="34" charset="0"/>
                </a:endParaRPr>
              </a:p>
              <a:p>
                <a:pPr>
                  <a:buFont typeface="Arial" panose="020B0604020202020204" pitchFamily="34" charset="0"/>
                  <a:buChar char="•"/>
                </a:pPr>
                <a:r>
                  <a:rPr lang="vi-VN" sz="1200" dirty="0">
                    <a:latin typeface="Arial" panose="020B0604020202020204" pitchFamily="34" charset="0"/>
                    <a:cs typeface="Arial" panose="020B0604020202020204" pitchFamily="34" charset="0"/>
                  </a:rPr>
                  <a:t>Nếu A chọn F → A được </a:t>
                </a:r>
                <a:r>
                  <a:rPr lang="vi-VN" sz="1200" b="1" dirty="0">
                    <a:latin typeface="Arial" panose="020B0604020202020204" pitchFamily="34" charset="0"/>
                    <a:cs typeface="Arial" panose="020B0604020202020204" pitchFamily="34" charset="0"/>
                  </a:rPr>
                  <a:t>4</a:t>
                </a:r>
                <a:endParaRPr lang="vi-VN" sz="1200" dirty="0">
                  <a:latin typeface="Arial" panose="020B0604020202020204" pitchFamily="34" charset="0"/>
                  <a:cs typeface="Arial" panose="020B0604020202020204" pitchFamily="34" charset="0"/>
                </a:endParaRPr>
              </a:p>
              <a:p>
                <a:pPr>
                  <a:buNone/>
                </a:pPr>
                <a:r>
                  <a:rPr lang="vi-VN" sz="1200" b="1" dirty="0">
                    <a:solidFill>
                      <a:srgbClr val="C00000"/>
                    </a:solidFill>
                    <a:latin typeface="Arial" panose="020B0604020202020204" pitchFamily="34" charset="0"/>
                    <a:cs typeface="Arial" panose="020B0604020202020204" pitchFamily="34" charset="0"/>
                  </a:rPr>
                  <a:t>A chọn F (vì </a:t>
                </a:r>
                <a14:m>
                  <m:oMath xmlns:m="http://schemas.openxmlformats.org/officeDocument/2006/math">
                    <m:r>
                      <a:rPr lang="vi-VN" sz="1200" b="1" i="1">
                        <a:solidFill>
                          <a:srgbClr val="C00000"/>
                        </a:solidFill>
                        <a:latin typeface="Cambria Math" panose="02040503050406030204" pitchFamily="18" charset="0"/>
                      </a:rPr>
                      <m:t>𝟒</m:t>
                    </m:r>
                    <m:r>
                      <a:rPr lang="vi-VN" sz="1200" b="1" i="0">
                        <a:solidFill>
                          <a:srgbClr val="C00000"/>
                        </a:solidFill>
                        <a:latin typeface="Cambria Math" panose="02040503050406030204" pitchFamily="18" charset="0"/>
                      </a:rPr>
                      <m:t>&gt;</m:t>
                    </m:r>
                    <m:r>
                      <a:rPr lang="vi-VN" sz="1200" b="1" i="0">
                        <a:solidFill>
                          <a:srgbClr val="C00000"/>
                        </a:solidFill>
                        <a:latin typeface="Cambria Math" panose="02040503050406030204" pitchFamily="18" charset="0"/>
                      </a:rPr>
                      <m:t>𝟐</m:t>
                    </m:r>
                  </m:oMath>
                </a14:m>
                <a:r>
                  <a:rPr lang="vi-VN" sz="1200" b="1" dirty="0">
                    <a:solidFill>
                      <a:srgbClr val="C00000"/>
                    </a:solidFill>
                    <a:latin typeface="Arial" panose="020B0604020202020204" pitchFamily="34" charset="0"/>
                    <a:cs typeface="Arial" panose="020B0604020202020204" pitchFamily="34" charset="0"/>
                  </a:rPr>
                  <a:t>)</a:t>
                </a:r>
              </a:p>
            </p:txBody>
          </p:sp>
        </mc:Choice>
        <mc:Fallback>
          <p:sp>
            <p:nvSpPr>
              <p:cNvPr id="29" name="TextBox 28">
                <a:extLst>
                  <a:ext uri="{FF2B5EF4-FFF2-40B4-BE49-F238E27FC236}">
                    <a16:creationId xmlns:a16="http://schemas.microsoft.com/office/drawing/2014/main" id="{CB76DC08-03A2-20DD-2193-E444BF93E976}"/>
                  </a:ext>
                </a:extLst>
              </p:cNvPr>
              <p:cNvSpPr txBox="1">
                <a:spLocks noRot="1" noChangeAspect="1" noMove="1" noResize="1" noEditPoints="1" noAdjustHandles="1" noChangeArrowheads="1" noChangeShapeType="1" noTextEdit="1"/>
              </p:cNvSpPr>
              <p:nvPr/>
            </p:nvSpPr>
            <p:spPr>
              <a:xfrm>
                <a:off x="6553200" y="1772902"/>
                <a:ext cx="6507480" cy="1015663"/>
              </a:xfrm>
              <a:prstGeom prst="rect">
                <a:avLst/>
              </a:prstGeom>
              <a:blipFill>
                <a:blip r:embed="rId8"/>
                <a:stretch>
                  <a:fillRect t="-1205" b="-3614"/>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F452CFDE-0981-06B4-26A8-206CD6F208F3}"/>
              </a:ext>
            </a:extLst>
          </p:cNvPr>
          <p:cNvSpPr txBox="1"/>
          <p:nvPr/>
        </p:nvSpPr>
        <p:spPr>
          <a:xfrm>
            <a:off x="9466580" y="1754605"/>
            <a:ext cx="6573520" cy="276999"/>
          </a:xfrm>
          <a:prstGeom prst="rect">
            <a:avLst/>
          </a:prstGeom>
          <a:noFill/>
        </p:spPr>
        <p:txBody>
          <a:bodyPr wrap="square">
            <a:spAutoFit/>
          </a:bodyPr>
          <a:lstStyle/>
          <a:p>
            <a:r>
              <a:rPr lang="en-US" sz="1200" b="1" dirty="0" err="1">
                <a:latin typeface="Arial" panose="020B0604020202020204" pitchFamily="34" charset="0"/>
                <a:cs typeface="Arial" panose="020B0604020202020204" pitchFamily="34" charset="0"/>
              </a:rPr>
              <a:t>Kết</a:t>
            </a:r>
            <a:r>
              <a:rPr lang="en-US" sz="1200" b="1" dirty="0">
                <a:latin typeface="Arial" panose="020B0604020202020204" pitchFamily="34" charset="0"/>
                <a:cs typeface="Arial" panose="020B0604020202020204" pitchFamily="34" charset="0"/>
              </a:rPr>
              <a:t> </a:t>
            </a:r>
            <a:r>
              <a:rPr lang="en-US" sz="1200" b="1" dirty="0" err="1">
                <a:latin typeface="Arial" panose="020B0604020202020204" pitchFamily="34" charset="0"/>
                <a:cs typeface="Arial" panose="020B0604020202020204" pitchFamily="34" charset="0"/>
              </a:rPr>
              <a:t>luận</a:t>
            </a:r>
            <a:endParaRPr lang="en-US" sz="1200" b="1" dirty="0">
              <a:latin typeface="Arial" panose="020B0604020202020204" pitchFamily="34" charset="0"/>
              <a:cs typeface="Arial" panose="020B0604020202020204" pitchFamily="34" charset="0"/>
            </a:endParaRPr>
          </a:p>
        </p:txBody>
      </p:sp>
      <p:pic>
        <p:nvPicPr>
          <p:cNvPr id="35" name="Picture 34">
            <a:extLst>
              <a:ext uri="{FF2B5EF4-FFF2-40B4-BE49-F238E27FC236}">
                <a16:creationId xmlns:a16="http://schemas.microsoft.com/office/drawing/2014/main" id="{DF9D2588-6018-5A35-7A64-DFB4A126644C}"/>
              </a:ext>
            </a:extLst>
          </p:cNvPr>
          <p:cNvPicPr>
            <a:picLocks noChangeAspect="1"/>
          </p:cNvPicPr>
          <p:nvPr/>
        </p:nvPicPr>
        <p:blipFill>
          <a:blip r:embed="rId9"/>
          <a:stretch>
            <a:fillRect/>
          </a:stretch>
        </p:blipFill>
        <p:spPr>
          <a:xfrm>
            <a:off x="9337560" y="2101673"/>
            <a:ext cx="1999413" cy="693914"/>
          </a:xfrm>
          <a:prstGeom prst="rect">
            <a:avLst/>
          </a:prstGeom>
        </p:spPr>
      </p:pic>
      <p:pic>
        <p:nvPicPr>
          <p:cNvPr id="37" name="Picture 36">
            <a:extLst>
              <a:ext uri="{FF2B5EF4-FFF2-40B4-BE49-F238E27FC236}">
                <a16:creationId xmlns:a16="http://schemas.microsoft.com/office/drawing/2014/main" id="{1DA6568D-88FA-57A1-6DED-6A666D9AA8A0}"/>
              </a:ext>
            </a:extLst>
          </p:cNvPr>
          <p:cNvPicPr>
            <a:picLocks noChangeAspect="1"/>
          </p:cNvPicPr>
          <p:nvPr/>
        </p:nvPicPr>
        <p:blipFill>
          <a:blip r:embed="rId10"/>
          <a:stretch>
            <a:fillRect/>
          </a:stretch>
        </p:blipFill>
        <p:spPr>
          <a:xfrm>
            <a:off x="9585960" y="2613590"/>
            <a:ext cx="1696234" cy="693914"/>
          </a:xfrm>
          <a:prstGeom prst="rect">
            <a:avLst/>
          </a:prstGeom>
        </p:spPr>
      </p:pic>
      <p:sp>
        <p:nvSpPr>
          <p:cNvPr id="39" name="TextBox 38">
            <a:extLst>
              <a:ext uri="{FF2B5EF4-FFF2-40B4-BE49-F238E27FC236}">
                <a16:creationId xmlns:a16="http://schemas.microsoft.com/office/drawing/2014/main" id="{DEDA5C4A-808B-15A9-8FD9-B6D535545794}"/>
              </a:ext>
            </a:extLst>
          </p:cNvPr>
          <p:cNvSpPr txBox="1"/>
          <p:nvPr/>
        </p:nvSpPr>
        <p:spPr>
          <a:xfrm>
            <a:off x="6553200" y="3596695"/>
            <a:ext cx="8021320" cy="338554"/>
          </a:xfrm>
          <a:prstGeom prst="rect">
            <a:avLst/>
          </a:prstGeom>
          <a:noFill/>
        </p:spPr>
        <p:txBody>
          <a:bodyPr wrap="square">
            <a:spAutoFit/>
          </a:bodyPr>
          <a:lstStyle/>
          <a:p>
            <a:r>
              <a:rPr lang="en-US" sz="1600" b="1" dirty="0" err="1">
                <a:solidFill>
                  <a:srgbClr val="FF0000"/>
                </a:solidFill>
              </a:rPr>
              <a:t>Phản</a:t>
            </a:r>
            <a:r>
              <a:rPr lang="en-US" sz="1600" b="1" dirty="0">
                <a:solidFill>
                  <a:srgbClr val="FF0000"/>
                </a:solidFill>
              </a:rPr>
              <a:t> </a:t>
            </a:r>
            <a:r>
              <a:rPr lang="en-US" sz="1600" b="1" dirty="0" err="1">
                <a:solidFill>
                  <a:srgbClr val="FF0000"/>
                </a:solidFill>
              </a:rPr>
              <a:t>ứng</a:t>
            </a:r>
            <a:r>
              <a:rPr lang="en-US" sz="1600" b="1" dirty="0">
                <a:solidFill>
                  <a:srgbClr val="FF0000"/>
                </a:solidFill>
              </a:rPr>
              <a:t> </a:t>
            </a:r>
            <a:r>
              <a:rPr lang="en-US" sz="1600" b="1" dirty="0" err="1">
                <a:solidFill>
                  <a:srgbClr val="FF0000"/>
                </a:solidFill>
              </a:rPr>
              <a:t>tốt</a:t>
            </a:r>
            <a:r>
              <a:rPr lang="en-US" sz="1600" b="1" dirty="0">
                <a:solidFill>
                  <a:srgbClr val="FF0000"/>
                </a:solidFill>
              </a:rPr>
              <a:t> </a:t>
            </a:r>
            <a:r>
              <a:rPr lang="en-US" sz="1600" b="1" dirty="0" err="1">
                <a:solidFill>
                  <a:srgbClr val="FF0000"/>
                </a:solidFill>
              </a:rPr>
              <a:t>nhất</a:t>
            </a:r>
            <a:r>
              <a:rPr lang="en-US" sz="1600" b="1" dirty="0">
                <a:solidFill>
                  <a:srgbClr val="FF0000"/>
                </a:solidFill>
              </a:rPr>
              <a:t> </a:t>
            </a:r>
            <a:r>
              <a:rPr lang="en-US" sz="1600" b="1" dirty="0" err="1">
                <a:solidFill>
                  <a:srgbClr val="FF0000"/>
                </a:solidFill>
              </a:rPr>
              <a:t>của</a:t>
            </a:r>
            <a:r>
              <a:rPr lang="en-US" sz="1600" b="1" dirty="0">
                <a:solidFill>
                  <a:srgbClr val="FF0000"/>
                </a:solidFill>
              </a:rPr>
              <a:t> B</a:t>
            </a:r>
          </a:p>
        </p:txBody>
      </p:sp>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4BEFD8F8-0629-C5D8-B2A0-D1C1BEA3A4A1}"/>
                  </a:ext>
                </a:extLst>
              </p:cNvPr>
              <p:cNvSpPr txBox="1"/>
              <p:nvPr/>
            </p:nvSpPr>
            <p:spPr>
              <a:xfrm>
                <a:off x="6553200" y="3896771"/>
                <a:ext cx="8021320" cy="1015663"/>
              </a:xfrm>
              <a:prstGeom prst="rect">
                <a:avLst/>
              </a:prstGeom>
              <a:noFill/>
            </p:spPr>
            <p:txBody>
              <a:bodyPr wrap="square">
                <a:spAutoFit/>
              </a:bodyPr>
              <a:lstStyle/>
              <a:p>
                <a:pPr>
                  <a:buNone/>
                </a:pPr>
                <a:r>
                  <a:rPr lang="vi-VN" sz="1200" b="1" dirty="0"/>
                  <a:t>Trường hợp 1: A chọn C</a:t>
                </a:r>
              </a:p>
              <a:p>
                <a:pPr>
                  <a:buNone/>
                </a:pPr>
                <a:r>
                  <a:rPr lang="vi-VN" sz="1200" dirty="0"/>
                  <a:t>Nhìn hàng </a:t>
                </a:r>
                <a14:m>
                  <m:oMath xmlns:m="http://schemas.openxmlformats.org/officeDocument/2006/math">
                    <m:r>
                      <a:rPr lang="vi-VN" sz="1200" i="1">
                        <a:latin typeface="Cambria Math" panose="02040503050406030204" pitchFamily="18" charset="0"/>
                      </a:rPr>
                      <m:t>𝐴</m:t>
                    </m:r>
                    <m:r>
                      <a:rPr lang="vi-VN" sz="1200" i="0">
                        <a:latin typeface="Cambria Math" panose="02040503050406030204" pitchFamily="18" charset="0"/>
                      </a:rPr>
                      <m:t>:</m:t>
                    </m:r>
                    <m:r>
                      <a:rPr lang="vi-VN" sz="1200" i="1">
                        <a:latin typeface="Cambria Math" panose="02040503050406030204" pitchFamily="18" charset="0"/>
                      </a:rPr>
                      <m:t>𝐶</m:t>
                    </m:r>
                  </m:oMath>
                </a14:m>
                <a:r>
                  <a:rPr lang="vi-VN" sz="1200" dirty="0"/>
                  <a:t>:</a:t>
                </a:r>
              </a:p>
              <a:p>
                <a:pPr>
                  <a:buFont typeface="Arial" panose="020B0604020202020204" pitchFamily="34" charset="0"/>
                  <a:buChar char="•"/>
                </a:pPr>
                <a:r>
                  <a:rPr lang="vi-VN" sz="1200" dirty="0"/>
                  <a:t>Nếu B chọn C → B được </a:t>
                </a:r>
                <a:r>
                  <a:rPr lang="vi-VN" sz="1200" b="1" dirty="0"/>
                  <a:t>8</a:t>
                </a:r>
                <a:endParaRPr lang="vi-VN" sz="1200" dirty="0"/>
              </a:p>
              <a:p>
                <a:pPr>
                  <a:buFont typeface="Arial" panose="020B0604020202020204" pitchFamily="34" charset="0"/>
                  <a:buChar char="•"/>
                </a:pPr>
                <a:r>
                  <a:rPr lang="vi-VN" sz="1200" dirty="0"/>
                  <a:t>Nếu B chọn F → B được </a:t>
                </a:r>
                <a:r>
                  <a:rPr lang="vi-VN" sz="1200" b="1" dirty="0"/>
                  <a:t>10</a:t>
                </a:r>
                <a:endParaRPr lang="vi-VN" sz="1200" dirty="0"/>
              </a:p>
              <a:p>
                <a:pPr>
                  <a:buNone/>
                </a:pPr>
                <a:r>
                  <a:rPr lang="en-US" sz="1200" dirty="0"/>
                  <a:t> </a:t>
                </a:r>
                <a:r>
                  <a:rPr lang="vi-VN" sz="1200" dirty="0"/>
                  <a:t>B chọn </a:t>
                </a:r>
                <a:r>
                  <a:rPr lang="vi-VN" sz="1200" b="1" dirty="0"/>
                  <a:t>F</a:t>
                </a:r>
                <a:endParaRPr lang="vi-VN" sz="1200" dirty="0"/>
              </a:p>
            </p:txBody>
          </p:sp>
        </mc:Choice>
        <mc:Fallback>
          <p:sp>
            <p:nvSpPr>
              <p:cNvPr id="41" name="TextBox 40">
                <a:extLst>
                  <a:ext uri="{FF2B5EF4-FFF2-40B4-BE49-F238E27FC236}">
                    <a16:creationId xmlns:a16="http://schemas.microsoft.com/office/drawing/2014/main" id="{4BEFD8F8-0629-C5D8-B2A0-D1C1BEA3A4A1}"/>
                  </a:ext>
                </a:extLst>
              </p:cNvPr>
              <p:cNvSpPr txBox="1">
                <a:spLocks noRot="1" noChangeAspect="1" noMove="1" noResize="1" noEditPoints="1" noAdjustHandles="1" noChangeArrowheads="1" noChangeShapeType="1" noTextEdit="1"/>
              </p:cNvSpPr>
              <p:nvPr/>
            </p:nvSpPr>
            <p:spPr>
              <a:xfrm>
                <a:off x="6553200" y="3896771"/>
                <a:ext cx="8021320" cy="1015663"/>
              </a:xfrm>
              <a:prstGeom prst="rect">
                <a:avLst/>
              </a:prstGeom>
              <a:blipFill>
                <a:blip r:embed="rId11"/>
                <a:stretch>
                  <a:fillRect t="-599" b="-299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60FA3157-A5AC-8A29-3C29-953A25D76070}"/>
                  </a:ext>
                </a:extLst>
              </p:cNvPr>
              <p:cNvSpPr txBox="1"/>
              <p:nvPr/>
            </p:nvSpPr>
            <p:spPr>
              <a:xfrm>
                <a:off x="6634480" y="4983771"/>
                <a:ext cx="8021320" cy="1015663"/>
              </a:xfrm>
              <a:prstGeom prst="rect">
                <a:avLst/>
              </a:prstGeom>
              <a:noFill/>
            </p:spPr>
            <p:txBody>
              <a:bodyPr wrap="square">
                <a:spAutoFit/>
              </a:bodyPr>
              <a:lstStyle/>
              <a:p>
                <a:pPr>
                  <a:buNone/>
                </a:pPr>
                <a:r>
                  <a:rPr lang="vi-VN" sz="1200" b="1" dirty="0"/>
                  <a:t>Trường hợp 2: A chọn F</a:t>
                </a:r>
              </a:p>
              <a:p>
                <a:pPr>
                  <a:buNone/>
                </a:pPr>
                <a:r>
                  <a:rPr lang="vi-VN" sz="1200" dirty="0"/>
                  <a:t>Nhìn hàng </a:t>
                </a:r>
                <a14:m>
                  <m:oMath xmlns:m="http://schemas.openxmlformats.org/officeDocument/2006/math">
                    <m:r>
                      <a:rPr lang="vi-VN" sz="1200" i="1">
                        <a:latin typeface="Cambria Math" panose="02040503050406030204" pitchFamily="18" charset="0"/>
                      </a:rPr>
                      <m:t>𝐴</m:t>
                    </m:r>
                    <m:r>
                      <a:rPr lang="vi-VN" sz="1200" i="0">
                        <a:latin typeface="Cambria Math" panose="02040503050406030204" pitchFamily="18" charset="0"/>
                      </a:rPr>
                      <m:t>:</m:t>
                    </m:r>
                    <m:r>
                      <a:rPr lang="vi-VN" sz="1200" i="1">
                        <a:latin typeface="Cambria Math" panose="02040503050406030204" pitchFamily="18" charset="0"/>
                      </a:rPr>
                      <m:t>𝐹</m:t>
                    </m:r>
                  </m:oMath>
                </a14:m>
                <a:r>
                  <a:rPr lang="vi-VN" sz="1200" dirty="0"/>
                  <a:t>:</a:t>
                </a:r>
              </a:p>
              <a:p>
                <a:pPr>
                  <a:buFont typeface="Arial" panose="020B0604020202020204" pitchFamily="34" charset="0"/>
                  <a:buChar char="•"/>
                </a:pPr>
                <a:r>
                  <a:rPr lang="vi-VN" sz="1200" dirty="0"/>
                  <a:t>Nếu B chọn C → B được </a:t>
                </a:r>
                <a:r>
                  <a:rPr lang="vi-VN" sz="1200" b="1" dirty="0"/>
                  <a:t>2</a:t>
                </a:r>
                <a:endParaRPr lang="vi-VN" sz="1200" dirty="0"/>
              </a:p>
              <a:p>
                <a:pPr>
                  <a:buFont typeface="Arial" panose="020B0604020202020204" pitchFamily="34" charset="0"/>
                  <a:buChar char="•"/>
                </a:pPr>
                <a:r>
                  <a:rPr lang="vi-VN" sz="1200" dirty="0"/>
                  <a:t>Nếu B chọn F → B được </a:t>
                </a:r>
                <a:r>
                  <a:rPr lang="vi-VN" sz="1200" b="1" dirty="0"/>
                  <a:t>4</a:t>
                </a:r>
                <a:endParaRPr lang="vi-VN" sz="1200" dirty="0"/>
              </a:p>
              <a:p>
                <a:pPr>
                  <a:buNone/>
                </a:pPr>
                <a:r>
                  <a:rPr lang="en-US" sz="1200" dirty="0"/>
                  <a:t> </a:t>
                </a:r>
                <a:r>
                  <a:rPr lang="vi-VN" sz="1200" dirty="0"/>
                  <a:t>B chọn </a:t>
                </a:r>
                <a:r>
                  <a:rPr lang="vi-VN" sz="1200" b="1" dirty="0"/>
                  <a:t>F</a:t>
                </a:r>
                <a:endParaRPr lang="vi-VN" sz="1200" dirty="0"/>
              </a:p>
            </p:txBody>
          </p:sp>
        </mc:Choice>
        <mc:Fallback>
          <p:sp>
            <p:nvSpPr>
              <p:cNvPr id="43" name="TextBox 42">
                <a:extLst>
                  <a:ext uri="{FF2B5EF4-FFF2-40B4-BE49-F238E27FC236}">
                    <a16:creationId xmlns:a16="http://schemas.microsoft.com/office/drawing/2014/main" id="{60FA3157-A5AC-8A29-3C29-953A25D76070}"/>
                  </a:ext>
                </a:extLst>
              </p:cNvPr>
              <p:cNvSpPr txBox="1">
                <a:spLocks noRot="1" noChangeAspect="1" noMove="1" noResize="1" noEditPoints="1" noAdjustHandles="1" noChangeArrowheads="1" noChangeShapeType="1" noTextEdit="1"/>
              </p:cNvSpPr>
              <p:nvPr/>
            </p:nvSpPr>
            <p:spPr>
              <a:xfrm>
                <a:off x="6634480" y="4983771"/>
                <a:ext cx="8021320" cy="1015663"/>
              </a:xfrm>
              <a:prstGeom prst="rect">
                <a:avLst/>
              </a:prstGeom>
              <a:blipFill>
                <a:blip r:embed="rId12"/>
                <a:stretch>
                  <a:fillRect t="-1205" b="-3614"/>
                </a:stretch>
              </a:blipFill>
            </p:spPr>
            <p:txBody>
              <a:bodyPr/>
              <a:lstStyle/>
              <a:p>
                <a:r>
                  <a:rPr lang="en-US">
                    <a:noFill/>
                  </a:rPr>
                  <a:t> </a:t>
                </a:r>
              </a:p>
            </p:txBody>
          </p:sp>
        </mc:Fallback>
      </mc:AlternateContent>
      <p:pic>
        <p:nvPicPr>
          <p:cNvPr id="47" name="Picture 46">
            <a:extLst>
              <a:ext uri="{FF2B5EF4-FFF2-40B4-BE49-F238E27FC236}">
                <a16:creationId xmlns:a16="http://schemas.microsoft.com/office/drawing/2014/main" id="{CF116CCD-2A61-B988-B471-933AF5974E58}"/>
              </a:ext>
            </a:extLst>
          </p:cNvPr>
          <p:cNvPicPr>
            <a:picLocks noChangeAspect="1"/>
          </p:cNvPicPr>
          <p:nvPr/>
        </p:nvPicPr>
        <p:blipFill>
          <a:blip r:embed="rId13"/>
          <a:stretch>
            <a:fillRect/>
          </a:stretch>
        </p:blipFill>
        <p:spPr>
          <a:xfrm>
            <a:off x="9337560" y="3720975"/>
            <a:ext cx="1543050" cy="514350"/>
          </a:xfrm>
          <a:prstGeom prst="rect">
            <a:avLst/>
          </a:prstGeom>
        </p:spPr>
      </p:pic>
      <p:pic>
        <p:nvPicPr>
          <p:cNvPr id="49" name="Picture 48">
            <a:extLst>
              <a:ext uri="{FF2B5EF4-FFF2-40B4-BE49-F238E27FC236}">
                <a16:creationId xmlns:a16="http://schemas.microsoft.com/office/drawing/2014/main" id="{D6A19693-71F9-6129-8FB8-6E067F3DF378}"/>
              </a:ext>
            </a:extLst>
          </p:cNvPr>
          <p:cNvPicPr>
            <a:picLocks noChangeAspect="1"/>
          </p:cNvPicPr>
          <p:nvPr/>
        </p:nvPicPr>
        <p:blipFill>
          <a:blip r:embed="rId14"/>
          <a:stretch>
            <a:fillRect/>
          </a:stretch>
        </p:blipFill>
        <p:spPr>
          <a:xfrm>
            <a:off x="9466580" y="4282362"/>
            <a:ext cx="1657350" cy="600075"/>
          </a:xfrm>
          <a:prstGeom prst="rect">
            <a:avLst/>
          </a:prstGeom>
        </p:spPr>
      </p:pic>
    </p:spTree>
    <p:extLst>
      <p:ext uri="{BB962C8B-B14F-4D97-AF65-F5344CB8AC3E}">
        <p14:creationId xmlns:p14="http://schemas.microsoft.com/office/powerpoint/2010/main" val="119135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E79C855-DDD0-85B3-3478-5310FA7D2BC4}"/>
              </a:ext>
            </a:extLst>
          </p:cNvPr>
          <p:cNvSpPr txBox="1"/>
          <p:nvPr/>
        </p:nvSpPr>
        <p:spPr>
          <a:xfrm>
            <a:off x="680720" y="570468"/>
            <a:ext cx="6096000" cy="369332"/>
          </a:xfrm>
          <a:prstGeom prst="rect">
            <a:avLst/>
          </a:prstGeom>
          <a:noFill/>
        </p:spPr>
        <p:txBody>
          <a:bodyPr wrap="square">
            <a:spAutoFit/>
          </a:bodyPr>
          <a:lstStyle/>
          <a:p>
            <a:r>
              <a:rPr lang="en-US" b="1" dirty="0" err="1"/>
              <a:t>Bước</a:t>
            </a:r>
            <a:r>
              <a:rPr lang="en-US" b="1" dirty="0"/>
              <a:t> 6. </a:t>
            </a:r>
            <a:r>
              <a:rPr lang="en-US" b="1" dirty="0" err="1"/>
              <a:t>Tìm</a:t>
            </a:r>
            <a:r>
              <a:rPr lang="en-US" b="1" dirty="0"/>
              <a:t> </a:t>
            </a:r>
            <a:r>
              <a:rPr lang="en-US" b="1" dirty="0" err="1"/>
              <a:t>cân</a:t>
            </a:r>
            <a:r>
              <a:rPr lang="en-US" b="1" dirty="0"/>
              <a:t> </a:t>
            </a:r>
            <a:r>
              <a:rPr lang="en-US" b="1" dirty="0" err="1"/>
              <a:t>bằng</a:t>
            </a:r>
            <a:r>
              <a:rPr lang="en-US" b="1" dirty="0"/>
              <a:t> Nash</a:t>
            </a:r>
          </a:p>
        </p:txBody>
      </p:sp>
      <p:sp>
        <p:nvSpPr>
          <p:cNvPr id="9" name="TextBox 8">
            <a:extLst>
              <a:ext uri="{FF2B5EF4-FFF2-40B4-BE49-F238E27FC236}">
                <a16:creationId xmlns:a16="http://schemas.microsoft.com/office/drawing/2014/main" id="{02E27AEE-3281-4542-0911-4E71B3CDBAA0}"/>
              </a:ext>
            </a:extLst>
          </p:cNvPr>
          <p:cNvSpPr txBox="1"/>
          <p:nvPr/>
        </p:nvSpPr>
        <p:spPr>
          <a:xfrm>
            <a:off x="802640" y="1158855"/>
            <a:ext cx="10972800" cy="369332"/>
          </a:xfrm>
          <a:prstGeom prst="rect">
            <a:avLst/>
          </a:prstGeom>
          <a:noFill/>
        </p:spPr>
        <p:txBody>
          <a:bodyPr wrap="square">
            <a:spAutoFit/>
          </a:bodyPr>
          <a:lstStyle/>
          <a:p>
            <a:pPr>
              <a:buNone/>
            </a:pPr>
            <a:r>
              <a:rPr lang="vi-VN" dirty="0"/>
              <a:t>Một kết quả là cân bằng Nash nếu:</a:t>
            </a:r>
            <a:r>
              <a:rPr lang="en-US" dirty="0"/>
              <a:t> </a:t>
            </a:r>
            <a:r>
              <a:rPr lang="vi-VN" dirty="0"/>
              <a:t>Không ai muốn đổi chiến lược một mình, khi người kia giữ nguyên.</a:t>
            </a:r>
          </a:p>
        </p:txBody>
      </p:sp>
      <p:sp>
        <p:nvSpPr>
          <p:cNvPr id="10" name="Rectangle 1">
            <a:extLst>
              <a:ext uri="{FF2B5EF4-FFF2-40B4-BE49-F238E27FC236}">
                <a16:creationId xmlns:a16="http://schemas.microsoft.com/office/drawing/2014/main" id="{25D834C7-DFA5-0FE6-B652-B2074BAA50B6}"/>
              </a:ext>
            </a:extLst>
          </p:cNvPr>
          <p:cNvSpPr>
            <a:spLocks noChangeArrowheads="1"/>
          </p:cNvSpPr>
          <p:nvPr/>
        </p:nvSpPr>
        <p:spPr bwMode="auto">
          <a:xfrm>
            <a:off x="802640" y="245872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0" i="0" u="none" strike="noStrike" cap="none" normalizeH="0" baseline="0" dirty="0" err="1">
                <a:ln>
                  <a:noFill/>
                </a:ln>
                <a:solidFill>
                  <a:schemeClr val="tx1"/>
                </a:solidFill>
                <a:effectLst/>
                <a:latin typeface="Arial" panose="020B0604020202020204" pitchFamily="34" charset="0"/>
              </a:rPr>
              <a:t>chọn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tốt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nhất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là</a:t>
            </a:r>
            <a:r>
              <a:rPr kumimoji="0" lang="en-US" altLang="en-US" sz="1800" b="0" i="0" u="none" strike="noStrike" cap="none" normalizeH="0" baseline="0" dirty="0">
                <a:ln>
                  <a:noFill/>
                </a:ln>
                <a:solidFill>
                  <a:schemeClr val="tx1"/>
                </a:solidFill>
                <a:effectLst/>
                <a:latin typeface="Arial" panose="020B0604020202020204" pitchFamily="34" charset="0"/>
              </a:rPr>
              <a:t> 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 </a:t>
            </a:r>
            <a:r>
              <a:rPr kumimoji="0" lang="en-US" altLang="en-US" sz="1800" b="0" i="0" u="none" strike="noStrike" cap="none" normalizeH="0" baseline="0" dirty="0" err="1">
                <a:ln>
                  <a:noFill/>
                </a:ln>
                <a:solidFill>
                  <a:schemeClr val="tx1"/>
                </a:solidFill>
                <a:effectLst/>
                <a:latin typeface="Arial" panose="020B0604020202020204" pitchFamily="34" charset="0"/>
              </a:rPr>
              <a:t>chọn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tốt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nhất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cũng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là</a:t>
            </a:r>
            <a:r>
              <a:rPr kumimoji="0" lang="en-US" altLang="en-US" sz="1800" b="0" i="0" u="none" strike="noStrike" cap="none" normalizeH="0" baseline="0" dirty="0">
                <a:ln>
                  <a:noFill/>
                </a:ln>
                <a:solidFill>
                  <a:schemeClr val="tx1"/>
                </a:solidFill>
                <a:effectLst/>
                <a:latin typeface="Arial" panose="020B0604020202020204" pitchFamily="34" charset="0"/>
              </a:rPr>
              <a:t> F</a:t>
            </a:r>
          </a:p>
        </p:txBody>
      </p:sp>
      <p:sp>
        <p:nvSpPr>
          <p:cNvPr id="12" name="TextBox 11">
            <a:extLst>
              <a:ext uri="{FF2B5EF4-FFF2-40B4-BE49-F238E27FC236}">
                <a16:creationId xmlns:a16="http://schemas.microsoft.com/office/drawing/2014/main" id="{908B21C0-A2CB-010F-9404-9752A12D5B2E}"/>
              </a:ext>
            </a:extLst>
          </p:cNvPr>
          <p:cNvSpPr txBox="1"/>
          <p:nvPr/>
        </p:nvSpPr>
        <p:spPr>
          <a:xfrm>
            <a:off x="4968240" y="2274054"/>
            <a:ext cx="6096000" cy="369332"/>
          </a:xfrm>
          <a:prstGeom prst="rect">
            <a:avLst/>
          </a:prstGeom>
          <a:noFill/>
        </p:spPr>
        <p:txBody>
          <a:bodyPr wrap="square">
            <a:spAutoFit/>
          </a:bodyPr>
          <a:lstStyle/>
          <a:p>
            <a:r>
              <a:rPr lang="en-US" dirty="0" err="1"/>
              <a:t>Nên</a:t>
            </a:r>
            <a:r>
              <a:rPr lang="en-US" dirty="0"/>
              <a:t> </a:t>
            </a:r>
            <a:r>
              <a:rPr lang="en-US" dirty="0" err="1"/>
              <a:t>kết</a:t>
            </a:r>
            <a:r>
              <a:rPr lang="en-US" dirty="0"/>
              <a:t> </a:t>
            </a:r>
            <a:r>
              <a:rPr lang="en-US" dirty="0" err="1"/>
              <a:t>quả</a:t>
            </a:r>
            <a:r>
              <a:rPr lang="en-US" dirty="0"/>
              <a:t> </a:t>
            </a:r>
            <a:r>
              <a:rPr lang="en-US" dirty="0" err="1"/>
              <a:t>cân</a:t>
            </a:r>
            <a:r>
              <a:rPr lang="en-US" dirty="0"/>
              <a:t> </a:t>
            </a:r>
            <a:r>
              <a:rPr lang="en-US" dirty="0" err="1"/>
              <a:t>bằng</a:t>
            </a:r>
            <a:r>
              <a:rPr lang="en-US" dirty="0"/>
              <a:t> </a:t>
            </a:r>
            <a:r>
              <a:rPr lang="en-US" dirty="0" err="1"/>
              <a:t>là</a:t>
            </a:r>
            <a:r>
              <a:rPr lang="en-US" dirty="0"/>
              <a:t>: (F,F)</a:t>
            </a:r>
          </a:p>
        </p:txBody>
      </p:sp>
      <p:sp>
        <p:nvSpPr>
          <p:cNvPr id="14" name="TextBox 13">
            <a:extLst>
              <a:ext uri="{FF2B5EF4-FFF2-40B4-BE49-F238E27FC236}">
                <a16:creationId xmlns:a16="http://schemas.microsoft.com/office/drawing/2014/main" id="{060E6A7C-E79C-F3FD-C553-62AC0F8C21F6}"/>
              </a:ext>
            </a:extLst>
          </p:cNvPr>
          <p:cNvSpPr txBox="1"/>
          <p:nvPr/>
        </p:nvSpPr>
        <p:spPr>
          <a:xfrm>
            <a:off x="934720" y="2940148"/>
            <a:ext cx="6096000" cy="369332"/>
          </a:xfrm>
          <a:prstGeom prst="rect">
            <a:avLst/>
          </a:prstGeom>
          <a:noFill/>
        </p:spPr>
        <p:txBody>
          <a:bodyPr wrap="square">
            <a:spAutoFit/>
          </a:bodyPr>
          <a:lstStyle/>
          <a:p>
            <a:r>
              <a:rPr lang="vi-VN" dirty="0"/>
              <a:t>Payoff tương ứng:</a:t>
            </a:r>
            <a:endParaRPr lang="en-US" dirty="0"/>
          </a:p>
        </p:txBody>
      </p:sp>
      <p:pic>
        <p:nvPicPr>
          <p:cNvPr id="16" name="Picture 15">
            <a:extLst>
              <a:ext uri="{FF2B5EF4-FFF2-40B4-BE49-F238E27FC236}">
                <a16:creationId xmlns:a16="http://schemas.microsoft.com/office/drawing/2014/main" id="{254A8852-ED59-1929-7B1A-83CCAB0C733E}"/>
              </a:ext>
            </a:extLst>
          </p:cNvPr>
          <p:cNvPicPr>
            <a:picLocks noChangeAspect="1"/>
          </p:cNvPicPr>
          <p:nvPr/>
        </p:nvPicPr>
        <p:blipFill>
          <a:blip r:embed="rId2"/>
          <a:stretch>
            <a:fillRect/>
          </a:stretch>
        </p:blipFill>
        <p:spPr>
          <a:xfrm>
            <a:off x="4328160" y="2712507"/>
            <a:ext cx="4643120" cy="815684"/>
          </a:xfrm>
          <a:prstGeom prst="rect">
            <a:avLst/>
          </a:prstGeom>
        </p:spPr>
      </p:pic>
      <p:pic>
        <p:nvPicPr>
          <p:cNvPr id="18" name="Picture 17">
            <a:extLst>
              <a:ext uri="{FF2B5EF4-FFF2-40B4-BE49-F238E27FC236}">
                <a16:creationId xmlns:a16="http://schemas.microsoft.com/office/drawing/2014/main" id="{0DDECD25-1540-D2CA-5DDE-6AA777BC8BE1}"/>
              </a:ext>
            </a:extLst>
          </p:cNvPr>
          <p:cNvPicPr>
            <a:picLocks noChangeAspect="1"/>
          </p:cNvPicPr>
          <p:nvPr/>
        </p:nvPicPr>
        <p:blipFill>
          <a:blip r:embed="rId3"/>
          <a:stretch>
            <a:fillRect/>
          </a:stretch>
        </p:blipFill>
        <p:spPr>
          <a:xfrm>
            <a:off x="4517929" y="3429000"/>
            <a:ext cx="3542222" cy="726949"/>
          </a:xfrm>
          <a:prstGeom prst="rect">
            <a:avLst/>
          </a:prstGeom>
        </p:spPr>
      </p:pic>
      <p:sp>
        <p:nvSpPr>
          <p:cNvPr id="20" name="TextBox 19">
            <a:extLst>
              <a:ext uri="{FF2B5EF4-FFF2-40B4-BE49-F238E27FC236}">
                <a16:creationId xmlns:a16="http://schemas.microsoft.com/office/drawing/2014/main" id="{84E60CCB-1D3B-2B28-3A95-51CEBD33A628}"/>
              </a:ext>
            </a:extLst>
          </p:cNvPr>
          <p:cNvSpPr txBox="1"/>
          <p:nvPr/>
        </p:nvSpPr>
        <p:spPr>
          <a:xfrm>
            <a:off x="934720" y="3352455"/>
            <a:ext cx="6096000" cy="369332"/>
          </a:xfrm>
          <a:prstGeom prst="rect">
            <a:avLst/>
          </a:prstGeom>
          <a:noFill/>
        </p:spPr>
        <p:txBody>
          <a:bodyPr wrap="square">
            <a:spAutoFit/>
          </a:bodyPr>
          <a:lstStyle/>
          <a:p>
            <a:r>
              <a:rPr lang="en-US" b="1" dirty="0"/>
              <a:t>Cân </a:t>
            </a:r>
            <a:r>
              <a:rPr lang="en-US" b="1" dirty="0" err="1"/>
              <a:t>bằng</a:t>
            </a:r>
            <a:r>
              <a:rPr lang="en-US" b="1" dirty="0"/>
              <a:t> Nash</a:t>
            </a:r>
          </a:p>
        </p:txBody>
      </p:sp>
      <p:sp>
        <p:nvSpPr>
          <p:cNvPr id="22" name="TextBox 21">
            <a:extLst>
              <a:ext uri="{FF2B5EF4-FFF2-40B4-BE49-F238E27FC236}">
                <a16:creationId xmlns:a16="http://schemas.microsoft.com/office/drawing/2014/main" id="{8BC68FF2-DB7B-3B58-F803-9843C70C70C3}"/>
              </a:ext>
            </a:extLst>
          </p:cNvPr>
          <p:cNvSpPr txBox="1"/>
          <p:nvPr/>
        </p:nvSpPr>
        <p:spPr>
          <a:xfrm>
            <a:off x="802640" y="4438280"/>
            <a:ext cx="6096000" cy="369332"/>
          </a:xfrm>
          <a:prstGeom prst="rect">
            <a:avLst/>
          </a:prstGeom>
          <a:noFill/>
        </p:spPr>
        <p:txBody>
          <a:bodyPr wrap="square">
            <a:spAutoFit/>
          </a:bodyPr>
          <a:lstStyle/>
          <a:p>
            <a:r>
              <a:rPr lang="en-US" b="1" dirty="0" err="1"/>
              <a:t>Kiểm</a:t>
            </a:r>
            <a:r>
              <a:rPr lang="en-US" b="1" dirty="0"/>
              <a:t> </a:t>
            </a:r>
            <a:r>
              <a:rPr lang="en-US" b="1" dirty="0" err="1"/>
              <a:t>tra</a:t>
            </a:r>
            <a:r>
              <a:rPr lang="en-US" b="1" dirty="0"/>
              <a:t> </a:t>
            </a:r>
            <a:r>
              <a:rPr lang="en-US" b="1" dirty="0" err="1"/>
              <a:t>lại</a:t>
            </a:r>
            <a:r>
              <a:rPr lang="en-US" b="1" dirty="0"/>
              <a:t> </a:t>
            </a:r>
            <a:r>
              <a:rPr lang="en-US" b="1" dirty="0" err="1"/>
              <a:t>bằng</a:t>
            </a:r>
            <a:r>
              <a:rPr lang="en-US" b="1" dirty="0"/>
              <a:t> </a:t>
            </a:r>
            <a:r>
              <a:rPr lang="en-US" b="1" dirty="0" err="1"/>
              <a:t>định</a:t>
            </a:r>
            <a:r>
              <a:rPr lang="en-US" b="1" dirty="0"/>
              <a:t> </a:t>
            </a:r>
            <a:r>
              <a:rPr lang="en-US" b="1" dirty="0" err="1"/>
              <a:t>nghĩa</a:t>
            </a:r>
            <a:r>
              <a:rPr lang="en-US" b="1" dirty="0"/>
              <a:t> Nash</a:t>
            </a:r>
          </a:p>
        </p:txBody>
      </p: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8B856AA9-158A-46EF-7C23-3A3BE02B9AFF}"/>
                  </a:ext>
                </a:extLst>
              </p:cNvPr>
              <p:cNvSpPr txBox="1"/>
              <p:nvPr/>
            </p:nvSpPr>
            <p:spPr>
              <a:xfrm>
                <a:off x="934720" y="4915417"/>
                <a:ext cx="6096000" cy="369332"/>
              </a:xfrm>
              <a:prstGeom prst="rect">
                <a:avLst/>
              </a:prstGeom>
              <a:noFill/>
            </p:spPr>
            <p:txBody>
              <a:bodyPr wrap="square">
                <a:spAutoFit/>
              </a:bodyPr>
              <a:lstStyle/>
              <a:p>
                <a:r>
                  <a:rPr lang="en-US" dirty="0" err="1"/>
                  <a:t>Nếu</a:t>
                </a:r>
                <a:r>
                  <a:rPr lang="en-US" dirty="0"/>
                  <a:t> B </a:t>
                </a:r>
                <a:r>
                  <a:rPr lang="en-US" dirty="0" err="1"/>
                  <a:t>giữ</a:t>
                </a:r>
                <a:r>
                  <a:rPr lang="en-US" dirty="0"/>
                  <a:t> </a:t>
                </a:r>
                <a14:m>
                  <m:oMath xmlns:m="http://schemas.openxmlformats.org/officeDocument/2006/math">
                    <m:r>
                      <a:rPr lang="en-US" i="1">
                        <a:latin typeface="Cambria Math" panose="02040503050406030204" pitchFamily="18" charset="0"/>
                      </a:rPr>
                      <m:t>𝐹</m:t>
                    </m:r>
                  </m:oMath>
                </a14:m>
                <a:r>
                  <a:rPr lang="en-US" dirty="0"/>
                  <a:t>, A so </a:t>
                </a:r>
                <a:r>
                  <a:rPr lang="en-US" dirty="0" err="1"/>
                  <a:t>sánh</a:t>
                </a:r>
                <a:r>
                  <a:rPr lang="en-US" dirty="0"/>
                  <a:t>:</a:t>
                </a:r>
              </a:p>
            </p:txBody>
          </p:sp>
        </mc:Choice>
        <mc:Fallback>
          <p:sp>
            <p:nvSpPr>
              <p:cNvPr id="24" name="TextBox 23">
                <a:extLst>
                  <a:ext uri="{FF2B5EF4-FFF2-40B4-BE49-F238E27FC236}">
                    <a16:creationId xmlns:a16="http://schemas.microsoft.com/office/drawing/2014/main" id="{8B856AA9-158A-46EF-7C23-3A3BE02B9AFF}"/>
                  </a:ext>
                </a:extLst>
              </p:cNvPr>
              <p:cNvSpPr txBox="1">
                <a:spLocks noRot="1" noChangeAspect="1" noMove="1" noResize="1" noEditPoints="1" noAdjustHandles="1" noChangeArrowheads="1" noChangeShapeType="1" noTextEdit="1"/>
              </p:cNvSpPr>
              <p:nvPr/>
            </p:nvSpPr>
            <p:spPr>
              <a:xfrm>
                <a:off x="934720" y="4915417"/>
                <a:ext cx="6096000" cy="369332"/>
              </a:xfrm>
              <a:prstGeom prst="rect">
                <a:avLst/>
              </a:prstGeom>
              <a:blipFill>
                <a:blip r:embed="rId4"/>
                <a:stretch>
                  <a:fillRect l="-800" t="-8197" b="-24590"/>
                </a:stretch>
              </a:blipFill>
            </p:spPr>
            <p:txBody>
              <a:bodyPr/>
              <a:lstStyle/>
              <a:p>
                <a:r>
                  <a:rPr lang="en-US">
                    <a:noFill/>
                  </a:rPr>
                  <a:t> </a:t>
                </a:r>
              </a:p>
            </p:txBody>
          </p:sp>
        </mc:Fallback>
      </mc:AlternateContent>
      <p:pic>
        <p:nvPicPr>
          <p:cNvPr id="30" name="Picture 29">
            <a:extLst>
              <a:ext uri="{FF2B5EF4-FFF2-40B4-BE49-F238E27FC236}">
                <a16:creationId xmlns:a16="http://schemas.microsoft.com/office/drawing/2014/main" id="{1A8197E4-85C7-C307-00E0-99B99E8D4BD2}"/>
              </a:ext>
            </a:extLst>
          </p:cNvPr>
          <p:cNvPicPr>
            <a:picLocks noChangeAspect="1"/>
          </p:cNvPicPr>
          <p:nvPr/>
        </p:nvPicPr>
        <p:blipFill>
          <a:blip r:embed="rId5"/>
          <a:stretch>
            <a:fillRect/>
          </a:stretch>
        </p:blipFill>
        <p:spPr>
          <a:xfrm>
            <a:off x="4129087" y="4915417"/>
            <a:ext cx="3324225" cy="504825"/>
          </a:xfrm>
          <a:prstGeom prst="rect">
            <a:avLst/>
          </a:prstGeom>
        </p:spPr>
      </p:pic>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63A59BE6-01FE-F5E6-338E-1540A61656B9}"/>
                  </a:ext>
                </a:extLst>
              </p:cNvPr>
              <p:cNvSpPr txBox="1"/>
              <p:nvPr/>
            </p:nvSpPr>
            <p:spPr>
              <a:xfrm>
                <a:off x="8060151" y="4885896"/>
                <a:ext cx="6096000" cy="369332"/>
              </a:xfrm>
              <a:prstGeom prst="rect">
                <a:avLst/>
              </a:prstGeom>
              <a:noFill/>
            </p:spPr>
            <p:txBody>
              <a:bodyPr wrap="square">
                <a:spAutoFit/>
              </a:bodyPr>
              <a:lstStyle/>
              <a:p>
                <a:r>
                  <a:rPr lang="pt-BR" dirty="0"/>
                  <a:t>A không đổi vì </a:t>
                </a:r>
                <a14:m>
                  <m:oMath xmlns:m="http://schemas.openxmlformats.org/officeDocument/2006/math">
                    <m:r>
                      <a:rPr lang="pt-BR">
                        <a:latin typeface="Cambria Math" panose="02040503050406030204" pitchFamily="18" charset="0"/>
                      </a:rPr>
                      <m:t>4</m:t>
                    </m:r>
                    <m:r>
                      <a:rPr lang="pt-BR" i="0">
                        <a:latin typeface="Cambria Math" panose="02040503050406030204" pitchFamily="18" charset="0"/>
                      </a:rPr>
                      <m:t>≥</m:t>
                    </m:r>
                    <m:r>
                      <a:rPr lang="pt-BR" i="0">
                        <a:latin typeface="Cambria Math" panose="02040503050406030204" pitchFamily="18" charset="0"/>
                      </a:rPr>
                      <m:t>2</m:t>
                    </m:r>
                  </m:oMath>
                </a14:m>
                <a:endParaRPr lang="en-US" dirty="0"/>
              </a:p>
            </p:txBody>
          </p:sp>
        </mc:Choice>
        <mc:Fallback>
          <p:sp>
            <p:nvSpPr>
              <p:cNvPr id="32" name="TextBox 31">
                <a:extLst>
                  <a:ext uri="{FF2B5EF4-FFF2-40B4-BE49-F238E27FC236}">
                    <a16:creationId xmlns:a16="http://schemas.microsoft.com/office/drawing/2014/main" id="{63A59BE6-01FE-F5E6-338E-1540A61656B9}"/>
                  </a:ext>
                </a:extLst>
              </p:cNvPr>
              <p:cNvSpPr txBox="1">
                <a:spLocks noRot="1" noChangeAspect="1" noMove="1" noResize="1" noEditPoints="1" noAdjustHandles="1" noChangeArrowheads="1" noChangeShapeType="1" noTextEdit="1"/>
              </p:cNvSpPr>
              <p:nvPr/>
            </p:nvSpPr>
            <p:spPr>
              <a:xfrm>
                <a:off x="8060151" y="4885896"/>
                <a:ext cx="6096000" cy="369332"/>
              </a:xfrm>
              <a:prstGeom prst="rect">
                <a:avLst/>
              </a:prstGeom>
              <a:blipFill>
                <a:blip r:embed="rId6"/>
                <a:stretch>
                  <a:fillRect l="-800" t="-8197"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23F83D3C-932A-87B2-9207-8690086DCC9A}"/>
                  </a:ext>
                </a:extLst>
              </p:cNvPr>
              <p:cNvSpPr txBox="1"/>
              <p:nvPr/>
            </p:nvSpPr>
            <p:spPr>
              <a:xfrm>
                <a:off x="934720" y="5392554"/>
                <a:ext cx="7076440" cy="369332"/>
              </a:xfrm>
              <a:prstGeom prst="rect">
                <a:avLst/>
              </a:prstGeom>
              <a:noFill/>
            </p:spPr>
            <p:txBody>
              <a:bodyPr wrap="square">
                <a:spAutoFit/>
              </a:bodyPr>
              <a:lstStyle/>
              <a:p>
                <a:r>
                  <a:rPr lang="en-US" dirty="0" err="1"/>
                  <a:t>Nếu</a:t>
                </a:r>
                <a:r>
                  <a:rPr lang="en-US" dirty="0"/>
                  <a:t> A </a:t>
                </a:r>
                <a:r>
                  <a:rPr lang="en-US" dirty="0" err="1"/>
                  <a:t>giữ</a:t>
                </a:r>
                <a:r>
                  <a:rPr lang="en-US" dirty="0"/>
                  <a:t> </a:t>
                </a:r>
                <a14:m>
                  <m:oMath xmlns:m="http://schemas.openxmlformats.org/officeDocument/2006/math">
                    <m:r>
                      <a:rPr lang="en-US" i="1">
                        <a:latin typeface="Cambria Math" panose="02040503050406030204" pitchFamily="18" charset="0"/>
                      </a:rPr>
                      <m:t>𝐹</m:t>
                    </m:r>
                  </m:oMath>
                </a14:m>
                <a:r>
                  <a:rPr lang="en-US" dirty="0"/>
                  <a:t>, B so </a:t>
                </a:r>
                <a:r>
                  <a:rPr lang="en-US" dirty="0" err="1"/>
                  <a:t>sánh</a:t>
                </a:r>
                <a:r>
                  <a:rPr lang="en-US" dirty="0"/>
                  <a:t>:</a:t>
                </a:r>
              </a:p>
            </p:txBody>
          </p:sp>
        </mc:Choice>
        <mc:Fallback>
          <p:sp>
            <p:nvSpPr>
              <p:cNvPr id="34" name="TextBox 33">
                <a:extLst>
                  <a:ext uri="{FF2B5EF4-FFF2-40B4-BE49-F238E27FC236}">
                    <a16:creationId xmlns:a16="http://schemas.microsoft.com/office/drawing/2014/main" id="{23F83D3C-932A-87B2-9207-8690086DCC9A}"/>
                  </a:ext>
                </a:extLst>
              </p:cNvPr>
              <p:cNvSpPr txBox="1">
                <a:spLocks noRot="1" noChangeAspect="1" noMove="1" noResize="1" noEditPoints="1" noAdjustHandles="1" noChangeArrowheads="1" noChangeShapeType="1" noTextEdit="1"/>
              </p:cNvSpPr>
              <p:nvPr/>
            </p:nvSpPr>
            <p:spPr>
              <a:xfrm>
                <a:off x="934720" y="5392554"/>
                <a:ext cx="7076440" cy="369332"/>
              </a:xfrm>
              <a:prstGeom prst="rect">
                <a:avLst/>
              </a:prstGeom>
              <a:blipFill>
                <a:blip r:embed="rId7"/>
                <a:stretch>
                  <a:fillRect l="-689" t="-10000" b="-26667"/>
                </a:stretch>
              </a:blipFill>
            </p:spPr>
            <p:txBody>
              <a:bodyPr/>
              <a:lstStyle/>
              <a:p>
                <a:r>
                  <a:rPr lang="en-US">
                    <a:noFill/>
                  </a:rPr>
                  <a:t> </a:t>
                </a:r>
              </a:p>
            </p:txBody>
          </p:sp>
        </mc:Fallback>
      </mc:AlternateContent>
      <p:pic>
        <p:nvPicPr>
          <p:cNvPr id="36" name="Picture 35">
            <a:extLst>
              <a:ext uri="{FF2B5EF4-FFF2-40B4-BE49-F238E27FC236}">
                <a16:creationId xmlns:a16="http://schemas.microsoft.com/office/drawing/2014/main" id="{4AFDABB5-3179-9FA0-09C3-27481901D52E}"/>
              </a:ext>
            </a:extLst>
          </p:cNvPr>
          <p:cNvPicPr>
            <a:picLocks noChangeAspect="1"/>
          </p:cNvPicPr>
          <p:nvPr/>
        </p:nvPicPr>
        <p:blipFill>
          <a:blip r:embed="rId8"/>
          <a:stretch>
            <a:fillRect/>
          </a:stretch>
        </p:blipFill>
        <p:spPr>
          <a:xfrm>
            <a:off x="4043680" y="5437207"/>
            <a:ext cx="3419475" cy="523875"/>
          </a:xfrm>
          <a:prstGeom prst="rect">
            <a:avLst/>
          </a:prstGeom>
        </p:spPr>
      </p:pic>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E1043BCE-0B3E-7BA6-EAEE-B0AFCBED262B}"/>
                  </a:ext>
                </a:extLst>
              </p:cNvPr>
              <p:cNvSpPr txBox="1"/>
              <p:nvPr/>
            </p:nvSpPr>
            <p:spPr>
              <a:xfrm>
                <a:off x="8060151" y="5446747"/>
                <a:ext cx="7076440" cy="369332"/>
              </a:xfrm>
              <a:prstGeom prst="rect">
                <a:avLst/>
              </a:prstGeom>
              <a:noFill/>
            </p:spPr>
            <p:txBody>
              <a:bodyPr wrap="square">
                <a:spAutoFit/>
              </a:bodyPr>
              <a:lstStyle/>
              <a:p>
                <a:r>
                  <a:rPr lang="en-US" dirty="0"/>
                  <a:t>B </a:t>
                </a:r>
                <a:r>
                  <a:rPr lang="en-US" dirty="0" err="1"/>
                  <a:t>không</a:t>
                </a:r>
                <a:r>
                  <a:rPr lang="en-US" dirty="0"/>
                  <a:t> </a:t>
                </a:r>
                <a:r>
                  <a:rPr lang="en-US" dirty="0" err="1"/>
                  <a:t>đổi</a:t>
                </a:r>
                <a:r>
                  <a:rPr lang="en-US" dirty="0"/>
                  <a:t> </a:t>
                </a:r>
                <a:r>
                  <a:rPr lang="en-US" dirty="0" err="1"/>
                  <a:t>vì</a:t>
                </a:r>
                <a:r>
                  <a:rPr lang="en-US" dirty="0"/>
                  <a:t> </a:t>
                </a:r>
                <a14:m>
                  <m:oMath xmlns:m="http://schemas.openxmlformats.org/officeDocument/2006/math">
                    <m:r>
                      <a:rPr lang="en-US">
                        <a:latin typeface="Cambria Math" panose="02040503050406030204" pitchFamily="18" charset="0"/>
                      </a:rPr>
                      <m:t>4</m:t>
                    </m:r>
                    <m:r>
                      <a:rPr lang="en-US" i="0">
                        <a:latin typeface="Cambria Math" panose="02040503050406030204" pitchFamily="18" charset="0"/>
                      </a:rPr>
                      <m:t>≥</m:t>
                    </m:r>
                    <m:r>
                      <a:rPr lang="en-US" i="0">
                        <a:latin typeface="Cambria Math" panose="02040503050406030204" pitchFamily="18" charset="0"/>
                      </a:rPr>
                      <m:t>2</m:t>
                    </m:r>
                  </m:oMath>
                </a14:m>
                <a:endParaRPr lang="en-US" dirty="0"/>
              </a:p>
            </p:txBody>
          </p:sp>
        </mc:Choice>
        <mc:Fallback>
          <p:sp>
            <p:nvSpPr>
              <p:cNvPr id="38" name="TextBox 37">
                <a:extLst>
                  <a:ext uri="{FF2B5EF4-FFF2-40B4-BE49-F238E27FC236}">
                    <a16:creationId xmlns:a16="http://schemas.microsoft.com/office/drawing/2014/main" id="{E1043BCE-0B3E-7BA6-EAEE-B0AFCBED262B}"/>
                  </a:ext>
                </a:extLst>
              </p:cNvPr>
              <p:cNvSpPr txBox="1">
                <a:spLocks noRot="1" noChangeAspect="1" noMove="1" noResize="1" noEditPoints="1" noAdjustHandles="1" noChangeArrowheads="1" noChangeShapeType="1" noTextEdit="1"/>
              </p:cNvSpPr>
              <p:nvPr/>
            </p:nvSpPr>
            <p:spPr>
              <a:xfrm>
                <a:off x="8060151" y="5446747"/>
                <a:ext cx="7076440" cy="369332"/>
              </a:xfrm>
              <a:prstGeom prst="rect">
                <a:avLst/>
              </a:prstGeom>
              <a:blipFill>
                <a:blip r:embed="rId9"/>
                <a:stretch>
                  <a:fillRect l="-689" t="-8197" b="-24590"/>
                </a:stretch>
              </a:blipFill>
            </p:spPr>
            <p:txBody>
              <a:bodyPr/>
              <a:lstStyle/>
              <a:p>
                <a:r>
                  <a:rPr lang="en-US">
                    <a:noFill/>
                  </a:rPr>
                  <a:t> </a:t>
                </a:r>
              </a:p>
            </p:txBody>
          </p:sp>
        </mc:Fallback>
      </mc:AlternateContent>
    </p:spTree>
    <p:extLst>
      <p:ext uri="{BB962C8B-B14F-4D97-AF65-F5344CB8AC3E}">
        <p14:creationId xmlns:p14="http://schemas.microsoft.com/office/powerpoint/2010/main" val="41792763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78192-F908-7B50-B7BE-41EE2D59EEB1}"/>
              </a:ext>
            </a:extLst>
          </p:cNvPr>
          <p:cNvSpPr>
            <a:spLocks noGrp="1"/>
          </p:cNvSpPr>
          <p:nvPr>
            <p:ph type="title"/>
          </p:nvPr>
        </p:nvSpPr>
        <p:spPr/>
        <p:txBody>
          <a:bodyPr/>
          <a:lstStyle/>
          <a:p>
            <a:r>
              <a:rPr lang="en-US" sz="1800" b="1" dirty="0" err="1"/>
              <a:t>Kết</a:t>
            </a:r>
            <a:r>
              <a:rPr lang="en-US" sz="1800" b="1" dirty="0"/>
              <a:t> </a:t>
            </a:r>
            <a:r>
              <a:rPr lang="en-US" sz="1800" b="1" dirty="0" err="1"/>
              <a:t>luận</a:t>
            </a:r>
            <a:r>
              <a:rPr lang="en-US" sz="1800" b="1" dirty="0"/>
              <a:t> </a:t>
            </a:r>
            <a:r>
              <a:rPr lang="en-US" sz="1800" b="1" dirty="0" err="1"/>
              <a:t>và</a:t>
            </a:r>
            <a:r>
              <a:rPr lang="en-US" sz="1800" b="1" dirty="0"/>
              <a:t> ý </a:t>
            </a:r>
            <a:r>
              <a:rPr lang="en-US" sz="1800" b="1" dirty="0" err="1"/>
              <a:t>nghĩa</a:t>
            </a:r>
            <a:r>
              <a:rPr lang="en-US" sz="1800" b="1" dirty="0"/>
              <a:t> </a:t>
            </a:r>
            <a:r>
              <a:rPr lang="en-US" sz="1800" b="1" dirty="0" err="1"/>
              <a:t>thực</a:t>
            </a:r>
            <a:r>
              <a:rPr lang="en-US" sz="1800" b="1" dirty="0"/>
              <a:t> </a:t>
            </a:r>
            <a:r>
              <a:rPr lang="en-US" sz="1800" b="1" dirty="0" err="1"/>
              <a:t>tế</a:t>
            </a:r>
            <a:endParaRPr lang="en-US" sz="1800" b="1"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D98841B-CAB1-B4F0-1E71-816D0BFF40CF}"/>
                  </a:ext>
                </a:extLst>
              </p:cNvPr>
              <p:cNvSpPr>
                <a:spLocks noGrp="1"/>
              </p:cNvSpPr>
              <p:nvPr>
                <p:ph idx="1"/>
              </p:nvPr>
            </p:nvSpPr>
            <p:spPr>
              <a:xfrm>
                <a:off x="497840" y="1600201"/>
                <a:ext cx="10972800" cy="4530725"/>
              </a:xfrm>
            </p:spPr>
            <p:txBody>
              <a:bodyPr/>
              <a:lstStyle/>
              <a:p>
                <a:r>
                  <a:rPr lang="vi-VN" sz="1800" dirty="0">
                    <a:latin typeface="Arial" panose="020B0604020202020204" pitchFamily="34" charset="0"/>
                    <a:cs typeface="Arial" panose="020B0604020202020204" pitchFamily="34" charset="0"/>
                  </a:rPr>
                  <a:t>Kết quả “ổn định” theo lý thuyết trò chơi là:</a:t>
                </a:r>
                <a:r>
                  <a:rPr lang="en-US" sz="1800" dirty="0">
                    <a:latin typeface="Arial" panose="020B0604020202020204" pitchFamily="34" charset="0"/>
                    <a:cs typeface="Arial" panose="020B0604020202020204" pitchFamily="34" charset="0"/>
                  </a:rPr>
                  <a:t> </a:t>
                </a:r>
                <a14:m>
                  <m:oMath xmlns:m="http://schemas.openxmlformats.org/officeDocument/2006/math">
                    <m:d>
                      <m:dPr>
                        <m:sepChr m:val=","/>
                        <m:ctrlPr>
                          <a:rPr lang="ar-AE" sz="1800"/>
                        </m:ctrlPr>
                      </m:dPr>
                      <m:e>
                        <m:r>
                          <a:rPr lang="ar-AE" sz="1800" i="1"/>
                          <m:t>𝐹</m:t>
                        </m:r>
                      </m:e>
                      <m:e>
                        <m:r>
                          <a:rPr lang="ar-AE" sz="1800" i="1"/>
                          <m:t>𝐹</m:t>
                        </m:r>
                      </m:e>
                    </m:d>
                  </m:oMath>
                </a14:m>
                <a:endParaRPr lang="en-US" sz="1800" dirty="0">
                  <a:latin typeface="Arial" panose="020B0604020202020204" pitchFamily="34" charset="0"/>
                  <a:cs typeface="Arial" panose="020B0604020202020204" pitchFamily="34" charset="0"/>
                </a:endParaRPr>
              </a:p>
              <a:p>
                <a:r>
                  <a:rPr lang="en-US" sz="1800" dirty="0" err="1"/>
                  <a:t>Đây</a:t>
                </a:r>
                <a:r>
                  <a:rPr lang="en-US" sz="1800" dirty="0"/>
                  <a:t> </a:t>
                </a:r>
                <a:r>
                  <a:rPr lang="en-US" sz="1800" dirty="0" err="1"/>
                  <a:t>không</a:t>
                </a:r>
                <a:r>
                  <a:rPr lang="en-US" sz="1800" dirty="0"/>
                  <a:t> </a:t>
                </a:r>
                <a:r>
                  <a:rPr lang="en-US" sz="1800" dirty="0" err="1"/>
                  <a:t>phải</a:t>
                </a:r>
                <a:r>
                  <a:rPr lang="en-US" sz="1800" dirty="0"/>
                  <a:t> </a:t>
                </a:r>
                <a:r>
                  <a:rPr lang="en-US" sz="1800" dirty="0" err="1"/>
                  <a:t>kết</a:t>
                </a:r>
                <a:r>
                  <a:rPr lang="en-US" sz="1800" dirty="0"/>
                  <a:t> </a:t>
                </a:r>
                <a:r>
                  <a:rPr lang="en-US" sz="1800" dirty="0" err="1"/>
                  <a:t>quả</a:t>
                </a:r>
                <a:r>
                  <a:rPr lang="en-US" sz="1800" dirty="0"/>
                  <a:t> </a:t>
                </a:r>
                <a:r>
                  <a:rPr lang="en-US" sz="1800" dirty="0" err="1"/>
                  <a:t>tốt</a:t>
                </a:r>
                <a:r>
                  <a:rPr lang="en-US" sz="1800" dirty="0"/>
                  <a:t> </a:t>
                </a:r>
                <a:r>
                  <a:rPr lang="en-US" sz="1800" dirty="0" err="1"/>
                  <a:t>nhất</a:t>
                </a:r>
                <a:r>
                  <a:rPr lang="en-US" sz="1800" dirty="0"/>
                  <a:t> </a:t>
                </a:r>
                <a:r>
                  <a:rPr lang="en-US" sz="1800" dirty="0" err="1"/>
                  <a:t>cho</a:t>
                </a:r>
                <a:r>
                  <a:rPr lang="en-US" sz="1800" dirty="0"/>
                  <a:t> </a:t>
                </a:r>
                <a:r>
                  <a:rPr lang="en-US" sz="1800" dirty="0" err="1"/>
                  <a:t>cả</a:t>
                </a:r>
                <a:r>
                  <a:rPr lang="en-US" sz="1800" dirty="0"/>
                  <a:t> </a:t>
                </a:r>
                <a:r>
                  <a:rPr lang="en-US" sz="1800" dirty="0" err="1"/>
                  <a:t>hai</a:t>
                </a:r>
                <a:r>
                  <a:rPr lang="en-US" sz="1800" dirty="0"/>
                  <a:t>, </a:t>
                </a:r>
                <a:r>
                  <a:rPr lang="en-US" sz="1800" dirty="0" err="1"/>
                  <a:t>vì</a:t>
                </a:r>
                <a:r>
                  <a:rPr lang="en-US" sz="1800" dirty="0"/>
                  <a:t>: (C,C)=(8,8)&gt;(4,4)</a:t>
                </a:r>
                <a:endParaRPr lang="ar-AE" sz="1800" dirty="0">
                  <a:latin typeface="Arial" panose="020B0604020202020204" pitchFamily="34" charset="0"/>
                  <a:cs typeface="Arial" panose="020B0604020202020204" pitchFamily="34" charset="0"/>
                </a:endParaRPr>
              </a:p>
              <a:p>
                <a:r>
                  <a:rPr lang="vi-VN" sz="1800" dirty="0"/>
                  <a:t>Mỗi người hành động hợp lý cho riêng mình</a:t>
                </a:r>
                <a:r>
                  <a:rPr lang="en-US" sz="1800" dirty="0"/>
                  <a:t> </a:t>
                </a:r>
                <a:r>
                  <a:rPr lang="vi-VN" sz="1800" dirty="0"/>
                  <a:t>có thể dẫn đến kết quả chung kém hơn.</a:t>
                </a:r>
              </a:p>
              <a:p>
                <a:endParaRPr lang="en-US" sz="1800" dirty="0">
                  <a:latin typeface="Arial" panose="020B0604020202020204" pitchFamily="34" charset="0"/>
                  <a:cs typeface="Arial" panose="020B0604020202020204" pitchFamily="34" charset="0"/>
                </a:endParaRPr>
              </a:p>
            </p:txBody>
          </p:sp>
        </mc:Choice>
        <mc:Fallback>
          <p:sp>
            <p:nvSpPr>
              <p:cNvPr id="3" name="Content Placeholder 2">
                <a:extLst>
                  <a:ext uri="{FF2B5EF4-FFF2-40B4-BE49-F238E27FC236}">
                    <a16:creationId xmlns:a16="http://schemas.microsoft.com/office/drawing/2014/main" id="{0D98841B-CAB1-B4F0-1E71-816D0BFF40CF}"/>
                  </a:ext>
                </a:extLst>
              </p:cNvPr>
              <p:cNvSpPr>
                <a:spLocks noGrp="1" noRot="1" noChangeAspect="1" noMove="1" noResize="1" noEditPoints="1" noAdjustHandles="1" noChangeArrowheads="1" noChangeShapeType="1" noTextEdit="1"/>
              </p:cNvSpPr>
              <p:nvPr>
                <p:ph idx="1"/>
              </p:nvPr>
            </p:nvSpPr>
            <p:spPr>
              <a:xfrm>
                <a:off x="497840" y="1600201"/>
                <a:ext cx="10972800" cy="4530725"/>
              </a:xfrm>
              <a:blipFill>
                <a:blip r:embed="rId2"/>
                <a:stretch>
                  <a:fillRect l="-389" t="-808"/>
                </a:stretch>
              </a:blipFill>
            </p:spPr>
            <p:txBody>
              <a:bodyPr/>
              <a:lstStyle/>
              <a:p>
                <a:r>
                  <a:rPr lang="en-US">
                    <a:noFill/>
                  </a:rPr>
                  <a:t> </a:t>
                </a:r>
              </a:p>
            </p:txBody>
          </p:sp>
        </mc:Fallback>
      </mc:AlternateContent>
    </p:spTree>
    <p:extLst>
      <p:ext uri="{BB962C8B-B14F-4D97-AF65-F5344CB8AC3E}">
        <p14:creationId xmlns:p14="http://schemas.microsoft.com/office/powerpoint/2010/main" val="1303798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B3D91"/>
          </a:solidFill>
          <a:ln w="12700">
            <a:solidFill>
              <a:srgbClr val="0B3D91"/>
            </a:solidFill>
            <a:prstDash val="solid"/>
          </a:ln>
        </p:spPr>
      </p:sp>
      <p:sp>
        <p:nvSpPr>
          <p:cNvPr id="3" name="Text 1"/>
          <p:cNvSpPr/>
          <p:nvPr/>
        </p:nvSpPr>
        <p:spPr>
          <a:xfrm>
            <a:off x="594360" y="109728"/>
            <a:ext cx="11002975" cy="402336"/>
          </a:xfrm>
          <a:prstGeom prst="rect">
            <a:avLst/>
          </a:prstGeom>
          <a:noFill/>
          <a:ln/>
        </p:spPr>
        <p:txBody>
          <a:bodyPr wrap="square" rtlCol="0" anchor="ctr"/>
          <a:lstStyle/>
          <a:p>
            <a:pPr marL="0" indent="0">
              <a:buNone/>
            </a:pPr>
            <a:r>
              <a:rPr lang="en-US" sz="2200" b="1" dirty="0">
                <a:solidFill>
                  <a:srgbClr val="FFFFFF"/>
                </a:solidFill>
              </a:rPr>
              <a:t>Tổng kết &amp; đọc thêm</a:t>
            </a:r>
            <a:endParaRPr lang="en-US" sz="2200" dirty="0"/>
          </a:p>
        </p:txBody>
      </p:sp>
      <p:sp>
        <p:nvSpPr>
          <p:cNvPr id="4" name="Text 2"/>
          <p:cNvSpPr/>
          <p:nvPr/>
        </p:nvSpPr>
        <p:spPr>
          <a:xfrm>
            <a:off x="594360" y="1143000"/>
            <a:ext cx="7498080" cy="2011680"/>
          </a:xfrm>
          <a:prstGeom prst="rect">
            <a:avLst/>
          </a:prstGeom>
          <a:noFill/>
          <a:ln/>
        </p:spPr>
        <p:txBody>
          <a:bodyPr wrap="square" rtlCol="0" anchor="t"/>
          <a:lstStyle/>
          <a:p>
            <a:pPr marL="228600" indent="-228600">
              <a:lnSpc>
                <a:spcPct val="120000"/>
              </a:lnSpc>
              <a:buSzPct val="100000"/>
              <a:buChar char="•"/>
            </a:pPr>
            <a:r>
              <a:rPr lang="en-US" sz="1800" dirty="0">
                <a:solidFill>
                  <a:srgbClr val="374151"/>
                </a:solidFill>
              </a:rPr>
              <a:t>Game theory = dự đoán hành vi chiến lược + thiết kế luật chơi để đạt equilibrium mong muốn.</a:t>
            </a:r>
            <a:endParaRPr lang="en-US" sz="1800" dirty="0"/>
          </a:p>
          <a:p>
            <a:pPr marL="228600" indent="-228600">
              <a:lnSpc>
                <a:spcPct val="120000"/>
              </a:lnSpc>
              <a:buSzPct val="100000"/>
              <a:buChar char="•"/>
            </a:pPr>
            <a:r>
              <a:rPr lang="en-US" sz="1800" dirty="0">
                <a:solidFill>
                  <a:srgbClr val="374151"/>
                </a:solidFill>
              </a:rPr>
              <a:t>Công cụ cốt lõi hôm nay: payoff, best response, Nash/MSNE, backward induction/SPE, repeated games.</a:t>
            </a:r>
            <a:endParaRPr lang="en-US" sz="1800" dirty="0"/>
          </a:p>
          <a:p>
            <a:pPr marL="228600" indent="-228600">
              <a:lnSpc>
                <a:spcPct val="120000"/>
              </a:lnSpc>
              <a:buSzPct val="100000"/>
              <a:buChar char="•"/>
            </a:pPr>
            <a:r>
              <a:rPr lang="en-US" sz="1800" dirty="0">
                <a:solidFill>
                  <a:srgbClr val="374151"/>
                </a:solidFill>
              </a:rPr>
              <a:t>Khi thiết kế mechanic: luôn hỏi “đường tắt nào là best response?” và “ai bị thiệt trong equilibrium?”</a:t>
            </a:r>
            <a:endParaRPr lang="en-US" sz="1800" dirty="0"/>
          </a:p>
        </p:txBody>
      </p:sp>
      <p:sp>
        <p:nvSpPr>
          <p:cNvPr id="5" name="Shape 3"/>
          <p:cNvSpPr/>
          <p:nvPr/>
        </p:nvSpPr>
        <p:spPr>
          <a:xfrm>
            <a:off x="594360" y="3474720"/>
            <a:ext cx="7223760" cy="219456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6" name="Shape 4"/>
          <p:cNvSpPr/>
          <p:nvPr/>
        </p:nvSpPr>
        <p:spPr>
          <a:xfrm>
            <a:off x="594360" y="3474720"/>
            <a:ext cx="109728" cy="2194560"/>
          </a:xfrm>
          <a:prstGeom prst="rect">
            <a:avLst/>
          </a:prstGeom>
          <a:solidFill>
            <a:srgbClr val="F59E0B"/>
          </a:solidFill>
          <a:ln w="12700">
            <a:solidFill>
              <a:srgbClr val="F59E0B"/>
            </a:solidFill>
            <a:prstDash val="solid"/>
          </a:ln>
        </p:spPr>
      </p:sp>
      <p:sp>
        <p:nvSpPr>
          <p:cNvPr id="7" name="Text 5"/>
          <p:cNvSpPr/>
          <p:nvPr/>
        </p:nvSpPr>
        <p:spPr>
          <a:xfrm>
            <a:off x="822960" y="3639312"/>
            <a:ext cx="6903720" cy="320040"/>
          </a:xfrm>
          <a:prstGeom prst="rect">
            <a:avLst/>
          </a:prstGeom>
          <a:noFill/>
          <a:ln/>
        </p:spPr>
        <p:txBody>
          <a:bodyPr wrap="square" rtlCol="0" anchor="ctr"/>
          <a:lstStyle/>
          <a:p>
            <a:pPr marL="0" indent="0">
              <a:buNone/>
            </a:pPr>
            <a:r>
              <a:rPr lang="en-US" sz="1800" b="1" dirty="0" err="1">
                <a:solidFill>
                  <a:srgbClr val="111827"/>
                </a:solidFill>
              </a:rPr>
              <a:t>Đọc</a:t>
            </a:r>
            <a:r>
              <a:rPr lang="en-US" sz="1800" b="1" dirty="0">
                <a:solidFill>
                  <a:srgbClr val="111827"/>
                </a:solidFill>
              </a:rPr>
              <a:t> </a:t>
            </a:r>
            <a:r>
              <a:rPr lang="en-US" sz="1800" b="1" dirty="0" err="1">
                <a:solidFill>
                  <a:srgbClr val="111827"/>
                </a:solidFill>
              </a:rPr>
              <a:t>thêm</a:t>
            </a:r>
            <a:endParaRPr lang="en-US" sz="1800" dirty="0"/>
          </a:p>
        </p:txBody>
      </p:sp>
      <p:sp>
        <p:nvSpPr>
          <p:cNvPr id="8" name="Text 6"/>
          <p:cNvSpPr/>
          <p:nvPr/>
        </p:nvSpPr>
        <p:spPr>
          <a:xfrm>
            <a:off x="914400" y="4005072"/>
            <a:ext cx="6720840" cy="150876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Stanford Encyclopedia of Philosophy – Game Theory</a:t>
            </a:r>
            <a:endParaRPr lang="en-US" sz="1500" dirty="0"/>
          </a:p>
          <a:p>
            <a:pPr marL="190500" indent="-190500">
              <a:lnSpc>
                <a:spcPct val="120000"/>
              </a:lnSpc>
              <a:buSzPct val="100000"/>
              <a:buChar char="•"/>
            </a:pPr>
            <a:r>
              <a:rPr lang="en-US" sz="1500" dirty="0">
                <a:solidFill>
                  <a:srgbClr val="374151"/>
                </a:solidFill>
              </a:rPr>
              <a:t>MIT OCW 17.810 Game Theory (mixed strategies, extensive form)</a:t>
            </a:r>
            <a:endParaRPr lang="en-US" sz="1500" dirty="0"/>
          </a:p>
          <a:p>
            <a:pPr marL="190500" indent="-190500">
              <a:lnSpc>
                <a:spcPct val="120000"/>
              </a:lnSpc>
              <a:buSzPct val="100000"/>
              <a:buChar char="•"/>
            </a:pPr>
            <a:r>
              <a:rPr lang="en-US" sz="1500" dirty="0">
                <a:solidFill>
                  <a:srgbClr val="374151"/>
                </a:solidFill>
              </a:rPr>
              <a:t>MIT OCW 14.12 (Backward induction; Repeated games)</a:t>
            </a:r>
            <a:endParaRPr lang="en-US" sz="1500" dirty="0"/>
          </a:p>
        </p:txBody>
      </p:sp>
      <p:sp>
        <p:nvSpPr>
          <p:cNvPr id="9" name="Shape 7"/>
          <p:cNvSpPr/>
          <p:nvPr/>
        </p:nvSpPr>
        <p:spPr>
          <a:xfrm>
            <a:off x="7406640" y="3474720"/>
            <a:ext cx="4190695" cy="2194560"/>
          </a:xfrm>
          <a:prstGeom prst="roundRect">
            <a:avLst/>
          </a:prstGeom>
          <a:solidFill>
            <a:srgbClr val="F1F5F9"/>
          </a:solidFill>
          <a:ln w="12700">
            <a:solidFill>
              <a:srgbClr val="CBD5E1"/>
            </a:solidFill>
            <a:prstDash val="solid"/>
          </a:ln>
          <a:effectLst>
            <a:outerShdw blurRad="25400" dist="15240" dir="2700000" algn="bl" rotWithShape="0">
              <a:srgbClr val="000000">
                <a:alpha val="12000"/>
              </a:srgbClr>
            </a:outerShdw>
          </a:effectLst>
        </p:spPr>
      </p:sp>
      <p:sp>
        <p:nvSpPr>
          <p:cNvPr id="10" name="Shape 8"/>
          <p:cNvSpPr/>
          <p:nvPr/>
        </p:nvSpPr>
        <p:spPr>
          <a:xfrm>
            <a:off x="7406640" y="3474720"/>
            <a:ext cx="109728" cy="2194560"/>
          </a:xfrm>
          <a:prstGeom prst="rect">
            <a:avLst/>
          </a:prstGeom>
          <a:solidFill>
            <a:srgbClr val="1F9D8A"/>
          </a:solidFill>
          <a:ln w="12700">
            <a:solidFill>
              <a:srgbClr val="1F9D8A"/>
            </a:solidFill>
            <a:prstDash val="solid"/>
          </a:ln>
        </p:spPr>
      </p:sp>
      <p:sp>
        <p:nvSpPr>
          <p:cNvPr id="11" name="Text 9"/>
          <p:cNvSpPr/>
          <p:nvPr/>
        </p:nvSpPr>
        <p:spPr>
          <a:xfrm>
            <a:off x="7635240" y="3639312"/>
            <a:ext cx="3870655" cy="320040"/>
          </a:xfrm>
          <a:prstGeom prst="rect">
            <a:avLst/>
          </a:prstGeom>
          <a:noFill/>
          <a:ln/>
        </p:spPr>
        <p:txBody>
          <a:bodyPr wrap="square" rtlCol="0" anchor="ctr"/>
          <a:lstStyle/>
          <a:p>
            <a:pPr marL="0" indent="0">
              <a:buNone/>
            </a:pPr>
            <a:r>
              <a:rPr lang="en-US" sz="1800" b="1" dirty="0">
                <a:solidFill>
                  <a:srgbClr val="111827"/>
                </a:solidFill>
              </a:rPr>
              <a:t>Bài tập về nhà (tuỳ chọn)</a:t>
            </a:r>
            <a:endParaRPr lang="en-US" sz="1800" dirty="0"/>
          </a:p>
        </p:txBody>
      </p:sp>
      <p:sp>
        <p:nvSpPr>
          <p:cNvPr id="12" name="Text 10"/>
          <p:cNvSpPr/>
          <p:nvPr/>
        </p:nvSpPr>
        <p:spPr>
          <a:xfrm>
            <a:off x="7726680" y="4005072"/>
            <a:ext cx="3687775" cy="1508760"/>
          </a:xfrm>
          <a:prstGeom prst="rect">
            <a:avLst/>
          </a:prstGeom>
          <a:noFill/>
          <a:ln/>
        </p:spPr>
        <p:txBody>
          <a:bodyPr wrap="square" rtlCol="0" anchor="t"/>
          <a:lstStyle/>
          <a:p>
            <a:pPr marL="190500" indent="-190500">
              <a:lnSpc>
                <a:spcPct val="120000"/>
              </a:lnSpc>
              <a:buSzPct val="100000"/>
              <a:buChar char="•"/>
            </a:pPr>
            <a:r>
              <a:rPr lang="en-US" sz="1500" dirty="0">
                <a:solidFill>
                  <a:srgbClr val="374151"/>
                </a:solidFill>
              </a:rPr>
              <a:t>Chọn 1 game giáo dục bạn biết. Vẽ payoff matrix/game tree cho 1 mechanic quan trọng và đề xuất 1 thay đổi để cải thiện outcome.</a:t>
            </a:r>
            <a:endParaRPr lang="en-US" sz="1500" dirty="0"/>
          </a:p>
        </p:txBody>
      </p:sp>
      <p:sp>
        <p:nvSpPr>
          <p:cNvPr id="14" name="Text 11"/>
          <p:cNvSpPr/>
          <p:nvPr/>
        </p:nvSpPr>
        <p:spPr>
          <a:xfrm>
            <a:off x="11460175" y="6446520"/>
            <a:ext cx="548640" cy="228600"/>
          </a:xfrm>
          <a:prstGeom prst="rect">
            <a:avLst/>
          </a:prstGeom>
          <a:noFill/>
          <a:ln/>
        </p:spPr>
        <p:txBody>
          <a:bodyPr wrap="square" rtlCol="0" anchor="ctr"/>
          <a:lstStyle/>
          <a:p>
            <a:pPr marL="0" indent="0" algn="r">
              <a:buNone/>
            </a:pPr>
            <a:r>
              <a:rPr lang="en-US" sz="1000" dirty="0">
                <a:solidFill>
                  <a:srgbClr val="6B7280"/>
                </a:solidFill>
              </a:rPr>
              <a:t>22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60580-19CF-03F3-2A26-99A7D492100D}"/>
              </a:ext>
            </a:extLst>
          </p:cNvPr>
          <p:cNvSpPr>
            <a:spLocks noGrp="1"/>
          </p:cNvSpPr>
          <p:nvPr>
            <p:ph type="title"/>
          </p:nvPr>
        </p:nvSpPr>
        <p:spPr/>
        <p:txBody>
          <a:bodyPr/>
          <a:lstStyle/>
          <a:p>
            <a:r>
              <a:rPr lang="en-US" b="1" dirty="0" err="1"/>
              <a:t>Bài</a:t>
            </a:r>
            <a:r>
              <a:rPr lang="en-US" b="1" dirty="0"/>
              <a:t> </a:t>
            </a:r>
            <a:r>
              <a:rPr lang="en-US" b="1" dirty="0" err="1"/>
              <a:t>tập</a:t>
            </a:r>
            <a:endParaRPr lang="en-US" b="1" dirty="0"/>
          </a:p>
        </p:txBody>
      </p:sp>
      <p:sp>
        <p:nvSpPr>
          <p:cNvPr id="3" name="Content Placeholder 2">
            <a:extLst>
              <a:ext uri="{FF2B5EF4-FFF2-40B4-BE49-F238E27FC236}">
                <a16:creationId xmlns:a16="http://schemas.microsoft.com/office/drawing/2014/main" id="{748AE7B1-9F8D-823C-1A96-480FBAC25BE6}"/>
              </a:ext>
            </a:extLst>
          </p:cNvPr>
          <p:cNvSpPr>
            <a:spLocks noGrp="1"/>
          </p:cNvSpPr>
          <p:nvPr>
            <p:ph idx="1"/>
          </p:nvPr>
        </p:nvSpPr>
        <p:spPr/>
        <p:txBody>
          <a:bodyPr/>
          <a:lstStyle/>
          <a:p>
            <a:pPr marL="0" indent="0">
              <a:lnSpc>
                <a:spcPct val="150000"/>
              </a:lnSpc>
              <a:buNone/>
            </a:pPr>
            <a:r>
              <a:rPr lang="vi-VN" sz="1400" dirty="0"/>
              <a:t>Trong quá trình chuẩn bị cho bài kiểm tra giữa kỳ, hai sinh viên </a:t>
            </a:r>
            <a:r>
              <a:rPr lang="vi-VN" sz="1400" b="1" dirty="0"/>
              <a:t>A</a:t>
            </a:r>
            <a:r>
              <a:rPr lang="vi-VN" sz="1400" dirty="0"/>
              <a:t> và </a:t>
            </a:r>
            <a:r>
              <a:rPr lang="vi-VN" sz="1400" b="1" dirty="0"/>
              <a:t>B</a:t>
            </a:r>
            <a:r>
              <a:rPr lang="vi-VN" sz="1400" dirty="0"/>
              <a:t> phải quyết định cách học của mình. Mỗi sinh viên có hai lựa chọn:</a:t>
            </a:r>
          </a:p>
          <a:p>
            <a:pPr>
              <a:lnSpc>
                <a:spcPct val="150000"/>
              </a:lnSpc>
              <a:buFont typeface="Wingdings" panose="05000000000000000000" pitchFamily="2" charset="2"/>
              <a:buChar char="§"/>
            </a:pPr>
            <a:r>
              <a:rPr lang="vi-VN" sz="1400" dirty="0"/>
              <a:t>H: Ôn kỹ, học nghiêm túc</a:t>
            </a:r>
          </a:p>
          <a:p>
            <a:pPr>
              <a:lnSpc>
                <a:spcPct val="150000"/>
              </a:lnSpc>
              <a:buFont typeface="Wingdings" panose="05000000000000000000" pitchFamily="2" charset="2"/>
              <a:buChar char="§"/>
            </a:pPr>
            <a:r>
              <a:rPr lang="vi-VN" sz="1400" dirty="0"/>
              <a:t>D: Học đối phó (học tủ / học qua loa)</a:t>
            </a:r>
          </a:p>
          <a:p>
            <a:pPr marL="0" indent="0">
              <a:lnSpc>
                <a:spcPct val="150000"/>
              </a:lnSpc>
              <a:buNone/>
            </a:pPr>
            <a:r>
              <a:rPr lang="vi-VN" sz="1400" dirty="0"/>
              <a:t>Giả sử lợi ích (payoff) của mỗi sinh viên phụ thuộc vào cả lựa chọn của bản thân và lựa chọn của người còn lại, với các giả định sau:</a:t>
            </a:r>
          </a:p>
          <a:p>
            <a:pPr marL="0" indent="0">
              <a:lnSpc>
                <a:spcPct val="150000"/>
              </a:lnSpc>
              <a:buNone/>
            </a:pPr>
            <a:r>
              <a:rPr lang="vi-VN" sz="1400" dirty="0"/>
              <a:t>Nếu cả A và B đều chọn H, mỗi người đều có kết quả học tập tốt và ổn định, nên mỗi người nhận payoff bằng 8.</a:t>
            </a:r>
          </a:p>
          <a:p>
            <a:pPr marL="0" indent="0">
              <a:lnSpc>
                <a:spcPct val="150000"/>
              </a:lnSpc>
              <a:buNone/>
            </a:pPr>
            <a:r>
              <a:rPr lang="vi-VN" sz="1400" dirty="0"/>
              <a:t>Nếu A chọn H còn B chọn D, A bị thiệt hơn (vì học nghiêm túc nhưng bất lợi tương đối), còn B được lợi ngắn hạn hơn, nên A nhận payoff bằng 3, B nhận payoff bằng 10.</a:t>
            </a:r>
          </a:p>
          <a:p>
            <a:pPr marL="0" indent="0">
              <a:lnSpc>
                <a:spcPct val="150000"/>
              </a:lnSpc>
              <a:buNone/>
            </a:pPr>
            <a:r>
              <a:rPr lang="vi-VN" sz="1400" dirty="0"/>
              <a:t>Nếu A chọn D còn B chọn H, tình huống đối xứng với trên, nên A nhận payoff bằng 10, B nhận payoff bằng 3.</a:t>
            </a:r>
          </a:p>
          <a:p>
            <a:pPr marL="0" indent="0">
              <a:lnSpc>
                <a:spcPct val="150000"/>
              </a:lnSpc>
              <a:buNone/>
            </a:pPr>
            <a:r>
              <a:rPr lang="vi-VN" sz="1400" dirty="0"/>
              <a:t>Nếu cả A và B đều chọn D, cả hai cùng đạt kết quả trung bình thấp hơn, nên mỗi người nhận payoff bằng 5.</a:t>
            </a:r>
            <a:endParaRPr lang="en-US" sz="1400" dirty="0"/>
          </a:p>
          <a:p>
            <a:pPr marL="0" indent="0">
              <a:lnSpc>
                <a:spcPct val="150000"/>
              </a:lnSpc>
              <a:buNone/>
            </a:pPr>
            <a:r>
              <a:rPr lang="vi-VN" sz="1800" b="1" dirty="0">
                <a:solidFill>
                  <a:srgbClr val="FF0000"/>
                </a:solidFill>
              </a:rPr>
              <a:t>Dựa trên dữ kiện trên, hãy phân tích trò chơi theo quy trình 6 bước đã học</a:t>
            </a:r>
          </a:p>
          <a:p>
            <a:pPr>
              <a:lnSpc>
                <a:spcPct val="150000"/>
              </a:lnSpc>
            </a:pPr>
            <a:endParaRPr lang="en-US" sz="1400" dirty="0"/>
          </a:p>
        </p:txBody>
      </p:sp>
    </p:spTree>
    <p:extLst>
      <p:ext uri="{BB962C8B-B14F-4D97-AF65-F5344CB8AC3E}">
        <p14:creationId xmlns:p14="http://schemas.microsoft.com/office/powerpoint/2010/main" val="11952718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atermark">
  <a:themeElements>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fontScheme name="Waterma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clrMap bg1="lt1" tx1="dk1" bg2="lt2" tx2="dk2" accent1="accent1" accent2="accent2" accent3="accent3" accent4="accent4" accent5="accent5" accent6="accent6" hlink="hlink" folHlink="folHlink"/>
    </a:extraClrScheme>
    <a:extraClrScheme>
      <a:clrScheme name="Watermark 2">
        <a:dk1>
          <a:srgbClr val="000000"/>
        </a:dk1>
        <a:lt1>
          <a:srgbClr val="FFFFFF"/>
        </a:lt1>
        <a:dk2>
          <a:srgbClr val="666633"/>
        </a:dk2>
        <a:lt2>
          <a:srgbClr val="5F5F5F"/>
        </a:lt2>
        <a:accent1>
          <a:srgbClr val="FFCC00"/>
        </a:accent1>
        <a:accent2>
          <a:srgbClr val="EFF0B2"/>
        </a:accent2>
        <a:accent3>
          <a:srgbClr val="FFFFFF"/>
        </a:accent3>
        <a:accent4>
          <a:srgbClr val="000000"/>
        </a:accent4>
        <a:accent5>
          <a:srgbClr val="FFE2AA"/>
        </a:accent5>
        <a:accent6>
          <a:srgbClr val="D9D9A1"/>
        </a:accent6>
        <a:hlink>
          <a:srgbClr val="808000"/>
        </a:hlink>
        <a:folHlink>
          <a:srgbClr val="CCCC00"/>
        </a:folHlink>
      </a:clrScheme>
      <a:clrMap bg1="lt1" tx1="dk1" bg2="lt2" tx2="dk2" accent1="accent1" accent2="accent2" accent3="accent3" accent4="accent4" accent5="accent5" accent6="accent6" hlink="hlink" folHlink="folHlink"/>
    </a:extraClrScheme>
    <a:extraClrScheme>
      <a:clrScheme name="Watermark 3">
        <a:dk1>
          <a:srgbClr val="000000"/>
        </a:dk1>
        <a:lt1>
          <a:srgbClr val="FFFFFF"/>
        </a:lt1>
        <a:dk2>
          <a:srgbClr val="000000"/>
        </a:dk2>
        <a:lt2>
          <a:srgbClr val="666699"/>
        </a:lt2>
        <a:accent1>
          <a:srgbClr val="9BB0CB"/>
        </a:accent1>
        <a:accent2>
          <a:srgbClr val="D1E0CE"/>
        </a:accent2>
        <a:accent3>
          <a:srgbClr val="FFFFFF"/>
        </a:accent3>
        <a:accent4>
          <a:srgbClr val="000000"/>
        </a:accent4>
        <a:accent5>
          <a:srgbClr val="CBD4E2"/>
        </a:accent5>
        <a:accent6>
          <a:srgbClr val="BDCBBA"/>
        </a:accent6>
        <a:hlink>
          <a:srgbClr val="8EA642"/>
        </a:hlink>
        <a:folHlink>
          <a:srgbClr val="CCCC00"/>
        </a:folHlink>
      </a:clrScheme>
      <a:clrMap bg1="lt1" tx1="dk1" bg2="lt2" tx2="dk2" accent1="accent1" accent2="accent2" accent3="accent3" accent4="accent4" accent5="accent5" accent6="accent6" hlink="hlink" folHlink="folHlink"/>
    </a:extraClrScheme>
    <a:extraClrScheme>
      <a:clrScheme name="Watermark 4">
        <a:dk1>
          <a:srgbClr val="333300"/>
        </a:dk1>
        <a:lt1>
          <a:srgbClr val="FFFFCC"/>
        </a:lt1>
        <a:dk2>
          <a:srgbClr val="336600"/>
        </a:dk2>
        <a:lt2>
          <a:srgbClr val="FFFFCC"/>
        </a:lt2>
        <a:accent1>
          <a:srgbClr val="99CC00"/>
        </a:accent1>
        <a:accent2>
          <a:srgbClr val="669900"/>
        </a:accent2>
        <a:accent3>
          <a:srgbClr val="ADB8AA"/>
        </a:accent3>
        <a:accent4>
          <a:srgbClr val="DADAAE"/>
        </a:accent4>
        <a:accent5>
          <a:srgbClr val="CAE2AA"/>
        </a:accent5>
        <a:accent6>
          <a:srgbClr val="5C8A00"/>
        </a:accent6>
        <a:hlink>
          <a:srgbClr val="CC9900"/>
        </a:hlink>
        <a:folHlink>
          <a:srgbClr val="FFCC00"/>
        </a:folHlink>
      </a:clrScheme>
      <a:clrMap bg1="dk2" tx1="lt1" bg2="dk1" tx2="lt2" accent1="accent1" accent2="accent2" accent3="accent3" accent4="accent4" accent5="accent5" accent6="accent6" hlink="hlink" folHlink="folHlink"/>
    </a:extraClrScheme>
    <a:extraClrScheme>
      <a:clrScheme name="Watermark 5">
        <a:dk1>
          <a:srgbClr val="424458"/>
        </a:dk1>
        <a:lt1>
          <a:srgbClr val="FFFFFF"/>
        </a:lt1>
        <a:dk2>
          <a:srgbClr val="004A48"/>
        </a:dk2>
        <a:lt2>
          <a:srgbClr val="FFFFFF"/>
        </a:lt2>
        <a:accent1>
          <a:srgbClr val="83B200"/>
        </a:accent1>
        <a:accent2>
          <a:srgbClr val="006260"/>
        </a:accent2>
        <a:accent3>
          <a:srgbClr val="AAB1B1"/>
        </a:accent3>
        <a:accent4>
          <a:srgbClr val="DADADA"/>
        </a:accent4>
        <a:accent5>
          <a:srgbClr val="C1D5AA"/>
        </a:accent5>
        <a:accent6>
          <a:srgbClr val="005856"/>
        </a:accent6>
        <a:hlink>
          <a:srgbClr val="6666FF"/>
        </a:hlink>
        <a:folHlink>
          <a:srgbClr val="B2B2B2"/>
        </a:folHlink>
      </a:clrScheme>
      <a:clrMap bg1="dk2" tx1="lt1" bg2="dk1" tx2="lt2" accent1="accent1" accent2="accent2" accent3="accent3" accent4="accent4" accent5="accent5" accent6="accent6" hlink="hlink" folHlink="folHlink"/>
    </a:extraClrScheme>
    <a:extraClrScheme>
      <a:clrScheme name="Watermark 6">
        <a:dk1>
          <a:srgbClr val="000000"/>
        </a:dk1>
        <a:lt1>
          <a:srgbClr val="FFFFFF"/>
        </a:lt1>
        <a:dk2>
          <a:srgbClr val="1C2046"/>
        </a:dk2>
        <a:lt2>
          <a:srgbClr val="FFFFFF"/>
        </a:lt2>
        <a:accent1>
          <a:srgbClr val="00CCFF"/>
        </a:accent1>
        <a:accent2>
          <a:srgbClr val="2D226E"/>
        </a:accent2>
        <a:accent3>
          <a:srgbClr val="ABABB0"/>
        </a:accent3>
        <a:accent4>
          <a:srgbClr val="DADADA"/>
        </a:accent4>
        <a:accent5>
          <a:srgbClr val="AAE2FF"/>
        </a:accent5>
        <a:accent6>
          <a:srgbClr val="281E63"/>
        </a:accent6>
        <a:hlink>
          <a:srgbClr val="666699"/>
        </a:hlink>
        <a:folHlink>
          <a:srgbClr val="9999FF"/>
        </a:folHlink>
      </a:clrScheme>
      <a:clrMap bg1="dk2" tx1="lt1" bg2="dk1" tx2="lt2" accent1="accent1" accent2="accent2" accent3="accent3" accent4="accent4" accent5="accent5" accent6="accent6" hlink="hlink" folHlink="folHlink"/>
    </a:extraClrScheme>
    <a:extraClrScheme>
      <a:clrScheme name="Watermark 7">
        <a:dk1>
          <a:srgbClr val="424458"/>
        </a:dk1>
        <a:lt1>
          <a:srgbClr val="FFFFFF"/>
        </a:lt1>
        <a:dk2>
          <a:srgbClr val="000066"/>
        </a:dk2>
        <a:lt2>
          <a:srgbClr val="FFFFFF"/>
        </a:lt2>
        <a:accent1>
          <a:srgbClr val="6666FF"/>
        </a:accent1>
        <a:accent2>
          <a:srgbClr val="333399"/>
        </a:accent2>
        <a:accent3>
          <a:srgbClr val="AAAAB8"/>
        </a:accent3>
        <a:accent4>
          <a:srgbClr val="DADADA"/>
        </a:accent4>
        <a:accent5>
          <a:srgbClr val="B8B8FF"/>
        </a:accent5>
        <a:accent6>
          <a:srgbClr val="2D2D8A"/>
        </a:accent6>
        <a:hlink>
          <a:srgbClr val="FF9900"/>
        </a:hlink>
        <a:folHlink>
          <a:srgbClr val="CCCC00"/>
        </a:folHlink>
      </a:clrScheme>
      <a:clrMap bg1="dk2" tx1="lt1" bg2="dk1" tx2="lt2" accent1="accent1" accent2="accent2" accent3="accent3" accent4="accent4" accent5="accent5" accent6="accent6" hlink="hlink" folHlink="folHlink"/>
    </a:extraClrScheme>
    <a:extraClrScheme>
      <a:clrScheme name="Watermark 8">
        <a:dk1>
          <a:srgbClr val="1C1C1C"/>
        </a:dk1>
        <a:lt1>
          <a:srgbClr val="FFFFCC"/>
        </a:lt1>
        <a:dk2>
          <a:srgbClr val="390B20"/>
        </a:dk2>
        <a:lt2>
          <a:srgbClr val="FFFFCC"/>
        </a:lt2>
        <a:accent1>
          <a:srgbClr val="FF916F"/>
        </a:accent1>
        <a:accent2>
          <a:srgbClr val="561450"/>
        </a:accent2>
        <a:accent3>
          <a:srgbClr val="AEAAAB"/>
        </a:accent3>
        <a:accent4>
          <a:srgbClr val="DADAAE"/>
        </a:accent4>
        <a:accent5>
          <a:srgbClr val="FFC7BB"/>
        </a:accent5>
        <a:accent6>
          <a:srgbClr val="4D1148"/>
        </a:accent6>
        <a:hlink>
          <a:srgbClr val="637D95"/>
        </a:hlink>
        <a:folHlink>
          <a:srgbClr val="FFCC00"/>
        </a:folHlink>
      </a:clrScheme>
      <a:clrMap bg1="dk2" tx1="lt1" bg2="dk1" tx2="lt2" accent1="accent1" accent2="accent2" accent3="accent3" accent4="accent4" accent5="accent5" accent6="accent6" hlink="hlink" folHlink="folHlink"/>
    </a:extraClrScheme>
    <a:extraClrScheme>
      <a:clrScheme name="Watermark 9">
        <a:dk1>
          <a:srgbClr val="4C0000"/>
        </a:dk1>
        <a:lt1>
          <a:srgbClr val="FFFFFF"/>
        </a:lt1>
        <a:dk2>
          <a:srgbClr val="722104"/>
        </a:dk2>
        <a:lt2>
          <a:srgbClr val="FFFFFF"/>
        </a:lt2>
        <a:accent1>
          <a:srgbClr val="CC6600"/>
        </a:accent1>
        <a:accent2>
          <a:srgbClr val="8A2E00"/>
        </a:accent2>
        <a:accent3>
          <a:srgbClr val="BCABAA"/>
        </a:accent3>
        <a:accent4>
          <a:srgbClr val="DADADA"/>
        </a:accent4>
        <a:accent5>
          <a:srgbClr val="E2B8AA"/>
        </a:accent5>
        <a:accent6>
          <a:srgbClr val="7D2900"/>
        </a:accent6>
        <a:hlink>
          <a:srgbClr val="FFCC00"/>
        </a:hlink>
        <a:folHlink>
          <a:srgbClr val="FF990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5400</Words>
  <Application>Microsoft Office PowerPoint</Application>
  <PresentationFormat>Widescreen</PresentationFormat>
  <Paragraphs>493</Paragraphs>
  <Slides>43</Slides>
  <Notes>21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43</vt:i4>
      </vt:variant>
    </vt:vector>
  </HeadingPairs>
  <TitlesOfParts>
    <vt:vector size="50" baseType="lpstr">
      <vt:lpstr>Aptos</vt:lpstr>
      <vt:lpstr>Arial</vt:lpstr>
      <vt:lpstr>Cambria Math</vt:lpstr>
      <vt:lpstr>Times New Roman</vt:lpstr>
      <vt:lpstr>Wingdings</vt:lpstr>
      <vt:lpstr>Office Theme</vt:lpstr>
      <vt:lpstr>Watermark</vt:lpstr>
      <vt:lpstr>PowerPoint Presentation</vt:lpstr>
      <vt:lpstr>PowerPoint Presentation</vt:lpstr>
      <vt:lpstr>Lý thuyết trò chơi</vt:lpstr>
      <vt:lpstr>Lý thuyết trò chơi</vt:lpstr>
      <vt:lpstr>Lý thuyết trò chơi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Trò chơi dưới dạng chiến lược</vt:lpstr>
      <vt:lpstr>Cân bằng Nash trong chiến lược thuần túy</vt:lpstr>
      <vt:lpstr>Cân bằng Nash trong chiến lược thuần túy</vt:lpstr>
      <vt:lpstr>Cân bằng Nash trong chiến lược hỗn hợp </vt:lpstr>
      <vt:lpstr>Cân bằng Nash trong chiến lược hỗn hợp</vt:lpstr>
      <vt:lpstr>Chiến lược maximin</vt:lpstr>
      <vt:lpstr>Chiến lược maximin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Quy trình 6 bước giải một bài toán trò chơi</vt:lpstr>
      <vt:lpstr>Ví dụ</vt:lpstr>
      <vt:lpstr>Giải</vt:lpstr>
      <vt:lpstr>PowerPoint Presentation</vt:lpstr>
      <vt:lpstr>PowerPoint Presentation</vt:lpstr>
      <vt:lpstr>Kết luận và ý nghĩa thực tế</vt:lpstr>
      <vt:lpstr>PowerPoint Presentation</vt:lpstr>
      <vt:lpstr>Bài tập</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Kim Chung - VNU</cp:lastModifiedBy>
  <cp:revision>17</cp:revision>
  <dcterms:created xsi:type="dcterms:W3CDTF">2026-02-24T14:06:36Z</dcterms:created>
  <dcterms:modified xsi:type="dcterms:W3CDTF">2026-02-25T05:51:42Z</dcterms:modified>
</cp:coreProperties>
</file>